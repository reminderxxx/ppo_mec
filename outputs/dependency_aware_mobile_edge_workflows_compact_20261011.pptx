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1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3298b075ef4ab7" /><Relationship Type="http://schemas.openxmlformats.org/officeDocument/2006/relationships/extended-properties" Target="/docProps/app.xml" Id="Ra1ca10b37c404880" /><Relationship Type="http://schemas.openxmlformats.org/officeDocument/2006/relationships/officeDocument" Target="/ppt/presentation.xml" Id="R5ac981923dc84d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0c65397507423a"/>
  </p:sldMasterIdLst>
  <p:notesMasterIdLst>
    <p:notesMasterId xmlns:r="http://schemas.openxmlformats.org/officeDocument/2006/relationships" r:id="R81712d9392e84ed0"/>
  </p:notesMasterIdLst>
  <p:sldIdLst>
    <p:sldId xmlns:r="http://schemas.openxmlformats.org/officeDocument/2006/relationships" id="256" r:id="R56111d83f05b4ee7"/>
    <p:sldId xmlns:r="http://schemas.openxmlformats.org/officeDocument/2006/relationships" id="257" r:id="R8ef19a3315b74742"/>
    <p:sldId xmlns:r="http://schemas.openxmlformats.org/officeDocument/2006/relationships" id="258" r:id="Rc87f079fa9464a97"/>
    <p:sldId xmlns:r="http://schemas.openxmlformats.org/officeDocument/2006/relationships" id="259" r:id="R431d72655dfb40d3"/>
    <p:sldId xmlns:r="http://schemas.openxmlformats.org/officeDocument/2006/relationships" id="260" r:id="R8bda15cd00ed44f3"/>
    <p:sldId xmlns:r="http://schemas.openxmlformats.org/officeDocument/2006/relationships" id="261" r:id="Rce2fa6c7c8ec4126"/>
    <p:sldId xmlns:r="http://schemas.openxmlformats.org/officeDocument/2006/relationships" id="262" r:id="Rb312f37d00ab4c8c"/>
    <p:sldId xmlns:r="http://schemas.openxmlformats.org/officeDocument/2006/relationships" id="263" r:id="R21b1451fb2804003"/>
    <p:sldId xmlns:r="http://schemas.openxmlformats.org/officeDocument/2006/relationships" id="264" r:id="R611147f9ea864834"/>
    <p:sldId xmlns:r="http://schemas.openxmlformats.org/officeDocument/2006/relationships" id="265" r:id="R375bd88b85094496"/>
    <p:sldId xmlns:r="http://schemas.openxmlformats.org/officeDocument/2006/relationships" id="266" r:id="R0ed66fac6c0045ec"/>
    <p:sldId xmlns:r="http://schemas.openxmlformats.org/officeDocument/2006/relationships" id="267" r:id="R753f10ee93d14cec"/>
    <p:sldId xmlns:r="http://schemas.openxmlformats.org/officeDocument/2006/relationships" id="268" r:id="R74786dbb739d4e34"/>
    <p:sldId xmlns:r="http://schemas.openxmlformats.org/officeDocument/2006/relationships" id="269" r:id="Rc581df0977b14dd4"/>
    <p:sldId xmlns:r="http://schemas.openxmlformats.org/officeDocument/2006/relationships" id="270" r:id="Ree00309ea5814a29"/>
    <p:sldId xmlns:r="http://schemas.openxmlformats.org/officeDocument/2006/relationships" id="271" r:id="Re4a67a0037f44195"/>
    <p:sldId xmlns:r="http://schemas.openxmlformats.org/officeDocument/2006/relationships" id="272" r:id="Rcb0c9759086943d1"/>
    <p:sldId xmlns:r="http://schemas.openxmlformats.org/officeDocument/2006/relationships" id="273" r:id="Rdc7ea095854142bf"/>
    <p:sldId xmlns:r="http://schemas.openxmlformats.org/officeDocument/2006/relationships" id="274" r:id="Rf84c92f94a474580"/>
    <p:sldId xmlns:r="http://schemas.openxmlformats.org/officeDocument/2006/relationships" id="275" r:id="R3479f8b5671d4bc3"/>
    <p:sldId xmlns:r="http://schemas.openxmlformats.org/officeDocument/2006/relationships" id="276" r:id="Rd103398d36b34ea0"/>
    <p:sldId xmlns:r="http://schemas.openxmlformats.org/officeDocument/2006/relationships" id="277" r:id="R08c5cb4bbe044437"/>
    <p:sldId xmlns:r="http://schemas.openxmlformats.org/officeDocument/2006/relationships" id="278" r:id="R96d4527c743d412d"/>
    <p:sldId xmlns:r="http://schemas.openxmlformats.org/officeDocument/2006/relationships" id="279" r:id="R306e4182a5204ee3"/>
    <p:sldId xmlns:r="http://schemas.openxmlformats.org/officeDocument/2006/relationships" id="280" r:id="Rf3fc15f82c0d408c"/>
    <p:sldId xmlns:r="http://schemas.openxmlformats.org/officeDocument/2006/relationships" id="281" r:id="Ra4cbdc57000d4a31"/>
    <p:sldId xmlns:r="http://schemas.openxmlformats.org/officeDocument/2006/relationships" id="282" r:id="R294a40d27b8046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20949fcdf945cc" /><Relationship Type="http://schemas.openxmlformats.org/officeDocument/2006/relationships/slideMaster" Target="/ppt/slideMasters/slideMaster1.xml" Id="R200c65397507423a" /><Relationship Type="http://schemas.openxmlformats.org/officeDocument/2006/relationships/notesMaster" Target="/ppt/notesMasters/notesMaster1.xml" Id="R81712d9392e84ed0" /><Relationship Type="http://schemas.openxmlformats.org/officeDocument/2006/relationships/presProps" Target="/ppt/presProps.xml" Id="Ra297f91be6a54618" /><Relationship Type="http://schemas.openxmlformats.org/officeDocument/2006/relationships/tableStyles" Target="/ppt/tableStyles.xml" Id="R7f8b235348bd4d12" /><Relationship Type="http://schemas.openxmlformats.org/officeDocument/2006/relationships/slide" Target="/ppt/slides/slide1.xml" Id="R56111d83f05b4ee7" /><Relationship Type="http://schemas.openxmlformats.org/officeDocument/2006/relationships/slide" Target="/ppt/slides/slide2.xml" Id="R8ef19a3315b74742" /><Relationship Type="http://schemas.openxmlformats.org/officeDocument/2006/relationships/slide" Target="/ppt/slides/slide3.xml" Id="Rc87f079fa9464a97" /><Relationship Type="http://schemas.openxmlformats.org/officeDocument/2006/relationships/slide" Target="/ppt/slides/slide4.xml" Id="R431d72655dfb40d3" /><Relationship Type="http://schemas.openxmlformats.org/officeDocument/2006/relationships/slide" Target="/ppt/slides/slide5.xml" Id="R8bda15cd00ed44f3" /><Relationship Type="http://schemas.openxmlformats.org/officeDocument/2006/relationships/slide" Target="/ppt/slides/slide6.xml" Id="Rce2fa6c7c8ec4126" /><Relationship Type="http://schemas.openxmlformats.org/officeDocument/2006/relationships/slide" Target="/ppt/slides/slide7.xml" Id="Rb312f37d00ab4c8c" /><Relationship Type="http://schemas.openxmlformats.org/officeDocument/2006/relationships/slide" Target="/ppt/slides/slide8.xml" Id="R21b1451fb2804003" /><Relationship Type="http://schemas.openxmlformats.org/officeDocument/2006/relationships/slide" Target="/ppt/slides/slide9.xml" Id="R611147f9ea864834" /><Relationship Type="http://schemas.openxmlformats.org/officeDocument/2006/relationships/slide" Target="/ppt/slides/slide10.xml" Id="R375bd88b85094496" /><Relationship Type="http://schemas.openxmlformats.org/officeDocument/2006/relationships/slide" Target="/ppt/slides/slide11.xml" Id="R0ed66fac6c0045ec" /><Relationship Type="http://schemas.openxmlformats.org/officeDocument/2006/relationships/slide" Target="/ppt/slides/slide12.xml" Id="R753f10ee93d14cec" /><Relationship Type="http://schemas.openxmlformats.org/officeDocument/2006/relationships/slide" Target="/ppt/slides/slide13.xml" Id="R74786dbb739d4e34" /><Relationship Type="http://schemas.openxmlformats.org/officeDocument/2006/relationships/slide" Target="/ppt/slides/slide14.xml" Id="Rc581df0977b14dd4" /><Relationship Type="http://schemas.openxmlformats.org/officeDocument/2006/relationships/slide" Target="/ppt/slides/slide15.xml" Id="Ree00309ea5814a29" /><Relationship Type="http://schemas.openxmlformats.org/officeDocument/2006/relationships/slide" Target="/ppt/slides/slide16.xml" Id="Re4a67a0037f44195" /><Relationship Type="http://schemas.openxmlformats.org/officeDocument/2006/relationships/slide" Target="/ppt/slides/slide17.xml" Id="Rcb0c9759086943d1" /><Relationship Type="http://schemas.openxmlformats.org/officeDocument/2006/relationships/slide" Target="/ppt/slides/slide18.xml" Id="Rdc7ea095854142bf" /><Relationship Type="http://schemas.openxmlformats.org/officeDocument/2006/relationships/slide" Target="/ppt/slides/slide19.xml" Id="Rf84c92f94a474580" /><Relationship Type="http://schemas.openxmlformats.org/officeDocument/2006/relationships/slide" Target="/ppt/slides/slide20.xml" Id="R3479f8b5671d4bc3" /><Relationship Type="http://schemas.openxmlformats.org/officeDocument/2006/relationships/slide" Target="/ppt/slides/slide21.xml" Id="Rd103398d36b34ea0" /><Relationship Type="http://schemas.openxmlformats.org/officeDocument/2006/relationships/slide" Target="/ppt/slides/slide22.xml" Id="R08c5cb4bbe044437" /><Relationship Type="http://schemas.openxmlformats.org/officeDocument/2006/relationships/slide" Target="/ppt/slides/slide23.xml" Id="R96d4527c743d412d" /><Relationship Type="http://schemas.openxmlformats.org/officeDocument/2006/relationships/slide" Target="/ppt/slides/slide24.xml" Id="R306e4182a5204ee3" /><Relationship Type="http://schemas.openxmlformats.org/officeDocument/2006/relationships/slide" Target="/ppt/slides/slide25.xml" Id="Rf3fc15f82c0d408c" /><Relationship Type="http://schemas.openxmlformats.org/officeDocument/2006/relationships/slide" Target="/ppt/slides/slide26.xml" Id="Ra4cbdc57000d4a31" /><Relationship Type="http://schemas.openxmlformats.org/officeDocument/2006/relationships/slide" Target="/ppt/slides/slide27.xml" Id="R294a40d27b8046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41eed059a54d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a1272bdead423b" /><Relationship Type="http://schemas.openxmlformats.org/officeDocument/2006/relationships/notesMaster" Target="/ppt/notesMasters/notesMaster1.xml" Id="R21b012dd46b941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dce257be234fac" /><Relationship Type="http://schemas.openxmlformats.org/officeDocument/2006/relationships/notesMaster" Target="/ppt/notesMasters/notesMaster1.xml" Id="Rf35f5aa261fd4e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9d6ac8e7994deb" /><Relationship Type="http://schemas.openxmlformats.org/officeDocument/2006/relationships/notesMaster" Target="/ppt/notesMasters/notesMaster1.xml" Id="Ra01261fa75e44c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5d447186154c0d" /><Relationship Type="http://schemas.openxmlformats.org/officeDocument/2006/relationships/notesMaster" Target="/ppt/notesMasters/notesMaster1.xml" Id="R7ba2d18d6b0442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93d8e329884fbe" /><Relationship Type="http://schemas.openxmlformats.org/officeDocument/2006/relationships/notesMaster" Target="/ppt/notesMasters/notesMaster1.xml" Id="R3ac51d28db824c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a9673f7cc34f39" /><Relationship Type="http://schemas.openxmlformats.org/officeDocument/2006/relationships/notesMaster" Target="/ppt/notesMasters/notesMaster1.xml" Id="R2107e12722254d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de2641955240eb" /><Relationship Type="http://schemas.openxmlformats.org/officeDocument/2006/relationships/notesMaster" Target="/ppt/notesMasters/notesMaster1.xml" Id="R02e5e0e264e54d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37c5386e9740fb" /><Relationship Type="http://schemas.openxmlformats.org/officeDocument/2006/relationships/notesMaster" Target="/ppt/notesMasters/notesMaster1.xml" Id="Rd8127b4fc29f4e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221c568f5f4a06" /><Relationship Type="http://schemas.openxmlformats.org/officeDocument/2006/relationships/notesMaster" Target="/ppt/notesMasters/notesMaster1.xml" Id="R183b6e14c78a40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f86584d7c040c0" /><Relationship Type="http://schemas.openxmlformats.org/officeDocument/2006/relationships/notesMaster" Target="/ppt/notesMasters/notesMaster1.xml" Id="R68d9576fb6b640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6d069e3568487b" /><Relationship Type="http://schemas.openxmlformats.org/officeDocument/2006/relationships/notesMaster" Target="/ppt/notesMasters/notesMaster1.xml" Id="R6bd5102ea4ec42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3b8d7e6616468c" /><Relationship Type="http://schemas.openxmlformats.org/officeDocument/2006/relationships/notesMaster" Target="/ppt/notesMasters/notesMaster1.xml" Id="R383ebcdde6fa4b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a3d012ad0124853" /><Relationship Type="http://schemas.openxmlformats.org/officeDocument/2006/relationships/notesMaster" Target="/ppt/notesMasters/notesMaster1.xml" Id="Rec09b0a6a7e74a2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b8ee9b369304f14" /><Relationship Type="http://schemas.openxmlformats.org/officeDocument/2006/relationships/notesMaster" Target="/ppt/notesMasters/notesMaster1.xml" Id="Rec121b498a53482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7127f5e0219498e" /><Relationship Type="http://schemas.openxmlformats.org/officeDocument/2006/relationships/notesMaster" Target="/ppt/notesMasters/notesMaster1.xml" Id="Rfd7c7840d691400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24b4c4feca44e22" /><Relationship Type="http://schemas.openxmlformats.org/officeDocument/2006/relationships/notesMaster" Target="/ppt/notesMasters/notesMaster1.xml" Id="Rb76a0e36f45c473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9957efbe62248f7" /><Relationship Type="http://schemas.openxmlformats.org/officeDocument/2006/relationships/notesMaster" Target="/ppt/notesMasters/notesMaster1.xml" Id="R086884546320478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4eda5e89718448e" /><Relationship Type="http://schemas.openxmlformats.org/officeDocument/2006/relationships/notesMaster" Target="/ppt/notesMasters/notesMaster1.xml" Id="Ra9b44dd91c2e4e0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a4566304cf54b8b" /><Relationship Type="http://schemas.openxmlformats.org/officeDocument/2006/relationships/notesMaster" Target="/ppt/notesMasters/notesMaster1.xml" Id="Rf0d88d214d9740e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1244db4be3b429e" /><Relationship Type="http://schemas.openxmlformats.org/officeDocument/2006/relationships/notesMaster" Target="/ppt/notesMasters/notesMaster1.xml" Id="Rc050df06031c44f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43e35dd91a549f3" /><Relationship Type="http://schemas.openxmlformats.org/officeDocument/2006/relationships/notesMaster" Target="/ppt/notesMasters/notesMaster1.xml" Id="Rd9e8f22d2f86435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ae24468089c4d22" /><Relationship Type="http://schemas.openxmlformats.org/officeDocument/2006/relationships/notesMaster" Target="/ppt/notesMasters/notesMaster1.xml" Id="Rc314c8829f7c4fb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8eff8d5425d4d9b" /><Relationship Type="http://schemas.openxmlformats.org/officeDocument/2006/relationships/notesMaster" Target="/ppt/notesMasters/notesMaster1.xml" Id="R409c42839c2c4e0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643f518e76044c7" /><Relationship Type="http://schemas.openxmlformats.org/officeDocument/2006/relationships/notesMaster" Target="/ppt/notesMasters/notesMaster1.xml" Id="Rd0d9aa5ae3e942f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03ebe7107854241" /><Relationship Type="http://schemas.openxmlformats.org/officeDocument/2006/relationships/notesMaster" Target="/ppt/notesMasters/notesMaster1.xml" Id="R544d3feeba76483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cbdbb84b0a44702" /><Relationship Type="http://schemas.openxmlformats.org/officeDocument/2006/relationships/notesMaster" Target="/ppt/notesMasters/notesMaster1.xml" Id="R22aa08ed4ebd4c8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ee03adbb97743c2" /><Relationship Type="http://schemas.openxmlformats.org/officeDocument/2006/relationships/notesMaster" Target="/ppt/notesMasters/notesMaster1.xml" Id="R34aad5e22fb746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页｜跨 RSU 连续工作流：模型依赖与执行状态准备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依据：docs/project/system_mechanism_manuscript_working_draft.md；文献截点 2026-10-11。论文工作稿尚非投稿稿。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页｜一句话：车开到下个路侧站，任务能否接着做？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论文第 1 节。当前工作流与车辆绑定，后继节点依赖前驱结果、兼容模型、显式执行状态。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页｜缓存命中不等于工作流完成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DAG frontier、typed model readiness 和状态恢复为不同条件。不能把单一 cache hit 当作 workflow completion。来源：论文第 1/3 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页｜逐篇对比：DAG、移动与迁移已有强近邻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逐篇公开范围与研究差异；缺口不表示原论文设计缺陷。</a:t>
            </a:r>
          </a:p>
          <a:p xmlns:a="http://schemas.openxmlformats.org/drawingml/2006/main">
            <a:r>
              <a:t>P1 COHCTO · TMC 2025：https://doi.org/10.1109/TMC.2025.3573379</a:t>
            </a:r>
          </a:p>
          <a:p xmlns:a="http://schemas.openxmlformats.org/drawingml/2006/main">
            <a:r>
              <a:t>P2 LDMCO · TMC 2026：https://doi.org/10.1109/TMC.2025.3646450</a:t>
            </a:r>
          </a:p>
          <a:p xmlns:a="http://schemas.openxmlformats.org/drawingml/2006/main">
            <a:r>
              <a:t>P3 Ly-COMA · IET 2025：https://doi.org/10.1049/itr2.70083</a:t>
            </a:r>
          </a:p>
          <a:p xmlns:a="http://schemas.openxmlformats.org/drawingml/2006/main">
            <a:r>
              <a:t>P4 Fan et al. · TVT 2024：https://doi.org/10.1109/TVT.2023.3310520</a:t>
            </a:r>
          </a:p>
          <a:p xmlns:a="http://schemas.openxmlformats.org/drawingml/2006/main">
            <a:r>
              <a:t>P5 MCMA · TMC 2025：https://doi.org/10.1109/TMC.2025.3539945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页｜逐篇对比：预测、AI 工作流与 adapter cache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逐篇公开范围与研究差异。POLAR 正式 ACM DL 条目未核验，按 arXiv 引用。</a:t>
            </a:r>
          </a:p>
          <a:p xmlns:a="http://schemas.openxmlformats.org/drawingml/2006/main">
            <a:r>
              <a:t>P6 MATM · TVT 2026：https://doi.org/10.1109/TVT.2026.3660321</a:t>
            </a:r>
          </a:p>
          <a:p xmlns:a="http://schemas.openxmlformats.org/drawingml/2006/main">
            <a:r>
              <a:t>P7 AWTO · FGCS 2026：https://doi.org/10.1016/j.future.2026.108415</a:t>
            </a:r>
          </a:p>
          <a:p xmlns:a="http://schemas.openxmlformats.org/drawingml/2006/main">
            <a:r>
              <a:t>P8 POLAR · arXiv 2026：https://arxiv.org/abs/2604.16583</a:t>
            </a:r>
          </a:p>
          <a:p xmlns:a="http://schemas.openxmlformats.org/drawingml/2006/main">
            <a:r>
              <a:t>P9 SLoRA · MLSys 2024：https://proceedings.mlsys.org/paper_files/paper/2024/hash/906419cd502575b617cc489a1a696a67-Abstract-Conference.html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页｜逐篇对比：共享服务、工作负载与算法基础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方法基础论文不作为同一 VEC 系统的直接强对照；这里仅明确本研究还需补的系统证据。</a:t>
            </a:r>
          </a:p>
          <a:p xmlns:a="http://schemas.openxmlformats.org/drawingml/2006/main">
            <a:r>
              <a:t>P10 Punica · MLSys 2024：https://proceedings.mlsys.org/paper_files/paper/2024/hash/054de805fcceb78a201f5e9d53c85908-Abstract-Conference.html</a:t>
            </a:r>
          </a:p>
          <a:p xmlns:a="http://schemas.openxmlformats.org/drawingml/2006/main">
            <a:r>
              <a:t>P11 WfCommons · FGCS 2022：https://doi.org/10.1016/j.future.2021.09.043</a:t>
            </a:r>
          </a:p>
          <a:p xmlns:a="http://schemas.openxmlformats.org/drawingml/2006/main">
            <a:r>
              <a:t>P12 RUDDER · NeurIPS 2019：https://papers.neurips.cc/paper_files/paper/2019/hash/16105fb9cc614fc29e1bda00dab60d41-Abstract.html</a:t>
            </a:r>
          </a:p>
          <a:p xmlns:a="http://schemas.openxmlformats.org/drawingml/2006/main">
            <a:r>
              <a:t>P13 MAPPO · NeurIPS 2022：https://arxiv.org/abs/2103.01955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页｜横向图：完整问题交集在哪里？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●=论文公开模型直接涉及；◐=相邻/部分；—=非核心。PPO_MEC 行表示研究框架的对象范围，不表示所有链路已实现或有效果。来源：前 3 页逐篇文献及论文工作稿。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页｜我们覆盖了哪些点？证据已经到哪一步？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来源：论文工作稿；docs/project/mechanism_evidence_closure_results_20261005.md；docs/project/BUGS.md。当前未证明全部机制联动可提高独立工作流完成率。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页｜研究空白收束成三个能被实验否定的问题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Q1/Q2/Q3 来自论文工作稿第 1 节。Q3 以机制真实存在为前提，不预设复杂 RL 更好。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页｜机制用一句话解释：先算缺什么，再决定搬不搬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共享 base 的增量准备成本、预测目标端准备和执行状态后缀恢复分别有不同证据；三者联合收益未确认。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页｜准备不是越早越好：四种结果一眼看懂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准备是否有价值取决于 handoff 是否发生与目标端是否实际用到所准备的对象。该图为概念性决策表，非实测效果。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页｜论文系统图：数据、环境、控制器形成闭环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 docs/project/advisor_report_briefing_20260621.md 的 Mermaid 框架和论文工作稿重绘。NGSIM/LuST 是 mobility provider，正式主线优先 NGSIM；Alibaba DAG 通过受控模型需求映射接入环境。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页｜资源账本：同一个 base 只算一次，状态单独算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论文第 3 节。ΔM 是增量缺失对象的会计定义，不是新的优化算法。状态文件与模型目录不能混为一类成本。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页｜当前算法到底能做什么：五个动作、一条信息边界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动作与 legal mask 来自论文工作稿第 3.3 节和 src/envs/specs/action_schema.py；当前接口不能任意选择未来 DAG 节点对象包。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15 页｜论文方法图：共享编码 → 三头决策 → 合法环境动作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与 docs/project/advisor_report_briefing_20260621.md 第 3/4 节相符：DAG、RSU、vehicle、prediction 与 continuity/reliability 共 7 个 64 维 block；448→128→64 fusion；slow/fast/event heads + centralized critic。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16 页｜PPO 正确性先过关，才能比较算法优势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论文第 4 节；旧 head surrogate 在 640 个受控数学案例中与 masked env-action PPO objective 或 gradient 不一致。该反例不预测修复后的性能。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17 页｜奖励图：训练分数拆成服务收益与先付成本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src/envs/core/vec_workflow_core_env.py:416-577。该公式为 RewardBreakdown 的简写；细项权重依动作/事件变化。reward 是训练目标，不代替完成、失败、字节和时延。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18 页｜实验数据：真实轨迹 + 真实 DAG，但联合 AI 请求是构造的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论文第 5.1 节；docs/project/CONTEXT.md。NGSIM 提供 mobility trace，Alibaba 提供 workflow DAG；模型/adapter 需求由受控映射生成，不能说成真实车辆运行这些 AI 工作流的联合测量。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19 页｜实验顺序：先证明机制，再比较控制器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论文第 5.2/5.3 节；机制 2×2 是未来确认性设计，不是已经完成的 formal 结果。固定控制器隔离物理机制，匹配训练臂评估适应，简单规则和平坦 PPO 是算法对照。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20 页｜奖励曲线可看训练过程，不能证明独立泛化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 seed、96 episode；每 12 episode 取一次 12-episode rolling mean。源：outputs/sa_ghmappo_reward_visuals_20260716/rl_reward_convergence_table.csv。只作 dev-screen 训练诊断，不作为当前稿的确认性算法优势。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21 页｜机制 A：共享底座会省传输，但取决于请求顺序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artifacts/analysis/mechanism_evidence_closure_20261005_v1/；docs/project/mechanism_evidence_closure_results_20261005.md。四臂均完成72/72请求；数值为原生 synthetic 账本，非网络实测。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22 页｜机制 B：两节点技术任务证明“能接着跑”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artifacts/analysis/two_node_workflow_reexecution_comparison_20261005_v1/；docs/project/mechanism_evidence_closure_results_20261005.md。四进程、同机、单次；目标端预存 base/adapter，无真实无线传输。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23 页｜机制 C：少一次失败，也要看状态有多大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artifacts/analysis/mechanism_evidence_closure_20261005_v1/；12 个冻结 synthetic design points，C/T/F 使用同一合法 mask。全枚举把一次服务失败换成 2,040 B 或 160 MiB；全部场景 workflow completion 相同。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24 页｜开发矩阵提醒：少传数据可能只是少完成任务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论文第 6 节；原始记录与审计见 artifacts/analysis/research_problem_evidence_20260928/。三原始窗口、开发重用，描述性诊断。Full SA 18/36 完成、7,432 MB；Full PPO 27/36、10,224 MB；每完成 MB 分别为 412.889 和 378.667。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25 页｜目前可以说什么，不能说什么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依据：论文工作稿、2026-10-05 机制报告、2026-10-09 v70 审计、top journal policy。缺少当前完整 confirmatory 包与独立窗口，paper-ready 为 Unverifiable。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26 页｜下一步只做三道门槛，逐关决定是否扩展算法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 2026-10-05 机制报告：先接入 action 4 状态 producer/consumer，再新的两节点技术实例比较局部规则和当前规则；之后才考虑公平重训。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27 页｜文献与审查口径：每个判断都能追溯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reviewed_at: 2026-10-11</a:t>
            </a:r>
          </a:p>
          <a:p xmlns:a="http://schemas.openxmlformats.org/drawingml/2006/main">
            <a:r>
              <a:t>literature_cutoff: 2026-10-11</a:t>
            </a:r>
          </a:p>
          <a:p xmlns:a="http://schemas.openxmlformats.org/drawingml/2006/main">
            <a:r>
              <a:t>target_venue: IEEE Transactions on Mobile Computing (TMC)</a:t>
            </a:r>
          </a:p>
          <a:p xmlns:a="http://schemas.openxmlformats.org/drawingml/2006/main">
            <a:r>
              <a:t>artifact_run_id: mechanism_evidence_closure_20261005_v1 + two_node_workflow_reexecution_comparison_20261005_v1 + research_problem_evidence_20260928</a:t>
            </a:r>
          </a:p>
          <a:p xmlns:a="http://schemas.openxmlformats.org/drawingml/2006/main">
            <a:r>
              <a:t>policy_version: tmc_review_policy_v3_20260621</a:t>
            </a:r>
          </a:p>
          <a:p xmlns:a="http://schemas.openxmlformats.org/drawingml/2006/main">
            <a:r>
              <a:t>git_commit_at_build: 353a3b3c781287ac2a874b500e70255642ea93d5</a:t>
            </a:r>
          </a:p>
          <a:p xmlns:a="http://schemas.openxmlformats.org/drawingml/2006/main">
            <a:r>
              <a:t>evidence_level: E1 desk literature positioning + cited E2 bounded mechanism artifacts; no new E2 confirmatory package</a:t>
            </a:r>
          </a:p>
          <a:p xmlns:a="http://schemas.openxmlformats.org/drawingml/2006/main">
            <a:r>
              <a:t>verdict: Unverifiable for paper-ready; no new performance promotion.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 COHCTO · TMC 2025：https://doi.org/10.1109/TMC.2025.3573379</a:t>
            </a:r>
          </a:p>
          <a:p xmlns:a="http://schemas.openxmlformats.org/drawingml/2006/main">
            <a:r>
              <a:t>P2 LDMCO · TMC 2026：https://doi.org/10.1109/TMC.2025.3646450</a:t>
            </a:r>
          </a:p>
          <a:p xmlns:a="http://schemas.openxmlformats.org/drawingml/2006/main">
            <a:r>
              <a:t>P3 Ly-COMA · IET 2025：https://doi.org/10.1049/itr2.70083</a:t>
            </a:r>
          </a:p>
          <a:p xmlns:a="http://schemas.openxmlformats.org/drawingml/2006/main">
            <a:r>
              <a:t>P4 Fan et al. · TVT 2024：https://doi.org/10.1109/TVT.2023.3310520</a:t>
            </a:r>
          </a:p>
          <a:p xmlns:a="http://schemas.openxmlformats.org/drawingml/2006/main">
            <a:r>
              <a:t>P5 MCMA · TMC 2025：https://doi.org/10.1109/TMC.2025.3539945</a:t>
            </a:r>
          </a:p>
          <a:p xmlns:a="http://schemas.openxmlformats.org/drawingml/2006/main">
            <a:r>
              <a:t>P6 MATM · TVT 2026：https://doi.org/10.1109/TVT.2026.3660321</a:t>
            </a:r>
          </a:p>
          <a:p xmlns:a="http://schemas.openxmlformats.org/drawingml/2006/main">
            <a:r>
              <a:t>P7 AWTO · FGCS 2026：https://doi.org/10.1016/j.future.2026.108415</a:t>
            </a:r>
          </a:p>
          <a:p xmlns:a="http://schemas.openxmlformats.org/drawingml/2006/main">
            <a:r>
              <a:t>P8 POLAR · arXiv 2026：https://arxiv.org/abs/2604.16583</a:t>
            </a:r>
          </a:p>
          <a:p xmlns:a="http://schemas.openxmlformats.org/drawingml/2006/main">
            <a:r>
              <a:t>P9 SLoRA · MLSys 2024：https://proceedings.mlsys.org/paper_files/paper/2024/hash/906419cd502575b617cc489a1a696a67-Abstract-Conference.html</a:t>
            </a:r>
          </a:p>
          <a:p xmlns:a="http://schemas.openxmlformats.org/drawingml/2006/main">
            <a:r>
              <a:t>P10 Punica · MLSys 2024：https://proceedings.mlsys.org/paper_files/paper/2024/hash/054de805fcceb78a201f5e9d53c85908-Abstract-Conference.html</a:t>
            </a:r>
          </a:p>
          <a:p xmlns:a="http://schemas.openxmlformats.org/drawingml/2006/main">
            <a:r>
              <a:t>P11 WfCommons · FGCS 2022：https://doi.org/10.1016/j.future.2021.09.043</a:t>
            </a:r>
          </a:p>
          <a:p xmlns:a="http://schemas.openxmlformats.org/drawingml/2006/main">
            <a:r>
              <a:t>P12 RUDDER · NeurIPS 2019：https://papers.neurips.cc/paper_files/paper/2019/hash/16105fb9cc614fc29e1bda00dab60d41-Abstract.html</a:t>
            </a:r>
          </a:p>
          <a:p xmlns:a="http://schemas.openxmlformats.org/drawingml/2006/main">
            <a:r>
              <a:t>P13 MAPPO · NeurIPS 2022：https://arxiv.org/abs/2103.01955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9453fd805242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77d130e2f9470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b05060f2d5466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c95aef03ad4f9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404e43ecd3475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3af117552248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493DFBB-EDE4-4A59-8978-26099868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ECB6C73-5AB8-4DD1-94EC-B5905B24FD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D305544-9994-4740-B73A-274D826497E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6244466-A958-4B35-9EC9-56755F9C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9AAF086-D8AF-4460-879C-F76B550D67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724EFFE-EDDB-4CC8-A155-DB345B67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09206A-3504-4B4E-AF23-1639FBFC9B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33E85DB-346A-43D1-BC41-A22BD1FB3E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75DD856-4E38-4A2A-817D-6A998CBB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227E975-A1A2-4724-9E06-EF3C3B526C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D24BB3-E430-42D9-915E-028B45B1D1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73D0CA-1B78-4B8D-80BF-7298FA79F55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5DB4460-4E37-4740-A9E1-675479D1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56E4EA6-D32D-44AD-8DEE-E00AAA6286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394C67-4B86-4D46-BF5D-D309AE64C5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5ef718335148fe" /><Relationship Type="http://schemas.openxmlformats.org/officeDocument/2006/relationships/slideLayout" Target="/ppt/slideLayouts/slideLayout1.xml" Id="R36f4d1e7830840de" /><Relationship Type="http://schemas.openxmlformats.org/officeDocument/2006/relationships/slideLayout" Target="/ppt/slideLayouts/slideLayout2.xml" Id="R7cb8b13465a54cf2" /><Relationship Type="http://schemas.openxmlformats.org/officeDocument/2006/relationships/slideLayout" Target="/ppt/slideLayouts/slideLayout3.xml" Id="Rf2ccf0b2ff934e1a" /><Relationship Type="http://schemas.openxmlformats.org/officeDocument/2006/relationships/slideLayout" Target="/ppt/slideLayouts/slideLayout4.xml" Id="R49b6be88e1824d14" /><Relationship Type="http://schemas.openxmlformats.org/officeDocument/2006/relationships/slideLayout" Target="/ppt/slideLayouts/slideLayout5.xml" Id="R464421e1f00b4207" /><Relationship Type="http://schemas.openxmlformats.org/officeDocument/2006/relationships/slideLayout" Target="/ppt/slideLayouts/slideLayout6.xml" Id="R49fdd14c16db44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f4d1e7830840de"/>
    <p:sldLayoutId xmlns:r="http://schemas.openxmlformats.org/officeDocument/2006/relationships" id="2147483650" r:id="R7cb8b13465a54cf2"/>
    <p:sldLayoutId xmlns:r="http://schemas.openxmlformats.org/officeDocument/2006/relationships" id="2147483651" r:id="Rf2ccf0b2ff934e1a"/>
    <p:sldLayoutId xmlns:r="http://schemas.openxmlformats.org/officeDocument/2006/relationships" id="2147483652" r:id="R49b6be88e1824d14"/>
    <p:sldLayoutId xmlns:r="http://schemas.openxmlformats.org/officeDocument/2006/relationships" id="2147483653" r:id="R464421e1f00b4207"/>
    <p:sldLayoutId xmlns:r="http://schemas.openxmlformats.org/officeDocument/2006/relationships" id="2147483654" r:id="R49fdd14c16db44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b944a34c054d29" /><Relationship Type="http://schemas.openxmlformats.org/officeDocument/2006/relationships/image" Target="/ppt/media/image.png" Id="R1bd366f9aa0d431d" /><Relationship Type="http://schemas.openxmlformats.org/officeDocument/2006/relationships/notesSlide" Target="/ppt/notesSlides/notesSlide1.xml" Id="Rcbe21b2ee59b46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36051616e947ab" /><Relationship Type="http://schemas.openxmlformats.org/officeDocument/2006/relationships/image" Target="/ppt/media/image2.png" Id="Rb82c13ee21fa4bb6" /><Relationship Type="http://schemas.openxmlformats.org/officeDocument/2006/relationships/notesSlide" Target="/ppt/notesSlides/notesSlide2.xml" Id="R875c7aa550c04c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9d13c4821c4d96" /><Relationship Type="http://schemas.openxmlformats.org/officeDocument/2006/relationships/image" Target="/ppt/media/image3.png" Id="Rc27a22a0dd7a4054" /><Relationship Type="http://schemas.openxmlformats.org/officeDocument/2006/relationships/notesSlide" Target="/ppt/notesSlides/notesSlide3.xml" Id="R4c929e89ac1f4a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5e886d1d8d4313" /><Relationship Type="http://schemas.openxmlformats.org/officeDocument/2006/relationships/image" Target="/ppt/media/image4.png" Id="Rf470e81083e24ae4" /><Relationship Type="http://schemas.openxmlformats.org/officeDocument/2006/relationships/notesSlide" Target="/ppt/notesSlides/notesSlide4.xml" Id="Rc855d0c215c841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b994b9f23243b1" /><Relationship Type="http://schemas.openxmlformats.org/officeDocument/2006/relationships/image" Target="/ppt/media/image5.png" Id="R8f8dd0e031e1422a" /><Relationship Type="http://schemas.openxmlformats.org/officeDocument/2006/relationships/notesSlide" Target="/ppt/notesSlides/notesSlide5.xml" Id="Rf63253a8f1c344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30c76070ef4720" /><Relationship Type="http://schemas.openxmlformats.org/officeDocument/2006/relationships/image" Target="/ppt/media/image6.png" Id="Ra32ef64118c540da" /><Relationship Type="http://schemas.openxmlformats.org/officeDocument/2006/relationships/notesSlide" Target="/ppt/notesSlides/notesSlide6.xml" Id="Rb9a6c0ba3dfa49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37f74d394e4a75" /><Relationship Type="http://schemas.openxmlformats.org/officeDocument/2006/relationships/image" Target="/ppt/media/image7.png" Id="R9a4c16d5c81d484a" /><Relationship Type="http://schemas.openxmlformats.org/officeDocument/2006/relationships/notesSlide" Target="/ppt/notesSlides/notesSlide7.xml" Id="R203cfa1035624c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31b2ef4b164838" /><Relationship Type="http://schemas.openxmlformats.org/officeDocument/2006/relationships/image" Target="/ppt/media/image8.png" Id="Rcdca0f57e8074fab" /><Relationship Type="http://schemas.openxmlformats.org/officeDocument/2006/relationships/notesSlide" Target="/ppt/notesSlides/notesSlide8.xml" Id="R1677ee5793a648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a3d20e8ddd48d0" /><Relationship Type="http://schemas.openxmlformats.org/officeDocument/2006/relationships/image" Target="/ppt/media/image9.png" Id="Rb2ebf6576703465b" /><Relationship Type="http://schemas.openxmlformats.org/officeDocument/2006/relationships/notesSlide" Target="/ppt/notesSlides/notesSlide9.xml" Id="R3030d3e9bad94e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50dc08c27949a8" /><Relationship Type="http://schemas.openxmlformats.org/officeDocument/2006/relationships/image" Target="/ppt/media/image10.png" Id="R753e97b291bd4fed" /><Relationship Type="http://schemas.openxmlformats.org/officeDocument/2006/relationships/notesSlide" Target="/ppt/notesSlides/notesSlide10.xml" Id="R05750855e8be4f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a44ed26d5a4782" /><Relationship Type="http://schemas.openxmlformats.org/officeDocument/2006/relationships/image" Target="/ppt/media/image11.png" Id="R6d000b82e72b4741" /><Relationship Type="http://schemas.openxmlformats.org/officeDocument/2006/relationships/notesSlide" Target="/ppt/notesSlides/notesSlide11.xml" Id="R8672d48aaa9847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e85b27b5604a1b" /><Relationship Type="http://schemas.openxmlformats.org/officeDocument/2006/relationships/image" Target="/ppt/media/image12.png" Id="R660e7a27517a4e24" /><Relationship Type="http://schemas.openxmlformats.org/officeDocument/2006/relationships/notesSlide" Target="/ppt/notesSlides/notesSlide12.xml" Id="R6fa87c77e9594c1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41faf179914012" /><Relationship Type="http://schemas.openxmlformats.org/officeDocument/2006/relationships/image" Target="/ppt/media/image13.png" Id="R1fdb19d3837b4b28" /><Relationship Type="http://schemas.openxmlformats.org/officeDocument/2006/relationships/notesSlide" Target="/ppt/notesSlides/notesSlide13.xml" Id="Reb9a255403ec45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a7906ac6e44d96" /><Relationship Type="http://schemas.openxmlformats.org/officeDocument/2006/relationships/image" Target="/ppt/media/image14.png" Id="Reb23a04f6a614b6b" /><Relationship Type="http://schemas.openxmlformats.org/officeDocument/2006/relationships/notesSlide" Target="/ppt/notesSlides/notesSlide14.xml" Id="Rbe3c380b1f49453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5c5ae1bc2a425f" /><Relationship Type="http://schemas.openxmlformats.org/officeDocument/2006/relationships/image" Target="/ppt/media/image15.png" Id="R0cd1ff67c19a4146" /><Relationship Type="http://schemas.openxmlformats.org/officeDocument/2006/relationships/notesSlide" Target="/ppt/notesSlides/notesSlide15.xml" Id="Rc8339baf8e01434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1d67a6ff5841eb" /><Relationship Type="http://schemas.openxmlformats.org/officeDocument/2006/relationships/image" Target="/ppt/media/image16.png" Id="Rca63efe65bdd4a9f" /><Relationship Type="http://schemas.openxmlformats.org/officeDocument/2006/relationships/notesSlide" Target="/ppt/notesSlides/notesSlide16.xml" Id="R9e103fad74b646c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a972239daf4668" /><Relationship Type="http://schemas.openxmlformats.org/officeDocument/2006/relationships/image" Target="/ppt/media/image17.png" Id="R7a74aba6b6664081" /><Relationship Type="http://schemas.openxmlformats.org/officeDocument/2006/relationships/notesSlide" Target="/ppt/notesSlides/notesSlide17.xml" Id="R1d87cdf07d88485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c9f2346bd24011" /><Relationship Type="http://schemas.openxmlformats.org/officeDocument/2006/relationships/image" Target="/ppt/media/image18.png" Id="R2df7fb31688b41af" /><Relationship Type="http://schemas.openxmlformats.org/officeDocument/2006/relationships/notesSlide" Target="/ppt/notesSlides/notesSlide18.xml" Id="Rf654c967f66242e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9d6ad04d724f56" /><Relationship Type="http://schemas.openxmlformats.org/officeDocument/2006/relationships/image" Target="/ppt/media/image19.png" Id="Rc823a69ab69e4aa0" /><Relationship Type="http://schemas.openxmlformats.org/officeDocument/2006/relationships/notesSlide" Target="/ppt/notesSlides/notesSlide19.xml" Id="R027528baa8f24a7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d70bfe3d6d4820" /><Relationship Type="http://schemas.openxmlformats.org/officeDocument/2006/relationships/image" Target="/ppt/media/image20.png" Id="Rb2c1e06eb78843ca" /><Relationship Type="http://schemas.openxmlformats.org/officeDocument/2006/relationships/chart" Target="/ppt/slides/charts/chart1.xml" Id="Rb235e0a39a4844bc" /><Relationship Type="http://schemas.openxmlformats.org/officeDocument/2006/relationships/notesSlide" Target="/ppt/notesSlides/notesSlide20.xml" Id="R95eb2b3873af489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b243ce0f2d494c" /><Relationship Type="http://schemas.openxmlformats.org/officeDocument/2006/relationships/image" Target="/ppt/media/image21.png" Id="Rec334c973fa647fa" /><Relationship Type="http://schemas.openxmlformats.org/officeDocument/2006/relationships/notesSlide" Target="/ppt/notesSlides/notesSlide21.xml" Id="Rb5daeb2cc727454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a024fa9ab74c04" /><Relationship Type="http://schemas.openxmlformats.org/officeDocument/2006/relationships/image" Target="/ppt/media/image22.png" Id="R41f819fe657b460f" /><Relationship Type="http://schemas.openxmlformats.org/officeDocument/2006/relationships/notesSlide" Target="/ppt/notesSlides/notesSlide22.xml" Id="R953f0a305749488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520ca648294609" /><Relationship Type="http://schemas.openxmlformats.org/officeDocument/2006/relationships/image" Target="/ppt/media/image23.png" Id="R3327f0285b794306" /><Relationship Type="http://schemas.openxmlformats.org/officeDocument/2006/relationships/notesSlide" Target="/ppt/notesSlides/notesSlide23.xml" Id="Rd07b6592d24b41a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514f92f1144df0" /><Relationship Type="http://schemas.openxmlformats.org/officeDocument/2006/relationships/image" Target="/ppt/media/image24.png" Id="R0259778441c344e7" /><Relationship Type="http://schemas.openxmlformats.org/officeDocument/2006/relationships/notesSlide" Target="/ppt/notesSlides/notesSlide24.xml" Id="R900c76d6318f4b6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679c1af04b49c6" /><Relationship Type="http://schemas.openxmlformats.org/officeDocument/2006/relationships/image" Target="/ppt/media/image25.png" Id="Re0abda06cc034ed1" /><Relationship Type="http://schemas.openxmlformats.org/officeDocument/2006/relationships/notesSlide" Target="/ppt/notesSlides/notesSlide25.xml" Id="Rd82e47e1a89d4cb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2a9214c065452f" /><Relationship Type="http://schemas.openxmlformats.org/officeDocument/2006/relationships/image" Target="/ppt/media/image26.png" Id="R4aa66b342d3f4086" /><Relationship Type="http://schemas.openxmlformats.org/officeDocument/2006/relationships/notesSlide" Target="/ppt/notesSlides/notesSlide26.xml" Id="R7f3afb6a9cb34d6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0ad857d1d74d06" /><Relationship Type="http://schemas.openxmlformats.org/officeDocument/2006/relationships/image" Target="/ppt/media/image27.png" Id="Rd6025ef2d7cd45cd" /><Relationship Type="http://schemas.openxmlformats.org/officeDocument/2006/relationships/notesSlide" Target="/ppt/notesSlides/notesSlide27.xml" Id="R233f28676acf410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SA-GHMAPPO · MA12</c:v>
          </c:tx>
          <c:spPr>
            <a:ln xmlns:a="http://schemas.openxmlformats.org/drawingml/2006/main" w="38100">
              <a:solidFill>
                <a:srgbClr val="FFFFFF"/>
              </a:solidFill>
              <a:prstDash val="solid"/>
            </a:ln>
          </c:spPr>
          <c:marker>
            <c:symbol val="none"/>
          </c:marker>
          <c:cat>
            <c:numRef>
              <c:f>'Chart Data'!$A$2:$A$9</c:f>
              <c:numCache>
                <c:formatCode>General</c:formatCode>
                <c:ptCount val="8"/>
                <c:pt idx="0">
                  <c:v>12</c:v>
                </c:pt>
                <c:pt idx="1">
                  <c:v>24</c:v>
                </c:pt>
                <c:pt idx="2">
                  <c:v>36</c:v>
                </c:pt>
                <c:pt idx="3">
                  <c:v>48</c:v>
                </c:pt>
                <c:pt idx="4">
                  <c:v>60</c:v>
                </c:pt>
                <c:pt idx="5">
                  <c:v>72</c:v>
                </c:pt>
                <c:pt idx="6">
                  <c:v>84</c:v>
                </c:pt>
                <c:pt idx="7">
                  <c:v>96</c:v>
                </c:pt>
              </c:numCache>
            </c:numRef>
          </c:cat>
          <c:val>
            <c:numRef>
              <c:f>'Chart Data'!$B$2:$B$9</c:f>
              <c:numCache>
                <c:formatCode>0</c:formatCode>
                <c:ptCount val="8"/>
                <c:pt idx="0">
                  <c:v>76.302</c:v>
                </c:pt>
                <c:pt idx="1">
                  <c:v>84.749</c:v>
                </c:pt>
                <c:pt idx="2">
                  <c:v>80.272</c:v>
                </c:pt>
                <c:pt idx="3">
                  <c:v>73.022</c:v>
                </c:pt>
                <c:pt idx="4">
                  <c:v>86.02</c:v>
                </c:pt>
                <c:pt idx="5">
                  <c:v>75.559</c:v>
                </c:pt>
                <c:pt idx="6">
                  <c:v>84.677</c:v>
                </c:pt>
                <c:pt idx="7">
                  <c:v>80.659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5ED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90"/>
          <c:min val="60"/>
        </c:scaling>
        <c:delete val="0"/>
        <c:axPos val="l"/>
        <c:majorGridlines>
          <c:spPr>
            <a:ln xmlns:a="http://schemas.openxmlformats.org/drawingml/2006/main" w="9525">
              <a:solidFill>
                <a:srgbClr val="6B8BE6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E5ED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2048D8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2048D8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CAB5B1-E141-4E53-8CC0-E540B2C8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7BBF1-649C-4E16-9EFB-CA9A1C0B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366f9aa0d431d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3F503-1B13-4C09-B9ED-61118300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广东工业大学 · 学术研究汇报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5170B-AEE5-4A5B-91B7-B60E94C1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跨 RSU 连续工作流：模型依赖与执行状态准备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5B54C-8568-4C38-B3C7-95CCE52E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2A7BA-98B0-4201-818B-BF6DE6DA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PPO_MEC · 学术研究汇报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AD278-3022-4AD7-AA24-0250262C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9FC39C-DD9E-4446-A75B-674D0546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71700"/>
            <a:ext cx="10648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车辆移动时，让有前后依赖的 AI 工作流接着跑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FEF76E-7E7B-4183-A2A7-6C7882C3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研究问题 → 系统机制 → 算法实现 → 证据边界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C65B5F-A633-4B84-B6FD-BEDDCBB1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005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F643C4-6D2A-4821-9143-74685184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038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Dependency-Aware Model and Execution-State Preparation for Mobile Edge Workflows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509FDC-690B-4950-B507-988C32B0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6959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基于 2026-09-28 论文工作稿及截至 2026-10-10 的项目证据</a:t>
            </a:r>
          </a:p>
        </p:txBody>
      </p:sp>
    </p:spTree>
    <p:extLst>
      <p:ext uri="{BB962C8B-B14F-4D97-AF65-F5344CB8AC3E}">
        <p14:creationId xmlns:p14="http://schemas.microsoft.com/office/powerpoint/2010/main" val="8677870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534025" y="3000375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990850" y="3000375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99CEE0-394F-4CBD-B6E3-5FC22BDE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17740-9F3F-4A35-AE3D-CA266C01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c13ee21fa4bb6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14F4D4-7A97-48C9-9601-B6CC0E39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研究问题 · 直白版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5C7D7-8AEF-469D-9AAB-871F17C7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一句话：车开到下个路侧站，任务能否接着做？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6E6AE-924F-4945-B710-8357EF24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4AAC6-1ABE-45BD-B8BE-40B4E972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PPO_MEC · 学术研究汇报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206AB-0D17-41FE-8F7D-F8B3B919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6D1BF-1494-40F8-ACB3-AF3B97C4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05075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RSU A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已完成 n₀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DFF24-3A38-4E65-B9E3-E340D47C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505075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车辆移动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553E9-497D-4DEA-B1C1-E0874F86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05075"/>
            <a:ext cx="23050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RSU B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准备执行 n₁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D9D131-53B0-4610-A6B3-FDF7793B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57425"/>
            <a:ext cx="2238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前驱结果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ACB9B4-783C-42FA-9CC1-B712E14C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86100"/>
            <a:ext cx="2238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兼容模型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DBEA4D-DE7E-4E1F-859B-5DF504CF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914775"/>
            <a:ext cx="22383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执行状态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473AFF-15CD-4408-A161-857D3E4B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0420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 缺任意一项，缓存命中也可能无法完成后继任务。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8C18AD-981A-4F7F-BB97-A2EE9688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问题不是“某个任务放哪里”，而是“跨交接后整条工作流如何继续”。</a:t>
            </a:r>
          </a:p>
        </p:txBody>
      </p:sp>
    </p:spTree>
    <p:extLst>
      <p:ext uri="{BB962C8B-B14F-4D97-AF65-F5344CB8AC3E}">
        <p14:creationId xmlns:p14="http://schemas.microsoft.com/office/powerpoint/2010/main" val="8641511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181725" y="2824163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952750" y="2824163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0EBF07-38BD-472E-8028-49352295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19CC9-52FE-4B9B-BCD7-92554C56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a22a0dd7a4054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9D7F8-1E82-47E7-9A24-7226C505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问题动机 · 三个条件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62748F-DA60-416E-A65C-EA015716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缓存命中不等于工作流完成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B6DEC-E4D2-4B33-89E0-53592D37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73175-3720-4798-AD40-61EB8A09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PPO_MEC · 学术研究汇报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43351-E84F-4F72-8B3A-41E31B23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73420-7069-4337-8E4C-26866190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21431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节点 n₀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A3D7B-054A-4C48-BFDA-D6CDBF08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81250"/>
            <a:ext cx="21431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节点 n₁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等待执行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B9B7F7-83C1-49BE-826F-A8E85620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381250"/>
            <a:ext cx="21431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节点 n₂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仍未开始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B8DE9E-A39B-4374-A29C-77C6E46E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314325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① DAG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前驱已完成，n₁ 才可执行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4BD01F-1B7E-4360-8632-193628B7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943350"/>
            <a:ext cx="314325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② 模型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目标 RSU 拥有兼容 base + adapter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3E519-98B0-4B03-9E4A-9DEDDC45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43350"/>
            <a:ext cx="314325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③ 状态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中间结果/执行上下文可被恢复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3015DF-DAA9-4DEE-AAA6-6031F48A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研究单位是“提交的 workflow 是否完成”，而非局部命中率。</a:t>
            </a:r>
          </a:p>
        </p:txBody>
      </p:sp>
    </p:spTree>
    <p:extLst>
      <p:ext uri="{BB962C8B-B14F-4D97-AF65-F5344CB8AC3E}">
        <p14:creationId xmlns:p14="http://schemas.microsoft.com/office/powerpoint/2010/main" val="4632220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54CD31-6987-409F-9DDF-0F1A55AA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FC10D-6A90-4944-889A-FE97F2D1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0e81083e24ae4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5A490-E926-43C3-BBF0-4D5F4881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相关工作 1 /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10B97-2BF5-4364-97F2-43EC9D28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逐篇对比：DAG、移动与迁移已有强近邻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4AE6D-00A4-4BF5-9309-C335AC67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A197E-CA40-404B-9358-80B988C2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PPO_MEC · 学术研究汇报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AD4643-17AB-4C75-8CF2-B2BD8457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A8F2B-4532-430F-A300-9EFF6920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352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论文 / 年份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977445-EF37-4EEE-AF24-B6103E0F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885950"/>
            <a:ext cx="369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已有贡献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F17427-3A86-4FFD-9166-8D7F5B3C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885950"/>
            <a:ext cx="4391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本研究仍需解决的具体问题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0D5D0-84EB-4D25-B0BD-9E72C4AA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DB7CE3-5721-4A30-ACE0-16B89527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324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COHCTO · TMC 2025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69D408-611B-4ABA-8FD6-B8277338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305050"/>
            <a:ext cx="3667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任务/服务双依赖；协同 service cache；PPO 卸载。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C56C04-BE6C-4340-AEBF-26BFE29C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305050"/>
            <a:ext cx="441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未把共享 base/adapter 与跨 RSU 执行状态准备作为同一资源账本。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BB9548-1BAF-44CC-9C3F-E7B5741F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52E3F-902F-45BA-974B-D0A185CE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0375"/>
            <a:ext cx="2324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LDMCO · TMC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8A303-D8F5-42E0-9C8B-868FD6BF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000375"/>
            <a:ext cx="3667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995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DAG 时间/数据依赖、最迟开始时间、MADDPG 卸载。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EC9CF9-4D95-47B9-ADD2-989E60C4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00375"/>
            <a:ext cx="441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目标是子任务时延与完成率；未联合模型 warm state 和 handoff 状态续接。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46E6D8-8772-4480-B322-156D330C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8617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48F1EF-A34C-49E4-9791-3A0454CC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2324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Ly-COMA · IET 2025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9E1F14-981E-4074-8FD4-0FC3F432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695700"/>
            <a:ext cx="3667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DAG 子任务、跨边缘迁移、GCN + COMA。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AFA6AE-A8B7-4A96-ACE9-266FAAA2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695700"/>
            <a:ext cx="441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迁移计算任务；未区分共享底座/adapter 驻留及目标端模型与状态共同就绪。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1BFB1E-2A84-4E0F-941D-4154F8E2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99F99F-A2BE-4C3A-BAA5-0D2BA95B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91025"/>
            <a:ext cx="2324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Fan et al. · TVT 2024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607E24-F05B-4D47-A71A-DB52FAD8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391025"/>
            <a:ext cx="3667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依赖感知、backhaul-free 服务迁移；车辆转送依赖结果。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6FD4B0-E949-4455-8B88-34431720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391025"/>
            <a:ext cx="441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已有依赖+移动+迁移；未以 typed AI 模型驻留和完成量/字节盈亏为主问题。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5A43BA-0BD2-4655-94E0-B8A623DB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7682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FB1478-3523-495A-A4B1-37861519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2324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MCMA · TMC 2025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16DCB6-135C-4F36-B7E6-904FDC14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86350"/>
            <a:ext cx="3667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轨迹预测指导任务迁移方向；多智能体卸载。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B25261-9FA9-4688-A5AB-A737DBBA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086350"/>
            <a:ext cx="4419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关注负载与迁移方向；未把持续 DAG frontier 和 adapter/state readiness 联合控制。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7F9365-0A47-4B76-AD3E-68775721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“缺口”指该论文的公开目标或实验未覆盖的联合问题，并非评价其工作不足。</a:t>
            </a:r>
          </a:p>
        </p:txBody>
      </p:sp>
    </p:spTree>
    <p:extLst>
      <p:ext uri="{BB962C8B-B14F-4D97-AF65-F5344CB8AC3E}">
        <p14:creationId xmlns:p14="http://schemas.microsoft.com/office/powerpoint/2010/main" val="13597844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2A995C-A948-4366-BF80-5678BCCD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641E9-1157-4785-93CD-7EE14022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dd0e031e1422a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E4239-DDDA-4A19-81DA-8BA29006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相关工作 2 /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0CC5A-524C-417F-8E35-7751049D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逐篇对比：预测、AI 工作流与 adapter cache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5F5F3-5EF4-4F00-A35F-EC5F0648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95888-C32E-46EB-9F6C-5B7D9281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PPO_MEC · 学术研究汇报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37F61-5362-4669-AD88-6EE1FAA3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B2793D-D197-455C-848D-505492A2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352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论文 / 年份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76C9F4-8C74-4BE3-9E34-5C77A5B1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885950"/>
            <a:ext cx="369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已有贡献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ABB90-E996-4D24-B625-81742C54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885950"/>
            <a:ext cx="4391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本研究仍需解决的具体问题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9CF59-67F7-4967-9199-6BF7FADD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EA0473-FAE3-4299-9523-1989704A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3241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MATM · TVT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4EE1D6-0BD5-45A4-A95D-29DD40D3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305050"/>
            <a:ext cx="3667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Mamba 轨迹预测 + SAC 任务迁移/资源分配。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410605-A041-4C14-8E3D-E9335EA5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305050"/>
            <a:ext cx="4419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预测迁移已有；尚未解决模型依赖复用与后继 DAG 执行状态的共同准备。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5C70EA-67A3-4D50-BCD3-F18986B2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277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E8D817-8A47-4075-8E16-7241AD94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3241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AWTO · FGCS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BA9AC6-D041-4368-98E5-81C65B1D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162300"/>
            <a:ext cx="3667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 agentic DAG、模型加载、内存竞争、PPO 调度。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EC2534-C8CD-4FBC-8D9F-721698A3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162300"/>
            <a:ext cx="4419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异构私有 edge cluster；未研究车辆跨 RSU handoff 后的模型与执行状态续接。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C9938C-69D0-4B28-9507-2B7B8C8D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A225C7-8D39-4151-BD8B-BC29EB82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23241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POLAR · arXiv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A9710E-3D87-4EF2-8A61-370AC12E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019550"/>
            <a:ext cx="3667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LoRA adapter cache + routing 的两时间尺度 bandit。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59294C-A625-4FA2-B480-AEA1C734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019550"/>
            <a:ext cx="4419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 adapter 与 paging；未引入车载 DAG 进度、RSU 迁移或失败后续执行。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433053-2950-4F1E-8713-A970F3B9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A07F78-2A5E-47A7-A255-8446A67D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23241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SLoRA · MLSys 2024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972C18-147E-4D1F-8843-168035D1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876800"/>
            <a:ext cx="3667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 base 上服务大量 LoRA adapter；GPU 内存分页。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AD40CB-13D1-4201-BADE-1B8A1FAC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876800"/>
            <a:ext cx="4419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提供资源语义；不决定跨 RSU 目标端预取和工作流状态恢复。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BC1BDD-4528-4011-B005-5DB59253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“缺口”指该论文的公开目标或实验未覆盖的联合问题，并非评价其工作不足。</a:t>
            </a:r>
          </a:p>
        </p:txBody>
      </p:sp>
    </p:spTree>
    <p:extLst>
      <p:ext uri="{BB962C8B-B14F-4D97-AF65-F5344CB8AC3E}">
        <p14:creationId xmlns:p14="http://schemas.microsoft.com/office/powerpoint/2010/main" val="18091679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5BEE96-3A00-4F34-9A0E-2300E1F1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18026-3F87-4585-8EB3-F423F303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ef64118c540da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614AA-8D26-44E5-B0A4-10D0191A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相关工作 3 /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68C5A-76A5-4847-9E24-18BF7A6B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逐篇对比：共享服务、工作负载与算法基础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9800E-D45B-4F9E-A2AC-D2A754B6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C8A9E-FC5C-451B-A5A9-C9298D29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PPO_MEC · 学术研究汇报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3B59E-72AD-47C7-9CE7-D1EFB0AA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3602D-4733-4D11-AE23-FE5ABDC3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352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论文 / 年份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DC8FEC-BB77-4DBD-9356-E9FDA2B9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885950"/>
            <a:ext cx="3695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已有贡献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1109F-FF93-4091-84C4-0C366B1C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885950"/>
            <a:ext cx="4391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本研究仍需解决的具体问题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00C2F3-63DA-4738-A918-87A0180C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C48883-8857-4BDC-A73B-6E3E722A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3241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Punica · MLSys 2024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24BD7B-741F-489F-863C-E6CD0D58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305050"/>
            <a:ext cx="3667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单份 base + 多 LoRA GPU 批处理与共享服务。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2D5FF2-3E30-4239-A3A6-EABD3A03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305050"/>
            <a:ext cx="4419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解决 GPU serving；不涉及移动交接时 adapter 放置与后缀继续执行。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07502C-8FFF-4135-88C0-0348BF61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5277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5158E5-9041-4A65-8F04-5C174B1B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3241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WfCommons · FGCS 2022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B72977-03C4-44E0-A198-AFBF8DDA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162300"/>
            <a:ext cx="3667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真实工作流特征分析与合成工作流生成。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20B089-9EB2-4876-B717-908370A1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162300"/>
            <a:ext cx="4419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不提供车载移动、AI 模型兼容、状态大小的联合实测分布。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6016C3-102A-46B6-8476-4BDE6609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AAE391-8F4A-47D3-A127-958CA393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23241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RUDDER · NeurIPS 2019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B2E9D4-0D1F-47D9-A4EB-119491D9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019550"/>
            <a:ext cx="3667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延迟奖励分解与回报重分配。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77F9D8-41A5-411D-A1A0-A7629B8C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019550"/>
            <a:ext cx="4419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是通用 credit 方法；不能替代缓存、迁移和状态字节的真实机制验证。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B1FE38-F0F8-4968-987D-834914DA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10725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79EB8B-1823-423B-AF0C-7F956D0D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23241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MAPPO · NeurIPS 2022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043BA7-0609-438A-854D-DB0CFA94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876800"/>
            <a:ext cx="3667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合作多智能体 PPO 的强基线与实现经验。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DCD160-E9B1-416E-A161-73F25C5D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876800"/>
            <a:ext cx="44196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不是 VEC 资源模型；本研究仍须证明三控制头超过同条件平坦 PPO。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20C2BD-1512-4711-B4F2-8B96B733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“缺口”指该论文的公开目标或实验未覆盖的联合问题，并非评价其工作不足。</a:t>
            </a:r>
          </a:p>
        </p:txBody>
      </p:sp>
    </p:spTree>
    <p:extLst>
      <p:ext uri="{BB962C8B-B14F-4D97-AF65-F5344CB8AC3E}">
        <p14:creationId xmlns:p14="http://schemas.microsoft.com/office/powerpoint/2010/main" val="15426121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FCB974A-B429-47C6-96FA-5B117596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0992E-0B93-4ABD-8B7C-7650CC2C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c16d5c81d484a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F9B3D-6473-46E3-9902-04C4EE45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相关工作 · 覆盖范围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9710E-42FC-4922-9C9C-5658CD10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横向图：完整问题交集在哪里？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79848-1CCE-4EA7-ADE1-E55CB3A0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E4842D-6156-4C71-BF0D-C2D96A1F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PPO_MEC · 学术研究汇报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7BE8A-C517-45EE-9365-258BC986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13F3DB-0DB5-4AB1-B1CC-5C61588C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2924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论文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5758F-1735-453C-B6F8-BC8C940D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24050"/>
            <a:ext cx="1504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DAG 依赖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74C7E-8078-4ABD-B3F0-80BBBD14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924050"/>
            <a:ext cx="1371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base/adapter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33312D-A0C0-47B1-B9D6-293C4B3A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24050"/>
            <a:ext cx="1371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RSU 移动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DA062D-49C6-48D2-B947-3DF66957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924050"/>
            <a:ext cx="1371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状态续接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CEEE3-83EA-4836-BCC3-BF39621D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24050"/>
            <a:ext cx="171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联合决策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18E9C3-3DE6-46FB-BA9D-8E2B50D5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4575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P1 COHCTO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B61ED9-FC62-411B-B97D-0A3F2494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145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75473A-96E1-4ECC-A8F7-207C6C45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3145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DC66F4-3D2C-43F4-A98D-6DC92795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145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D9E48-E0B7-4139-9C4E-D9681766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3145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3E8EF7-A47D-49F7-A845-C5357D49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145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4A831C-460B-409F-BE30-95B92227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F81689-F14C-40D7-8F8F-A5C5CA34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P2 LDMCO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DF13E6-A690-474A-8DD0-07ABFA15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479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62EFEC-4409-474D-A69F-7F6E0D43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647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79236A-575B-435E-97CE-75FCF715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47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9A260D-7CEE-4EE7-9862-4B87D979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647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C5EC81-E64A-4F54-B82C-65DC5B94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47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4EB439-308F-48CE-B9F9-13D0EC52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2AF384-3469-4E4B-AA60-45F2A341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P3 Ly-COMA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DE7357-6D2B-462F-AAB2-BB83B10B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813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8D6CC5-5810-4BE9-97E3-CBF28F16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9813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AA84CA-7B91-4AF8-A5FE-E5684B16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813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3AA888-3168-4947-803F-38496A66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9813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B3EA5B-428D-4AB2-BB3F-EC806153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813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5977DC-CBAE-437D-A793-8078C305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93A90E-2F49-42F1-849E-0820C325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P4 Fan 迁移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3938D4-518E-4F81-8238-BF70E66C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147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4E4905-C62C-4833-BDDA-1A0C7C78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3147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BCEEEF-3717-496F-A579-27E11BAF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147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C381EC-A09A-4FC8-8211-B3A9B88B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3147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41F739-84F1-4BF9-8334-D85C876F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14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883C33-6E6D-4BE2-AD8E-64A7B57C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2AE60C-3B1F-4FB5-99EA-C4A027E3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P5 MCMA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1E4469-C013-4C6E-BF40-DAD52E5E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480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2EEC46-2A0A-4EC5-B4AA-F28F9246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6480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FD53CF-9539-4C41-B6C4-C69B0905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480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74A202-BE89-44ED-8B96-EBED955F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6480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28244B-E87E-4AB3-8D42-FEA694C3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480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6DBC9E5-A444-4157-AFDD-EA5E302A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6CB163F-0768-48EC-B174-42E8B2AB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P6 MATM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E2C22E-99BF-4BEB-B41D-70166163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814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72BCA2-4292-4A7F-9163-B30A11DA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9814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1D786EA-9601-4D15-BE09-7045EB0A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814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CC4A032-604F-4C3C-A4C8-4141615C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9814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9041270-EC7A-47C2-B97E-BD0AF719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81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B9E1DA7-A04D-42D8-8E55-D87D5CF1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D8F3571-A94F-48CF-B9EB-F5505708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P7 AWTO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3635353-92EA-48DD-B6D4-4B1D0E87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1482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A57F9CC-1611-4F68-AC19-142F14A4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3148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204D7D1-6D9B-4DB6-B485-9C0155EA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148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1D82696-4F1A-4330-9DE0-45CB528D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3148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112AE9A-7435-48C1-B242-2D7C2F3F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148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480984A-7478-4D00-A56A-6958F6D5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1B0B737-0C5B-49F7-82A5-138BE096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P8 POLAR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15DB0D9-FB41-43A9-85C0-A2009715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482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9F3EF13-0BC0-44D9-BDC6-87B06D8D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6482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77E08D1-0BB7-4806-9F97-D99D2577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482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27DD649-EAF3-4B67-B019-5823DAE0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6482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D2260F6-83F9-4A00-955E-FA21C374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648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929A71E-841F-4093-A774-9740A4DC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15F6285-96FB-4054-A5F5-ACF40DB9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P9/10 SLoRA/Punica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FE2F0B6-6484-4C05-9038-B5B0AD96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981575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184317B-7CF7-4EF4-8320-5CCBE236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9815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B804BC1-C67B-4515-ADCF-9DBA522D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815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AD41C2A-5F05-45EC-9880-2286FB00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9815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0886821-988C-4998-AA17-D48DCA60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9815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96B5FF"/>
                </a:solidFill>
                <a:latin typeface="PingFang SC"/>
                <a:ea typeface="PingFang SC"/>
                <a:cs typeface="PingFang SC"/>
              </a:rPr>
              <a:t>—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7B809E5-3528-4CBB-953C-C3CBC947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734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6F3D01A-3556-4186-AD42-11403EA2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95900"/>
            <a:ext cx="10734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6193">
            <a:solidFill>
              <a:srgbClr val="BDEEF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6E320E2-55E0-4C83-AAF0-3BDA27EF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292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PPO_MEC 研究范围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272E104-ACD8-413F-8683-16476E44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3149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7332C97-7670-47D0-B437-0D35D400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314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2DC4BFC-A519-413F-BFA3-8BF0BD03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314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6983F85-F246-40A6-871B-4F49F518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3149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0AF1ACD-4C92-4442-8444-B1C8D795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314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C380737-D862-4C5C-9365-7E840BF8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639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● 直接涉及  ◐ 相邻或部分  — 非核心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D3111C1-8F7F-4FF2-89B2-C4B0ABF2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“全点覆盖”是研究对象范围；实际实现和验证成熟度必须再看下一页。</a:t>
            </a:r>
          </a:p>
        </p:txBody>
      </p:sp>
    </p:spTree>
    <p:extLst>
      <p:ext uri="{BB962C8B-B14F-4D97-AF65-F5344CB8AC3E}">
        <p14:creationId xmlns:p14="http://schemas.microsoft.com/office/powerpoint/2010/main" val="17780609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D2EFFA-03DB-4632-A11C-B2CCC086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666E2-1932-4036-98BE-D4696780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a0f57e8074fab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594AC-7525-4091-BE41-B37EBC72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研究贡献 · 状态分层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13DF1-4293-4B40-81E1-927E9EC8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我们覆盖了哪些点？证据已经到哪一步？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B7C9A-439B-4D39-866B-FD5687A2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0B779-EFDD-4028-A317-3083EE6D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PPO_MEC · 学术研究汇报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C0C18-6469-421D-9EF6-BC05E155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93D2F-F0EC-4033-8CDB-8E8FEDA0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24050"/>
            <a:ext cx="3067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研究对象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5B2871-94A1-4F2F-B442-D82B86B1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924050"/>
            <a:ext cx="2057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成熟度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94C9D-B6AD-405F-8227-C811EA3F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2405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可说的具体边界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37D788-011B-48D3-89A1-7040B9DB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744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7620">
            <a:solidFill>
              <a:srgbClr val="E5E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031F0-3CA5-4836-A331-758FCCBD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62200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DAG 进度与五动作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22203-7CED-4762-A54E-B7F361FE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362200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已实现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00F2E0-B14E-43D0-BCD0-CE76DEFC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62200"/>
            <a:ext cx="5276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有 env/contract；动作不直接选择任意未来节点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F867BC-4A46-4C11-A5A9-C7641E0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0744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D8"/>
          </a:solidFill>
          <a:ln xmlns:a="http://schemas.openxmlformats.org/drawingml/2006/main" w="7620">
            <a:solidFill>
              <a:srgbClr val="E5E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42406E-14FF-4F95-984C-77C35BFB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05125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typed base + adapter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42498D-8476-4F4B-805A-0E115706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905125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有界原生见证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4F1F63-08D6-4471-82A6-1B985FBE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05125"/>
            <a:ext cx="5276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共享对象账本已核验；真实 adapter 与负载校准不足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29760-DF9B-42CA-9909-8FC115C9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19475"/>
            <a:ext cx="10744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7620">
            <a:solidFill>
              <a:srgbClr val="E5E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34FB02-930C-4B68-84D1-A6522AC5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48050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预测目标 RSU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3C096E-BE25-4916-AA2F-8D24BD11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448050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接口已实现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558E27-EB5D-4AE3-93A1-CB36ACFD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48050"/>
            <a:ext cx="5276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当前主要是 calibrated surrogate；未确认 learned predictor 主结果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D28F1D-638A-43B8-A4C7-2DEE7283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744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D8"/>
          </a:solidFill>
          <a:ln xmlns:a="http://schemas.openxmlformats.org/drawingml/2006/main" w="7620">
            <a:solidFill>
              <a:srgbClr val="E5ED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29F718-0976-47C2-BCEC-DDADE7A7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990975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执行状态续接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F35F4A-7B69-4592-AC28-2C7768C3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990975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E1D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E1DF"/>
                </a:solidFill>
                <a:latin typeface="PingFang SC"/>
                <a:ea typeface="PingFang SC"/>
                <a:cs typeface="PingFang SC"/>
              </a:rPr>
              <a:t>技术任务见证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0740F9-4125-4BED-AE85-ADB667D9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90975"/>
            <a:ext cx="5276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 节点同机保真；production action 4 未接 export/import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A1086B-3314-4B42-8B53-CB62CA73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05325"/>
            <a:ext cx="10744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7620">
            <a:solidFill>
              <a:srgbClr val="E5ED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E719D4-7360-480C-8E8D-D65230DC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33900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三头 PPO 控制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D0AC80-C1FB-4D9A-9A64-E9F3CD17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533900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E1D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E1DF"/>
                </a:solidFill>
                <a:latin typeface="PingFang SC"/>
                <a:ea typeface="PingFang SC"/>
                <a:cs typeface="PingFang SC"/>
              </a:rPr>
              <a:t>方法原型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53AC3B-5E6C-47A0-9848-F8A46481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33900"/>
            <a:ext cx="5276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旧更新与环境动作分布不一致，性能贡献未验证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F28CB2-EBDC-40B5-B226-02CF63E6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7442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8D8"/>
          </a:solidFill>
          <a:ln xmlns:a="http://schemas.openxmlformats.org/drawingml/2006/main" w="7620">
            <a:solidFill>
              <a:srgbClr val="E5ED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961678-206C-446C-A2A5-14FDB72A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76825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完整联合收益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4E6263-A1FA-45C6-94D3-B71365DB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076825"/>
            <a:ext cx="2047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E1D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E1DF"/>
                </a:solidFill>
                <a:latin typeface="PingFang SC"/>
                <a:ea typeface="PingFang SC"/>
                <a:cs typeface="PingFang SC"/>
              </a:rPr>
              <a:t>待验证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F65256-054B-47B5-956C-37FEEF4E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76825"/>
            <a:ext cx="5276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没有独立窗口下的因果交互与公平算法优势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461DD2-0815-4ACD-993D-4ACB5BF1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已考虑 ≠ 已验证；组合创新的最终证据仍需机制因果实验与公平对照。</a:t>
            </a:r>
          </a:p>
        </p:txBody>
      </p:sp>
    </p:spTree>
    <p:extLst>
      <p:ext uri="{BB962C8B-B14F-4D97-AF65-F5344CB8AC3E}">
        <p14:creationId xmlns:p14="http://schemas.microsoft.com/office/powerpoint/2010/main" val="3163861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483A6A-014E-44D8-A993-94529884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7C7AD-34AC-4D52-AA58-876DE22D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ebf6576703465b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34EA4-3DE3-4390-AC1D-08F7498D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研究问题 · 简单表达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3A4781-ED29-4DFE-AF14-53822834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研究空白收束成三个能被实验否定的问题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81618-A512-4E3E-A409-DE6A28F9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EC837-BE7F-4391-AE26-66AD9E78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PPO_MEC · 学术研究汇报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69DE2-6706-4872-B69C-9AFA3CD3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C539D-7101-472B-9EAD-BF56832F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14550"/>
            <a:ext cx="2352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Q1 共享模型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DC998-1BFC-4F81-8C4F-EDBEA8A3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52650"/>
            <a:ext cx="7943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如果多个后继任务共用同一底座，究竟少搬多少数据？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7DAD46-ADCB-475A-B9F0-95E4EF15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57475"/>
            <a:ext cx="794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同完成量比较共享/不共享与不同请求顺序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5DFB14-8AC5-4CA6-8541-A0062F4A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05175"/>
            <a:ext cx="2352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Q2 提前准备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ABE10B-B996-4E51-B53D-73DBBA15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43275"/>
            <a:ext cx="7943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在交接前搬模型与状态，什么时候值得这笔先付成本？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2F6464-0F4F-4D0A-9BEC-2B37E3BD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48100"/>
            <a:ext cx="794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看失败/重跑能否减少，并计入真实字节与占用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9D5BF1-7618-4D4C-A82B-EEF990A8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495800"/>
            <a:ext cx="23526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Q3 控制器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B41CCC-2267-40C2-A6D2-635A4CFA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33900"/>
            <a:ext cx="7943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同样能看到的信息和能做的动作，三头策略真比简单规则好吗？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C8F32B-69C8-438F-A763-0AFE4561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038725"/>
            <a:ext cx="794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平坦 PPO、两步规则、三头策略同预算对照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F80F51-D4D9-4F9F-914B-6E6BF304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先证明物理机制，再谈学习算法的额外贡献。</a:t>
            </a:r>
          </a:p>
        </p:txBody>
      </p:sp>
    </p:spTree>
    <p:extLst>
      <p:ext uri="{BB962C8B-B14F-4D97-AF65-F5344CB8AC3E}">
        <p14:creationId xmlns:p14="http://schemas.microsoft.com/office/powerpoint/2010/main" val="753731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229725" y="2728913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267450" y="2728913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305175" y="2728913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40FBE9-B20D-4B38-9464-79408C6A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D05CC-0761-4954-AFC5-BDD15A0D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e97b291bd4fed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F6498-D5C1-4B47-A511-0BE3688F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系统机制 · 直白版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CEA737-8AEF-4AFF-867B-4FCDF634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机制用一句话解释：先算缺什么，再决定搬不搬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05B34-3BEF-4F7A-928F-5769BE0F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2356F-0926-4395-BE90-7BB87BEE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PPO_MEC · 学术研究汇报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08BA0-84F1-4AE3-8881-23C3CE63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55CDF3-15CE-4751-BFAA-3481376D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25622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① 查 DAG 后继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下一步要什么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5C662D-7AF4-4E9F-9B9D-6678C1DF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257425"/>
            <a:ext cx="25622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② 查目标 RSU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已经有什么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4E753-0914-42B1-B42B-2B4A173E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57425"/>
            <a:ext cx="25622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③ 只搬缺的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base / adapter /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EC7C02-DAA7-41C5-90DA-19C2EF29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257425"/>
            <a:ext cx="18097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④ 交接后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继续执行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4AC7D2-B13E-4D6C-BF5D-190D879C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38575"/>
            <a:ext cx="114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收益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2C7CFA-4B3A-4C29-944D-898288FA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838575"/>
            <a:ext cx="8439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少冷启动、少失败、少重跑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335FC3-DEBC-47F6-A4FA-033E402C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114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代价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89BA4-4C2F-406C-AB2F-35D1F532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419600"/>
            <a:ext cx="895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先占缓存、先传字节，也可能预测错目的地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75CCB2-D568-4C82-9463-0DE59AEE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72075"/>
            <a:ext cx="1032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判断标准：多完成的 workflow 和少失败，是否值得多传的字节与等待？</a:t>
            </a:r>
          </a:p>
        </p:txBody>
      </p:sp>
    </p:spTree>
    <p:extLst>
      <p:ext uri="{BB962C8B-B14F-4D97-AF65-F5344CB8AC3E}">
        <p14:creationId xmlns:p14="http://schemas.microsoft.com/office/powerpoint/2010/main" val="19366816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251B57-68E9-4CFF-BE68-F3DC2FFF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752FC-51BE-46D3-99BD-F6796044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00b82e72b4741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968D4-1BBD-40F3-B339-639F8A77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机制取舍 · 2×2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72ACC-D0C8-4CAA-84D1-8ED3F62B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准备不是越早越好：四种结果一眼看懂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EE144-FDCC-4371-96F9-66A782F9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B0C86D-3EAB-45D3-BF0A-D897B4C3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PPO_MEC · 学术研究汇报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F050A-3017-4ADB-9EE0-E6436ED9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BAF78-FBE1-4A0D-898C-37E97EBB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实际交接 / 使用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9BD70-B5B8-4966-894A-808C2FE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019300"/>
            <a:ext cx="2447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发生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6559C-105A-4826-BDAD-8C427F3A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19300"/>
            <a:ext cx="2447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未发生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30F6F9-9C30-48ED-903E-A4F765F4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47148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提前准备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BDBF7D-0D1A-4FA7-A1FB-7A1ADCDA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24125"/>
            <a:ext cx="248602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可能少失败 / 重跑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仍要计传输成本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3D76CD-D32E-4FE5-99C4-BBA8E179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524125"/>
            <a:ext cx="248602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FFE1D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白占容量 + 白传输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FAB683-961A-464D-B9D4-9C1372DF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47148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按需再准备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82BE2B-4406-4B14-A32E-BAB5DE27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38600"/>
            <a:ext cx="248602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FFE1D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可能来不及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冷启动 / 中断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6C839B-1849-4E7A-83A6-FBDA141A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038600"/>
            <a:ext cx="248602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节省预备成本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C410F9-0014-4078-AA95-00B71B55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研究要量的是净收益，不是单独最大化 prefetch 次数或 cache hit。</a:t>
            </a:r>
          </a:p>
        </p:txBody>
      </p:sp>
    </p:spTree>
    <p:extLst>
      <p:ext uri="{BB962C8B-B14F-4D97-AF65-F5344CB8AC3E}">
        <p14:creationId xmlns:p14="http://schemas.microsoft.com/office/powerpoint/2010/main" val="13126359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0139363" y="294322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8248650" y="2533650"/>
            <a:ext cx="619125" cy="1438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7248525" y="294322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5600700" y="2533650"/>
            <a:ext cx="647700" cy="6334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2752725" y="3167063"/>
            <a:ext cx="638175" cy="809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2752725" y="3167063"/>
            <a:ext cx="638175" cy="19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752725" y="2395538"/>
            <a:ext cx="638175" cy="771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E59CB3-189D-4571-809D-2B979DC8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FCC92-C996-444E-BF99-9D988111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e7a27517a4e24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7BE58-6077-44F1-95D3-6F9986CE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论文结构 · 系统层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9B5FB-1FB4-4127-B852-3E87D908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论文系统图：数据、环境、控制器形成闭环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99653-4D9E-4D7A-808C-F02B5F2C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F1E24-A7D1-4DFE-AD24-CA7967B4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PPO_MEC · 学术研究汇报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9D8CF-5A5C-4FDC-A507-05AE57DC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FA83D-558F-4BAC-BE15-1C59966D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85975"/>
            <a:ext cx="20383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NGSIM mobility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F74B3-AF22-48AE-A0B1-1C3AE0FD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76550"/>
            <a:ext cx="20383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Alibaba DAG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E86641-5BE8-46B3-841F-C7DD06B0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67125"/>
            <a:ext cx="20383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base + adapter catalog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C4085-C521-4C95-8973-8B2D6F1C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71750"/>
            <a:ext cx="22098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VEC workflow env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RSU / cache / handoff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5E41FE-10B7-4B57-BB20-2F8702F7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24075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semantic state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DAG + RSU + vehicle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EC8ECA-9200-4665-B3B5-B80D0A17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623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graph + RSU + prediction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融合编码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9F63C5-ED1A-4F33-BCF7-EEFA3AE2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124075"/>
            <a:ext cx="25431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slow / fast / event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+ centralized critic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29A687-FCF6-4742-8824-020480D9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562350"/>
            <a:ext cx="25431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mask + guards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 个语义动作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C73332-CCBB-420A-B635-3D6791C9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10325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动作回到环境；环境记录 reward、完成、失败、传输和状态字节。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92CBFB-E7BE-4310-88FC-C9FD654A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图中三头属于一个 controller，不是每辆车或每个 RSU 一个 agent。</a:t>
            </a:r>
          </a:p>
        </p:txBody>
      </p:sp>
    </p:spTree>
    <p:extLst>
      <p:ext uri="{BB962C8B-B14F-4D97-AF65-F5344CB8AC3E}">
        <p14:creationId xmlns:p14="http://schemas.microsoft.com/office/powerpoint/2010/main" val="11696314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44A328-6EDA-4582-84B9-E4DFD65B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C003D-D195-4555-8D18-C71BDA0F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b19d3837b4b28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A0164-2765-4CE3-ACAC-748EAB31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系统模型 · 对象与公式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4FD83-02DE-4C01-95B3-8CD92F63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资源账本：同一个 base 只算一次，状态单独算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BD2FD-48CA-4CF6-9C9F-2F06AAF2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BE327-64FA-4F1B-8412-6395C3EE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PPO_MEC · 学术研究汇报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6C31E-7A7D-4BC5-AFD7-6C65EEA1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B807B5-2603-42EE-89BC-FAB6200F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27241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base model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共享底座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C7D42D-B1D7-4087-813C-64594F02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247900"/>
            <a:ext cx="27241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adapter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任务特化权重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7900B-3A3A-4C85-800D-4BC314F3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47900"/>
            <a:ext cx="39052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workflow state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前驱输出 / 执行上下文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3D012-9669-45F7-B9AB-98188473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57675"/>
            <a:ext cx="10248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ΔM(B,r,t) = Σ size(o),    o ∈ B  Cᵣ(t)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55ED9-7C3A-4245-9EAB-0D6A20E2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10248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只统计目标 RSU 缺少的唯一对象；随后检查兼容、容量与驱逐。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FB31B-9D64-4035-9D03-A974652A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“模型 ready”是边缘服务必要条件之一，不等于整个工作流完成。</a:t>
            </a:r>
          </a:p>
        </p:txBody>
      </p:sp>
    </p:spTree>
    <p:extLst>
      <p:ext uri="{BB962C8B-B14F-4D97-AF65-F5344CB8AC3E}">
        <p14:creationId xmlns:p14="http://schemas.microsoft.com/office/powerpoint/2010/main" val="10958040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228E0D-4F1E-433B-960B-7F60DA2C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1977F-00DD-455E-BB1E-722FCFC1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3a04f6a614b6b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960B4E-FB1C-4BFB-A656-0AE8FACB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动作合同 · semantic_discrete_5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79AAD-CED3-4BFD-9394-9A047D97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当前算法到底能做什么：五个动作、一条信息边界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CA349-BBF0-4D7F-96B4-E52CF38E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0BDBD3-87F8-487A-A0FB-5821C92B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PPO_MEC · 学术研究汇报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3E934-479A-4EC5-9134-03A33387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88953-A9CE-4F31-9915-6BFB61F1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05025"/>
            <a:ext cx="66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E4F7BF-D6ED-4D91-ADFC-500E4DD7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05025"/>
            <a:ext cx="2771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 RSU 补模型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8BE4A6-D415-41BA-8989-DC4907B6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105025"/>
            <a:ext cx="691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当前节点反应式 cache fill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F1F3E2-976F-43F6-96C1-9131B0E9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2415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715F3-CC12-413C-9EDB-E3497CC7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66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891574-58B9-408F-8DA8-24BFB54F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81300"/>
            <a:ext cx="2771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预测目标预取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1CEEB5-74AE-4102-9275-455C23F2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81300"/>
            <a:ext cx="691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 RSU 提前准备 adapter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35FE7A-DD8D-4071-80BB-A1B17429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00425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2C283-3453-4F4E-AA90-AB96C940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57575"/>
            <a:ext cx="66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23C0D-77B5-4FDC-9214-C10EBDD7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57575"/>
            <a:ext cx="2771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车端兜底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ECB4DE-2EE9-4869-BF2B-A96B6BD2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457575"/>
            <a:ext cx="691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当前节点在车上执行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1B5231-2C1D-42C5-8C94-9B2A0F01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76700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4930DE-10C5-453F-8BEE-338CB0D1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66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ED5884-0BD9-4D03-AD5E-49E38EC1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33850"/>
            <a:ext cx="2771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稳态卸载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541890-1CD3-4CFE-9770-1471752D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133850"/>
            <a:ext cx="691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 RSU 执行，不改 cache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E5FDD8-A2B6-467F-A33B-3749B270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52975"/>
            <a:ext cx="10620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102206-33AF-42D6-B8B6-9D450DE7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666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90947D-89B9-48EF-B190-DCBDC55A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10125"/>
            <a:ext cx="2771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交接准备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8EB313-B1C5-4A49-888C-D1BF8E80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810125"/>
            <a:ext cx="691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为目标 RSU 做 handoff prepare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07DD0D-B34B-47E2-A2B8-33A4B19D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输入只能用决策前观测和因果预测；不能读取未来真实轨迹或服务结果。</a:t>
            </a:r>
          </a:p>
        </p:txBody>
      </p:sp>
    </p:spTree>
    <p:extLst>
      <p:ext uri="{BB962C8B-B14F-4D97-AF65-F5344CB8AC3E}">
        <p14:creationId xmlns:p14="http://schemas.microsoft.com/office/powerpoint/2010/main" val="544558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/>
          <p:cNvCxnSpPr>
            <a:stCxn xmlns:a="http://schemas.openxmlformats.org/drawingml/2006/main" id="12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281738" y="3943350"/>
            <a:ext cx="4076700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12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6281738" y="3943350"/>
            <a:ext cx="1347788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12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4781550" y="3943350"/>
            <a:ext cx="1500188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12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1933575" y="3943350"/>
            <a:ext cx="4348163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6281738" y="2819400"/>
            <a:ext cx="1671638" cy="400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4972050" y="2819400"/>
            <a:ext cx="1309688" cy="400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990725" y="2819400"/>
            <a:ext cx="4291013" cy="400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96BF5D-51B0-4AE0-828F-C431F0F1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617BB-AAEB-4278-BD8F-C79DFDFD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d1ff67c19a4146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AF344-CFA0-458D-96F1-5BDAA92B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论文结构 · 算法层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944B3-80F6-4E91-9D45-4BA179FA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论文方法图：共享编码 → 三头决策 → 合法环境动作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4E1FB-D5AA-4DCE-A95D-EE43AE88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BF829-2FB8-48D9-BDDA-282FC286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PPO_MEC · 学术研究汇报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4CFA3-7707-4429-9226-B9F9006A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AFDCE1-A798-4C4B-841C-1EF22B69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66925"/>
            <a:ext cx="24955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DAG graph encoder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节点 / frontier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B08A1-7EA3-44D2-AC86-4C0A33C1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066925"/>
            <a:ext cx="24955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RSU + vehicle encoder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cache / 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8BB99-0D15-4046-9C46-3F30882C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66925"/>
            <a:ext cx="24955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prediction branch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confidence / urgency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AEEA6-1C9D-4763-838D-9F6BF1B8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19450"/>
            <a:ext cx="50958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7×64 → 448 → 128 → 64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reliability-gated fusion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A4FA1-46B2-4213-9827-E5D3432B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slow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cache / prefetch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9F69D4-9150-4215-B1AE-6A8E71AF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4767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fast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offload / fallback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21813C-C691-427D-9D60-D6E387A5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event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handoff prepare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CF5144-E282-4065-9C4B-F42940CF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76750"/>
            <a:ext cx="21431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centralized critic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value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0B0716-1724-4964-84F0-84145F15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三头聚合后仍输出 5 个环境动作；guards 是可行性层，需与 learned core 分开归因。</a:t>
            </a:r>
          </a:p>
        </p:txBody>
      </p:sp>
    </p:spTree>
    <p:extLst>
      <p:ext uri="{BB962C8B-B14F-4D97-AF65-F5344CB8AC3E}">
        <p14:creationId xmlns:p14="http://schemas.microsoft.com/office/powerpoint/2010/main" val="1057936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9B3A9-7B56-41AA-A036-40A635E0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E84DF-D713-467E-AB0D-5E40B0D5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63efe65bdd4a9f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E016C-7343-474A-BC37-E16F31EE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算法正确性 · 关键边界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AA03D-09B4-4F79-8A5B-59A9DFC9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PPO 正确性先过关，才能比较算法优势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B038B-CF66-4DDB-9565-E12CF8CB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FB8585-19FF-4FE4-924C-01FB2208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PPO_MEC · 学术研究汇报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0D90A-F77E-4C88-9E9F-BCADC837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7151A-29E2-481F-8A8D-1927A5A6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098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行为分布  πₘ(a|x) = mₐ pₐ(x) / Σⱼ mⱼ pⱼ(x)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25F81-A867-4CA9-BF2B-3A3AD853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6707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810B2-5648-4674-AE1B-DDBA64DE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4838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采样的是哪个环境动作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更新就要使用它的 log-prob 和 ratio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44D64-F083-4224-8C06-BED4F77A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638550"/>
            <a:ext cx="48387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FFE1D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旧等权 head surrogate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640 个受控例中存在目标/梯度不一致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ED019B-D624-4364-A3EB-C13015F4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91125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修复一致性是实验前提；不能自动推出三头方法更强。</a:t>
            </a:r>
          </a:p>
        </p:txBody>
      </p:sp>
    </p:spTree>
    <p:extLst>
      <p:ext uri="{BB962C8B-B14F-4D97-AF65-F5344CB8AC3E}">
        <p14:creationId xmlns:p14="http://schemas.microsoft.com/office/powerpoint/2010/main" val="4570927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C5630D-6EEC-43C7-9307-C5A6C5F3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89A3C-D97A-4290-AD8C-8A7197CF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74aba6b6664081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40389-2E84-43CF-B622-7B9731DA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算法目标 · 环境 reward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E2FDE-EEB7-43FF-96C2-19DEEBFA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奖励图：训练分数拆成服务收益与先付成本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598CF-275A-4FDF-9DFE-37F623F9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5E8627-5E28-4B35-ABA2-FF70A60B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PPO_MEC · 学术研究汇报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A698F-1F00-429B-92E8-D2E111F4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D1A65-563F-470C-A3B0-6D14FE3B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85975"/>
            <a:ext cx="107346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rₜ = b + 服务 + 连续性 + 探索 − 时延 − 缓存未命中 − 迁移 − 约束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A5C08-C914-4039-973D-224EA801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6A92C-1B6F-4FC2-BF8E-D556D744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09950"/>
            <a:ext cx="49720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拿到什么：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节点推进、handoff 后继续、真实 prepare 兑现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418933-D23F-4BE3-96D2-34709EC9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09950"/>
            <a:ext cx="49720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付出什么：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时延、缓存未命中、迁移代理成本、约束违例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A1757A-B320-4A35-B566-A8FC5075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768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真实传输字节不是上式的直接扣分项，须与完成、失败、时延单独报告。</a:t>
            </a:r>
          </a:p>
        </p:txBody>
      </p:sp>
    </p:spTree>
    <p:extLst>
      <p:ext uri="{BB962C8B-B14F-4D97-AF65-F5344CB8AC3E}">
        <p14:creationId xmlns:p14="http://schemas.microsoft.com/office/powerpoint/2010/main" val="12789517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581900" y="3081338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1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733800" y="3081338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067FB6-548C-4B36-AA5E-AE4422FE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63F4F-0300-44DD-9E8F-0018175B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7fb31688b41af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6630D-C21F-40F2-A8DD-61E3D5F1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评估设置 · 数据来源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AAE3C-3B80-476E-9A2C-A427F532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实验数据：真实轨迹 + 真实 DAG，但联合 AI 请求是构造的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AE50A-D9A7-48B9-9ED9-A6F37F55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C9667-2B4D-4A06-AD20-79C376EF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PPO_MEC · 学术研究汇报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8BD3C-B37A-4CB1-B8ED-849A30D3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CD7A0-4BC4-45CA-9E13-634FEEAA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29718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NGSIM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车辆位置、速度、RSU 切换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E1A0E-6FD9-4645-B0BB-AD86B582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9718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Alibaba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工作流 DAG 与任务依赖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7B339-67DC-4154-B422-1D30D56E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19350"/>
            <a:ext cx="297180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受控映射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base / adapter / 状态需求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CFD366-17CF-4E00-9BCB-385A1306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343400"/>
            <a:ext cx="10525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这是 trace-driven simulation：移动与 DAG 各自真实，二者的关联及 AI 模型需求尚需校准。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C7D65-0EDC-422F-AC42-44EAF49E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不同 seed 对同一原始移动窗口的重复，不会产生新的独立外层样本。</a:t>
            </a:r>
          </a:p>
        </p:txBody>
      </p:sp>
    </p:spTree>
    <p:extLst>
      <p:ext uri="{BB962C8B-B14F-4D97-AF65-F5344CB8AC3E}">
        <p14:creationId xmlns:p14="http://schemas.microsoft.com/office/powerpoint/2010/main" val="1998824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B0FC0D-2FE6-403D-B4ED-38F352B9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084E1-9A3B-47E1-B2A5-905B6F55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23a69ab69e4aa0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6D947-9E3A-436B-9BE0-C1E4560E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评估设计 · 因果拆分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5AC65-8A7A-45E4-A791-CE1A871B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实验顺序：先证明机制，再比较控制器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AEB5B-8CE0-4AB1-B571-F73A4DA3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C8321-EE79-48F2-AEC4-C877F56F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PPO_MEC · 学术研究汇报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9C3E0-2540-430F-A836-F0CEA199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7784DE-5275-45FD-8530-AE1EAA26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00250"/>
            <a:ext cx="500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固定控制器下的 2×2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BE372-E245-4E61-AE11-D08FC93D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22479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不共享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不迁移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19E25C-AD1A-4E7E-8C6A-1EA0A699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90800"/>
            <a:ext cx="22479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不迁移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4A7762-A5B9-41C2-8FD0-E4236173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22479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不共享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迁移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1489A-F740-4B62-BADF-B3FE2962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05250"/>
            <a:ext cx="22479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迁移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2C3D03-EA76-41A7-BD69-9DB55C3F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002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再比较“谁来决定何时准备”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535DE-77D9-47CB-9869-0B6777A9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81275"/>
            <a:ext cx="49339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局部规则 / 两步规则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BF63C5-C960-4881-8653-7BA2B19A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86150"/>
            <a:ext cx="49339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同信息平坦 PPO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B36280-7F1A-423D-A569-290C2324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391025"/>
            <a:ext cx="49339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三头 SA-GHMAPPO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09FFF0-2B76-4029-A016-BC5A4A80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统一观测、合法动作、训练 interaction、update 和 checkpoint 选择；按原始时间区间分组统计。</a:t>
            </a:r>
          </a:p>
        </p:txBody>
      </p:sp>
    </p:spTree>
    <p:extLst>
      <p:ext uri="{BB962C8B-B14F-4D97-AF65-F5344CB8AC3E}">
        <p14:creationId xmlns:p14="http://schemas.microsoft.com/office/powerpoint/2010/main" val="207328882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53229-C3C3-4BE3-9255-3B5A70C6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46102-BA4A-4664-AB7A-3515B95A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1e06eb78843ca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7776A-C393-4AC2-B6BC-8C0A8DF1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旧训练诊断 · strict-full v8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27D0F-2FC6-4345-B1B8-44FA3F40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奖励曲线可看训练过程，不能证明独立泛化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3BEBD-7CF5-449C-B902-BDE7E195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7BD74-7545-43FC-BE81-F3889AAE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PPO_MEC · 学术研究汇报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6357F-57F8-4E8C-B0DD-760C237F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42950" y="2009775"/>
          <a:ext xmlns:a="http://schemas.openxmlformats.org/drawingml/2006/main" cx="10429875" cy="3448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35e0a39a4844bc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D671AE-013D-4FAE-9A0A-7A041B81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467350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12 集滚动均值 · episode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14060D-CC34-4785-96B2-81F2E3A3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5 seed；开发阶段观察。正式主结论必须回到独立窗口的 workflow completion 与成本。</a:t>
            </a:r>
          </a:p>
        </p:txBody>
      </p:sp>
    </p:spTree>
    <p:extLst>
      <p:ext uri="{BB962C8B-B14F-4D97-AF65-F5344CB8AC3E}">
        <p14:creationId xmlns:p14="http://schemas.microsoft.com/office/powerpoint/2010/main" val="43743150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B2FC8D-3DC9-42BA-A5A4-04B50016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A430D-0F88-42FC-A0F2-BD07B15C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34c973fa647fa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DAB1E-48BA-4772-B156-70DF50C3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有界证据 · 四配置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E4A9D-7A82-4868-B290-64730ABC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机制 A：共享底座会省传输，但取决于请求顺序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C4364-2C77-4FF0-8FAD-BE9EBD01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25716-6599-44D3-8C24-F98CE345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PPO_MEC · 学术研究汇报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BF134-9357-4AC7-83D5-C8140BC0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9C394-7B38-4BAB-89E6-09305865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6215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同样完成 72 / 72 请求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76D7A-743C-479B-824D-E08757C7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blocked + sharing 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57B5A-0E3B-4E1E-A68C-68BC0C82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19375"/>
            <a:ext cx="2410883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EFF"/>
          </a:solidFill>
          <a:ln xmlns:a="http://schemas.openxmlformats.org/drawingml/2006/main" w="0">
            <a:solidFill>
              <a:srgbClr val="BDEE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11DF4A-0658-4E5F-ADA9-1419BBCA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5717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3,264 MiB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8F9907-643E-49FF-81B5-C09D9D11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337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interleaved + sharing 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973FC9-DBE8-46C0-A6E9-561F6E78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81375"/>
            <a:ext cx="638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B7C71A-C5DB-4728-9B89-F0BF7173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3337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8,640 MiB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55A00-8617-47AB-8D8F-733C9F2E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57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blocked + sharing off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6CD8B3-D26F-419F-9492-83CA60E8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43375"/>
            <a:ext cx="638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EDA359-70BB-4DBB-9D49-DC3CAF07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0957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8,640 MiB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46E316-7CBB-4A14-BF26-4B90E8F9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57750"/>
            <a:ext cx="3305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interleaved + sharing off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6DF8A3-5B35-4A42-9A41-CAA1D89A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05375"/>
            <a:ext cx="638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7C18C7-D249-4981-BD5E-CD9835DF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8577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8,640 MiB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69C7C3-0BB3-4771-9E15-8617A21B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同一共享 base 只在连续复用时显著省字节；这不是实际无线吞吐或算法优势。</a:t>
            </a:r>
          </a:p>
        </p:txBody>
      </p:sp>
    </p:spTree>
    <p:extLst>
      <p:ext uri="{BB962C8B-B14F-4D97-AF65-F5344CB8AC3E}">
        <p14:creationId xmlns:p14="http://schemas.microsoft.com/office/powerpoint/2010/main" val="127174382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391400" y="3005138"/>
            <a:ext cx="1133475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18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533775" y="3005138"/>
            <a:ext cx="1133475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F3FB29-1F85-4211-B028-21F987B5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90367-3EBD-4284-9A41-F5EB6C62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819fe657b460f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B6EA1-5BDD-4C8A-A0FB-B9B9799F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有界证据 · 后缀恢复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52B2B-1634-4E94-946F-75A3DC17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机制 B：两节点技术任务证明“能接着跑”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D34E5-63EE-4C4C-A668-FA7485C4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B8E21-922E-4152-AA34-241D0D06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PPO_MEC · 学术研究汇报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536D1-187C-4E43-A303-4F41F9E8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08863-A738-41B4-BA16-F2FCE8AB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47925"/>
            <a:ext cx="27241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原进程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完成 n₀，保存状态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82AEB-93B5-46E2-B392-9C6BEE1A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47925"/>
            <a:ext cx="27241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状态包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2,040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194995-2EFF-4FA2-90E2-E532144C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47925"/>
            <a:ext cx="27241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恢复进程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只运行 n₁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36277-8D87-4649-A463-B756FEF1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43400"/>
            <a:ext cx="4857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从头重跑 child wall：32.504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371A6-7B8C-4508-B2D3-840ADFBE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343400"/>
            <a:ext cx="4857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状态恢复 child wall：21.370 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BE7C41-210F-4DC9-8525-AC826EF4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n₁ 输入 hash 与输出 token 一致；单次同机少 11.134 s，不代表跨 RSU 净收益。</a:t>
            </a:r>
          </a:p>
        </p:txBody>
      </p:sp>
    </p:spTree>
    <p:extLst>
      <p:ext uri="{BB962C8B-B14F-4D97-AF65-F5344CB8AC3E}">
        <p14:creationId xmlns:p14="http://schemas.microsoft.com/office/powerpoint/2010/main" val="35524954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816198-A5B3-4110-AA6D-7E7D0A7F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55D4F-F912-451E-996F-FC696105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7f0285b794306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F0251-F55D-4DDB-850E-A14274BB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有界证据 · 决策盈亏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AC2BD-2A7F-42E7-8EF7-02D29888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机制 C：少一次失败，也要看状态有多大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9B886-04AC-43BF-9676-D94A0839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AED36-CB9C-4DDD-9C07-41C8E66E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PPO_MEC · 学术研究汇报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C5052-619A-4C77-9723-3D12FAC6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B0017F-0133-4A9A-95F4-3167A2EF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66950"/>
            <a:ext cx="3228975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 / 两步规则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完成量相同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一次服务失败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E18E3-58E2-4F13-850F-CCC332BD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66950"/>
            <a:ext cx="3228975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完整枚举 + action 4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完成量相同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零服务失败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041A1-C011-4CC2-8A44-4F842B4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66950"/>
            <a:ext cx="3228975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新增状态成本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2,040 B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或 160 MiB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E1A1F5-A84C-4125-82B3-FBCC7C7A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552950"/>
            <a:ext cx="10420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这是失败数和状态字节的 Pareto 交换，不是“更复杂控制器全面胜出”。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89E57-5951-4F59-9421-7F1DBAF0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当前差距可由一个局部 action 4 规则解释，尚无证据必须使用更长规划或 RL。</a:t>
            </a:r>
          </a:p>
        </p:txBody>
      </p:sp>
    </p:spTree>
    <p:extLst>
      <p:ext uri="{BB962C8B-B14F-4D97-AF65-F5344CB8AC3E}">
        <p14:creationId xmlns:p14="http://schemas.microsoft.com/office/powerpoint/2010/main" val="7712721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FBB4D1-5110-44AC-9C69-C7CE2C7C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A497B-C18E-4009-B608-7A032F87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59778441c344e7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AE0D3-A901-4DE1-AFEF-8A63B08B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反例 · 不能挑有利分母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65D70-061D-4083-A9E8-F5FEC596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开发矩阵提醒：少传数据可能只是少完成任务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8206A-3E94-4218-A73E-B56B5797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C8DE1-257C-4A37-B574-1100AD9C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PPO_MEC · 学术研究汇报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4C7EEF-1F15-4CFB-B481-DFBD202A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FF204-17B3-4BAD-B781-FBD4EBBC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384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Full SA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FFBEA-776A-4A24-864C-19A80F31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909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Full PPO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24F09-59D2-4321-9FD7-52C2439F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57400"/>
            <a:ext cx="3514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完成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D917D-6EEE-480B-B3F7-6CFDB25F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76500"/>
            <a:ext cx="1762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F"/>
          </a:solidFill>
          <a:ln xmlns:a="http://schemas.openxmlformats.org/drawingml/2006/main" w="0">
            <a:solidFill>
              <a:srgbClr val="E5E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7A4D9B-0012-49ED-883A-1F5EC339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29000"/>
            <a:ext cx="26431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EEFF"/>
          </a:solidFill>
          <a:ln xmlns:a="http://schemas.openxmlformats.org/drawingml/2006/main" w="0">
            <a:solidFill>
              <a:srgbClr val="BDEE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3BB3A-E81C-4E07-B533-FDFC1536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28875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18 / 36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3B29B3-02EF-4B9D-907D-2536008C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81375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27 / 36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BDA5AE-AAC1-4234-8E50-F2016063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33625"/>
            <a:ext cx="2667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SA：412.889 MB/完成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57D22D-4505-450C-B497-DEC7DF13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86125"/>
            <a:ext cx="2667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PPO：378.667 MB/完成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737282-01ED-41F1-BE42-A61AA3D7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629150"/>
            <a:ext cx="10306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SA 总传输较少（7,432 vs 10,224 MB），但完成更少、每完成传输更高。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896F7A-5CED-44F9-9B20-BFC45656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仅 3 个原始窗口且开发复用；不能当作独立测试上 PPO 或 SA 的胜负。</a:t>
            </a:r>
          </a:p>
        </p:txBody>
      </p:sp>
    </p:spTree>
    <p:extLst>
      <p:ext uri="{BB962C8B-B14F-4D97-AF65-F5344CB8AC3E}">
        <p14:creationId xmlns:p14="http://schemas.microsoft.com/office/powerpoint/2010/main" val="174990454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F131C-DF01-4CD0-98E5-856A2A8A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4E714-6997-4C36-8CEB-8E5DE0CE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bda06cc034ed1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7EC4F-8FCB-4174-A587-67027C0D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结论 · 证据边界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AC0AE-F798-45C6-B036-C41DBF73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目前可以说什么，不能说什么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12F2E5-15ED-43E1-A4A4-795178DA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8A155-0616-42A1-BEB2-F1A513AE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PPO_MEC · 学术研究汇报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61631-0723-4B81-A8AB-63689489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D29F3-1EC8-4F27-894C-C34704B9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097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可直接展示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1EEB0-DAAE-44E3-9340-1BCA09B2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097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E1D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E1DF"/>
                </a:solidFill>
                <a:latin typeface="PingFang SC"/>
                <a:ea typeface="PingFang SC"/>
                <a:cs typeface="PingFang SC"/>
              </a:rPr>
              <a:t>仍为 UNVERIFIED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E7792B-2E4D-4FB7-837D-7784CC3F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19375"/>
            <a:ext cx="48672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typed 资源账本可运行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共享顺序改变原生传输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两节点状态恢复保真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开发结果暴露统计和更新问题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4F933-C514-4575-896E-373882B6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19375"/>
            <a:ext cx="48672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FFE1D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真实跨 RSU 净收益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sharing × migration 因果交互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三头控制器优于公平基线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独立数据泛化 / paper-ready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C2EBCE-FEEE-49EE-B067-35D10368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创新是一个可检验的联合问题，不是“DAG、PPO、缓存或迁移首次出现”。</a:t>
            </a:r>
          </a:p>
        </p:txBody>
      </p:sp>
    </p:spTree>
    <p:extLst>
      <p:ext uri="{BB962C8B-B14F-4D97-AF65-F5344CB8AC3E}">
        <p14:creationId xmlns:p14="http://schemas.microsoft.com/office/powerpoint/2010/main" val="108600244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724775" y="35052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cxnSp>
        <p:nvCxnSpPr>
          <p:cNvPr id="1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971925" y="35052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E5EDFF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10D704-62D4-4533-98F3-7EC1394D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583B3-4621-4E06-BBF9-E918C0B0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66b342d3f4086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AF3D3-BA09-4D56-993E-ADE45A66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研究路线 · 可证伪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27A37-2A58-4CD9-A2E6-D5A94105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下一步只做三道门槛，逐关决定是否扩展算法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8FA1E-38D3-40F4-A5A1-3271D60B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B42BC-77FE-4F7F-97E4-E701D349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PPO_MEC · 学术研究汇报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271F9-4F02-44E7-88EE-A5E90199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D3691-71BD-4E26-B185-CCEA7747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0325"/>
            <a:ext cx="3257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门槛 1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接通真实 action 4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状态 export/import 与字节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AAC27-85C0-4C92-B991-88528A9C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600325"/>
            <a:ext cx="3257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E5ED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门槛 2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新实例对照最小局部规则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量完成 / 失败 / 成本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69AF8-AF7F-47A3-8707-3E2F63E7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600325"/>
            <a:ext cx="3257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CB4"/>
          </a:solidFill>
          <a:ln xmlns:a="http://schemas.openxmlformats.org/drawingml/2006/main" w="14288">
            <a:solidFill>
              <a:srgbClr val="BDEE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门槛 3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机制成立后再公平重训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SA / PPO / DT / 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7AC65-E560-4F38-9F7A-5006E263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14900"/>
            <a:ext cx="1040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若不能跨过预先规定的盈亏边界，就停止复杂算法扩展。</a:t>
            </a:r>
          </a:p>
        </p:txBody>
      </p:sp>
    </p:spTree>
    <p:extLst>
      <p:ext uri="{BB962C8B-B14F-4D97-AF65-F5344CB8AC3E}">
        <p14:creationId xmlns:p14="http://schemas.microsoft.com/office/powerpoint/2010/main" val="26200302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2048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0701AC-EB9A-424C-AB47-6B9F166B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57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37AD82-BE43-4C26-8D6F-DE1E9CF2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825"/>
            <a:ext cx="22002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025ef2d7cd45cd"/>
          <a:stretch xmlns:a="http://schemas.openxmlformats.org/drawingml/2006/main"/>
        </p:blipFill>
        <p:spPr>
          <a:xfrm xmlns:a="http://schemas.openxmlformats.org/drawingml/2006/main">
            <a:off x="9536544" y="161925"/>
            <a:ext cx="1910486" cy="4476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456D3-1FE0-466D-9C2A-83EC728F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参考与元数据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7877D-2467-4D00-ADCD-C1520816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9150"/>
            <a:ext cx="10668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文献与审查口径：每个判断都能追溯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517F1-433C-4EE3-892C-41A46D4C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E3A09-5AB5-4E2F-B1E3-96FEC29F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4579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PPO_MEC · 学术研究汇报 / 工作稿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3DAB7-0D88-4727-A31F-84DB7E38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6457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604F6-75CC-4ED5-8A9E-A5112AC8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500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核心 VEC 近邻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75390-D019-4AC0-BD32-2F37AF31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764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BDEE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DEEFF"/>
                </a:solidFill>
                <a:latin typeface="PingFang SC"/>
                <a:ea typeface="PingFang SC"/>
                <a:cs typeface="PingFang SC"/>
              </a:rPr>
              <a:t>AI 系统 / 方法基础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973DF-68D0-496A-93EB-007C9168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90800"/>
            <a:ext cx="5124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P1 COHCTO · TMC 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9B2D5-94CC-4021-A325-CF70E3A6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76575"/>
            <a:ext cx="5124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P2 LDMCO · TMC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6C52C-5C13-4C18-B619-F2869A46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62350"/>
            <a:ext cx="5124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P3 Ly-COMA · IET 2025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6EBE31-7D22-4E3C-BC79-F99A4E0F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48125"/>
            <a:ext cx="5124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P4 Fan 迁移 · TVT 2024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29D2DA-A213-433E-878F-8660FF4D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33900"/>
            <a:ext cx="5124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P5 MCMA · TMC 2025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D84A1-E5D5-4E74-8E36-6CF5368C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19675"/>
            <a:ext cx="5124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P6 MATM · TVT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DE5B8B-098A-4E5F-B513-2D62D0C6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590800"/>
            <a:ext cx="4924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P7 AWTO · FGCS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D924E-40A1-403F-8B53-EDBEC216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076575"/>
            <a:ext cx="4924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P8 POLAR · arXiv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D4607C-B9AB-4562-B6A4-712792EC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562350"/>
            <a:ext cx="4924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P9 SLoRA · MLSys 2024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D45091-D165-4B98-B68F-0B9A33E2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048125"/>
            <a:ext cx="4924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P10 Punica · MLSys 2024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790B64-6FDA-4F8A-8AC3-8118424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533900"/>
            <a:ext cx="4924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P11 WfCommons · FGCS 2022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F71B3A-A840-47CF-81BE-55153CF9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019675"/>
            <a:ext cx="4924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P12 RUDDER / P13 MAPPO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B9D4F1-45BF-493F-A963-DCAFD9B2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E5EDFF"/>
                </a:solidFill>
                <a:latin typeface="PingFang SC"/>
                <a:ea typeface="PingFang SC"/>
                <a:cs typeface="PingFang SC"/>
              </a:rPr>
              <a:t>完整 URL 和来源范围见演讲备注；本文献定位不是穷尽性“无人研究”的证明。</a:t>
            </a:r>
          </a:p>
        </p:txBody>
      </p:sp>
    </p:spTree>
    <p:extLst>
      <p:ext uri="{BB962C8B-B14F-4D97-AF65-F5344CB8AC3E}">
        <p14:creationId xmlns:p14="http://schemas.microsoft.com/office/powerpoint/2010/main" val="9968701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2026-10-11T02:12:16.8160000Z</dcterms:created>
  <dcterms:modified xsi:type="dcterms:W3CDTF">2026-10-11T02:12:16.8160000Z</dcterms:modified>
</coreProperties>
</file>