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0531c9f2e0407d" /><Relationship Type="http://schemas.openxmlformats.org/officeDocument/2006/relationships/extended-properties" Target="/docProps/app.xml" Id="R9750b8f035c1438d" /><Relationship Type="http://schemas.openxmlformats.org/officeDocument/2006/relationships/officeDocument" Target="/ppt/presentation.xml" Id="Rfc440af6ad2743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f2a0cd5aa54ea3"/>
  </p:sldMasterIdLst>
  <p:notesMasterIdLst>
    <p:notesMasterId xmlns:r="http://schemas.openxmlformats.org/officeDocument/2006/relationships" r:id="R723dc2fc76434220"/>
  </p:notesMasterIdLst>
  <p:sldIdLst>
    <p:sldId xmlns:r="http://schemas.openxmlformats.org/officeDocument/2006/relationships" id="256" r:id="R095bba089fd54093"/>
    <p:sldId xmlns:r="http://schemas.openxmlformats.org/officeDocument/2006/relationships" id="257" r:id="R554515e7c7b8430d"/>
    <p:sldId xmlns:r="http://schemas.openxmlformats.org/officeDocument/2006/relationships" id="258" r:id="R72ec2bf4ed71419e"/>
    <p:sldId xmlns:r="http://schemas.openxmlformats.org/officeDocument/2006/relationships" id="259" r:id="R910f7f9ac9d04a0d"/>
    <p:sldId xmlns:r="http://schemas.openxmlformats.org/officeDocument/2006/relationships" id="260" r:id="Ra4e996573baa4895"/>
    <p:sldId xmlns:r="http://schemas.openxmlformats.org/officeDocument/2006/relationships" id="261" r:id="R83b6b5b44cff436a"/>
    <p:sldId xmlns:r="http://schemas.openxmlformats.org/officeDocument/2006/relationships" id="262" r:id="R5ef1fb19986445df"/>
    <p:sldId xmlns:r="http://schemas.openxmlformats.org/officeDocument/2006/relationships" id="263" r:id="R45664358205f4079"/>
    <p:sldId xmlns:r="http://schemas.openxmlformats.org/officeDocument/2006/relationships" id="264" r:id="Rc6228bd27b38495a"/>
    <p:sldId xmlns:r="http://schemas.openxmlformats.org/officeDocument/2006/relationships" id="265" r:id="R072b6c9b00654573"/>
    <p:sldId xmlns:r="http://schemas.openxmlformats.org/officeDocument/2006/relationships" id="266" r:id="R18d99208ab7d45c6"/>
    <p:sldId xmlns:r="http://schemas.openxmlformats.org/officeDocument/2006/relationships" id="267" r:id="R21d30538d95a441e"/>
    <p:sldId xmlns:r="http://schemas.openxmlformats.org/officeDocument/2006/relationships" id="268" r:id="Rd5c369e9602e4b2e"/>
    <p:sldId xmlns:r="http://schemas.openxmlformats.org/officeDocument/2006/relationships" id="269" r:id="Ra0213fb54b8b4d43"/>
    <p:sldId xmlns:r="http://schemas.openxmlformats.org/officeDocument/2006/relationships" id="270" r:id="R9c923ff88f0f44fb"/>
    <p:sldId xmlns:r="http://schemas.openxmlformats.org/officeDocument/2006/relationships" id="271" r:id="Rdabcc6e69c4f4028"/>
    <p:sldId xmlns:r="http://schemas.openxmlformats.org/officeDocument/2006/relationships" id="272" r:id="Rf510afdc05d748a4"/>
    <p:sldId xmlns:r="http://schemas.openxmlformats.org/officeDocument/2006/relationships" id="273" r:id="R0da52ed38a104178"/>
    <p:sldId xmlns:r="http://schemas.openxmlformats.org/officeDocument/2006/relationships" id="274" r:id="R6023d5d1152245c5"/>
    <p:sldId xmlns:r="http://schemas.openxmlformats.org/officeDocument/2006/relationships" id="275" r:id="Ra546ba1380204a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f4503d7d044e9c" /><Relationship Type="http://schemas.openxmlformats.org/officeDocument/2006/relationships/slideMaster" Target="/ppt/slideMasters/slideMaster1.xml" Id="Rfdf2a0cd5aa54ea3" /><Relationship Type="http://schemas.openxmlformats.org/officeDocument/2006/relationships/notesMaster" Target="/ppt/notesMasters/notesMaster1.xml" Id="R723dc2fc76434220" /><Relationship Type="http://schemas.openxmlformats.org/officeDocument/2006/relationships/presProps" Target="/ppt/presProps.xml" Id="Rca94b604a1d8497a" /><Relationship Type="http://schemas.openxmlformats.org/officeDocument/2006/relationships/tableStyles" Target="/ppt/tableStyles.xml" Id="R2ccdf7667ab9453e" /><Relationship Type="http://schemas.openxmlformats.org/officeDocument/2006/relationships/slide" Target="/ppt/slides/slide1.xml" Id="R095bba089fd54093" /><Relationship Type="http://schemas.openxmlformats.org/officeDocument/2006/relationships/slide" Target="/ppt/slides/slide2.xml" Id="R554515e7c7b8430d" /><Relationship Type="http://schemas.openxmlformats.org/officeDocument/2006/relationships/slide" Target="/ppt/slides/slide3.xml" Id="R72ec2bf4ed71419e" /><Relationship Type="http://schemas.openxmlformats.org/officeDocument/2006/relationships/slide" Target="/ppt/slides/slide4.xml" Id="R910f7f9ac9d04a0d" /><Relationship Type="http://schemas.openxmlformats.org/officeDocument/2006/relationships/slide" Target="/ppt/slides/slide5.xml" Id="Ra4e996573baa4895" /><Relationship Type="http://schemas.openxmlformats.org/officeDocument/2006/relationships/slide" Target="/ppt/slides/slide6.xml" Id="R83b6b5b44cff436a" /><Relationship Type="http://schemas.openxmlformats.org/officeDocument/2006/relationships/slide" Target="/ppt/slides/slide7.xml" Id="R5ef1fb19986445df" /><Relationship Type="http://schemas.openxmlformats.org/officeDocument/2006/relationships/slide" Target="/ppt/slides/slide8.xml" Id="R45664358205f4079" /><Relationship Type="http://schemas.openxmlformats.org/officeDocument/2006/relationships/slide" Target="/ppt/slides/slide9.xml" Id="Rc6228bd27b38495a" /><Relationship Type="http://schemas.openxmlformats.org/officeDocument/2006/relationships/slide" Target="/ppt/slides/slide10.xml" Id="R072b6c9b00654573" /><Relationship Type="http://schemas.openxmlformats.org/officeDocument/2006/relationships/slide" Target="/ppt/slides/slide11.xml" Id="R18d99208ab7d45c6" /><Relationship Type="http://schemas.openxmlformats.org/officeDocument/2006/relationships/slide" Target="/ppt/slides/slide12.xml" Id="R21d30538d95a441e" /><Relationship Type="http://schemas.openxmlformats.org/officeDocument/2006/relationships/slide" Target="/ppt/slides/slide13.xml" Id="Rd5c369e9602e4b2e" /><Relationship Type="http://schemas.openxmlformats.org/officeDocument/2006/relationships/slide" Target="/ppt/slides/slide14.xml" Id="Ra0213fb54b8b4d43" /><Relationship Type="http://schemas.openxmlformats.org/officeDocument/2006/relationships/slide" Target="/ppt/slides/slide15.xml" Id="R9c923ff88f0f44fb" /><Relationship Type="http://schemas.openxmlformats.org/officeDocument/2006/relationships/slide" Target="/ppt/slides/slide16.xml" Id="Rdabcc6e69c4f4028" /><Relationship Type="http://schemas.openxmlformats.org/officeDocument/2006/relationships/slide" Target="/ppt/slides/slide17.xml" Id="Rf510afdc05d748a4" /><Relationship Type="http://schemas.openxmlformats.org/officeDocument/2006/relationships/slide" Target="/ppt/slides/slide18.xml" Id="R0da52ed38a104178" /><Relationship Type="http://schemas.openxmlformats.org/officeDocument/2006/relationships/slide" Target="/ppt/slides/slide19.xml" Id="R6023d5d1152245c5" /><Relationship Type="http://schemas.openxmlformats.org/officeDocument/2006/relationships/slide" Target="/ppt/slides/slide20.xml" Id="Ra546ba1380204a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b83830eda843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935f1226874e82" /><Relationship Type="http://schemas.openxmlformats.org/officeDocument/2006/relationships/notesMaster" Target="/ppt/notesMasters/notesMaster1.xml" Id="R24555a0bcee340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39df16fc8d4148" /><Relationship Type="http://schemas.openxmlformats.org/officeDocument/2006/relationships/notesMaster" Target="/ppt/notesMasters/notesMaster1.xml" Id="R59767426bbfb47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6b8e94fbee419e" /><Relationship Type="http://schemas.openxmlformats.org/officeDocument/2006/relationships/notesMaster" Target="/ppt/notesMasters/notesMaster1.xml" Id="R67ccb426630e47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bdd59c706a415b" /><Relationship Type="http://schemas.openxmlformats.org/officeDocument/2006/relationships/notesMaster" Target="/ppt/notesMasters/notesMaster1.xml" Id="Ra4770bacdba64c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bd036f12534022" /><Relationship Type="http://schemas.openxmlformats.org/officeDocument/2006/relationships/notesMaster" Target="/ppt/notesMasters/notesMaster1.xml" Id="Rfbbc5acd034342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843d7091dd46d5" /><Relationship Type="http://schemas.openxmlformats.org/officeDocument/2006/relationships/notesMaster" Target="/ppt/notesMasters/notesMaster1.xml" Id="R47b2566dafdf4a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32cec6908a4f68" /><Relationship Type="http://schemas.openxmlformats.org/officeDocument/2006/relationships/notesMaster" Target="/ppt/notesMasters/notesMaster1.xml" Id="R2ce8e31b222943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ba6dd5998b4f87" /><Relationship Type="http://schemas.openxmlformats.org/officeDocument/2006/relationships/notesMaster" Target="/ppt/notesMasters/notesMaster1.xml" Id="R9de81ece635b48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3dd1c138ac4d45" /><Relationship Type="http://schemas.openxmlformats.org/officeDocument/2006/relationships/notesMaster" Target="/ppt/notesMasters/notesMaster1.xml" Id="R22855088524443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a3a18c4229485b" /><Relationship Type="http://schemas.openxmlformats.org/officeDocument/2006/relationships/notesMaster" Target="/ppt/notesMasters/notesMaster1.xml" Id="R5c596c00d8c545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4b674f4e3048b6" /><Relationship Type="http://schemas.openxmlformats.org/officeDocument/2006/relationships/notesMaster" Target="/ppt/notesMasters/notesMaster1.xml" Id="R6a8be035dd1743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88b6367b014eeb" /><Relationship Type="http://schemas.openxmlformats.org/officeDocument/2006/relationships/notesMaster" Target="/ppt/notesMasters/notesMaster1.xml" Id="Ra6b549eb697c49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b9548783fc47cd" /><Relationship Type="http://schemas.openxmlformats.org/officeDocument/2006/relationships/notesMaster" Target="/ppt/notesMasters/notesMaster1.xml" Id="Rb8a562ca02704b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e547a7eefb4c45" /><Relationship Type="http://schemas.openxmlformats.org/officeDocument/2006/relationships/notesMaster" Target="/ppt/notesMasters/notesMaster1.xml" Id="Ra7f15463f06d46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61c38db1bd4e22" /><Relationship Type="http://schemas.openxmlformats.org/officeDocument/2006/relationships/notesMaster" Target="/ppt/notesMasters/notesMaster1.xml" Id="R796d11006aab41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919041e77b4d79" /><Relationship Type="http://schemas.openxmlformats.org/officeDocument/2006/relationships/notesMaster" Target="/ppt/notesMasters/notesMaster1.xml" Id="R6a077814c34e4ca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1e98ea209044ef" /><Relationship Type="http://schemas.openxmlformats.org/officeDocument/2006/relationships/notesMaster" Target="/ppt/notesMasters/notesMaster1.xml" Id="R71afb8a6caba4d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6ecc9523d24cc3" /><Relationship Type="http://schemas.openxmlformats.org/officeDocument/2006/relationships/notesMaster" Target="/ppt/notesMasters/notesMaster1.xml" Id="R9090b0150cec4dc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484e4bf4ea490e" /><Relationship Type="http://schemas.openxmlformats.org/officeDocument/2006/relationships/notesMaster" Target="/ppt/notesMasters/notesMaster1.xml" Id="R27fb4effd0ed47b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d318fc4baa492c" /><Relationship Type="http://schemas.openxmlformats.org/officeDocument/2006/relationships/notesMaster" Target="/ppt/notesMasters/notesMaster1.xml" Id="R092dcf1fa6a049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页｜让移动中的连续服务在路侧边缘稳定接续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依据：docs/project/system_mechanism_manuscript_working_draft.md；文献截点 2026-10-11。此稿用于研究汇报。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页｜相关工作：代表论文与本文切入点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按公开论文的研究对象与方法边界压缩呈现；每篇来源：</a:t>
            </a:r>
          </a:p>
          <a:p xmlns:a="http://schemas.openxmlformats.org/drawingml/2006/main">
            <a:r>
              <a:t>P1 COHCTO · TMC 2025：https://doi.org/10.1109/TMC.2025.3573379</a:t>
            </a:r>
          </a:p>
          <a:p xmlns:a="http://schemas.openxmlformats.org/drawingml/2006/main">
            <a:r>
              <a:t>P2 LDMCO · TMC 2026：https://doi.org/10.1109/TMC.2025.3646450</a:t>
            </a:r>
          </a:p>
          <a:p xmlns:a="http://schemas.openxmlformats.org/drawingml/2006/main">
            <a:r>
              <a:t>P3 Ly-COMA · IET 2025：https://doi.org/10.1049/itr2.70083</a:t>
            </a:r>
          </a:p>
          <a:p xmlns:a="http://schemas.openxmlformats.org/drawingml/2006/main">
            <a:r>
              <a:t>P4 Fan 等 · TVT 2024：https://doi.org/10.1109/TVT.2023.3310520</a:t>
            </a:r>
          </a:p>
          <a:p xmlns:a="http://schemas.openxmlformats.org/drawingml/2006/main">
            <a:r>
              <a:t>P5 MCMA · TMC 2025：https://doi.org/10.1109/TMC.2025.3539945</a:t>
            </a:r>
          </a:p>
          <a:p xmlns:a="http://schemas.openxmlformats.org/drawingml/2006/main">
            <a:r>
              <a:t>P6 MATM · TVT 2026：https://doi.org/10.1109/TVT.2026.3660321</a:t>
            </a:r>
          </a:p>
          <a:p xmlns:a="http://schemas.openxmlformats.org/drawingml/2006/main">
            <a:r>
              <a:t>P7 AWTO · FGCS 2026：https://doi.org/10.1016/j.future.2026.108415</a:t>
            </a:r>
          </a:p>
          <a:p xmlns:a="http://schemas.openxmlformats.org/drawingml/2006/main">
            <a:r>
              <a:t>P8 POLAR · arXiv 2026：https://arxiv.org/abs/2604.16583</a:t>
            </a:r>
          </a:p>
          <a:p xmlns:a="http://schemas.openxmlformats.org/drawingml/2006/main">
            <a:r>
              <a:t>P9 SLoRA · MLSys 2024：https://proceedings.mlsys.org/paper_files/paper/2024/hash/906419cd502575b617cc489a1a696a67-Abstract-Conference.html</a:t>
            </a:r>
          </a:p>
          <a:p xmlns:a="http://schemas.openxmlformats.org/drawingml/2006/main">
            <a:r>
              <a:t>P10 Punica · MLSys 2024：https://proceedings.mlsys.org/paper_files/paper/2024/hash/054de805fcceb78a201f5e9d53c85908-Abstract-Conference.html</a:t>
            </a:r>
          </a:p>
          <a:p xmlns:a="http://schemas.openxmlformats.org/drawingml/2006/main">
            <a:r>
              <a:t>P11 WfCommons · FGCS 2022：https://doi.org/10.1016/j.future.2021.09.043</a:t>
            </a:r>
          </a:p>
          <a:p xmlns:a="http://schemas.openxmlformats.org/drawingml/2006/main">
            <a:r>
              <a:t>P12 RUDDER · NeurIPS 2019：https://papers.neurips.cc/paper_files/paper/2019/hash/16105fb9cc614fc29e1bda00dab60d41-Abstract.html</a:t>
            </a:r>
          </a:p>
          <a:p xmlns:a="http://schemas.openxmlformats.org/drawingml/2006/main">
            <a:r>
              <a:t>P13 MAPPO · NeurIPS 2022：https://arxiv.org/abs/2103.01955</a:t>
            </a:r>
          </a:p>
          <a:p xmlns:a="http://schemas.openxmlformats.org/drawingml/2006/main">
            <a:r>
              <a:t>“本文切入”表示本研究要处理的具体交集，不断言该论文在其他设置下完全没有涉及这些问题。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页｜横向对比：我们的研究把五个问题连在一起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●=论文公开研究直接涉及；◐=相邻或部分；—=非核心。本研究一行表示研究问题的覆盖范围，不表示每项效果已由正式实验确认。逐篇出处见前一页。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页｜研究贡献：联合准备与两项机制验证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贡献一依据 docs/project/system_mechanism_manuscript_working_draft.md 的研究模型。贡献二源自 artifacts/analysis/mechanism_evidence_closure_20261005_v1/experiment_a_shared_cache_cost.json：原生仿真账本四配置，其中相同完成量的连续共享与交替共享各完成72/72请求，base传输相差5,637,144,576字节，即5,376 MiB。贡献三源自 artifacts/analysis/two_node_workflow_reexecution_comparison_20261005_v1/terminal_receipt.json：固定两节点技术任务、同机单次真实模型调用；恢复端仅执行后续节点，输入/输出逐项一致，状态包2,040 B，child wall为21.3695765秒与重跑32.503856834秒，相差11.134秒。两项实验是各自的有界机制证据，不直接证明联合算法性能或实际跨站无线收益。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页｜研究问题：怎样让准备工作真正帮助任务完成？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论文工作稿第 1 节。三问分别对应共享复用、交接准备和控制方法；问题是待检验命题。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页｜方法直觉：先看下一步，再准备下一站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依据论文第 3 节：依赖前沿、目标站资源账本、增量准备、交接后继续。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页｜什么时候提前准备？看三个可观测因素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概念性决策因素：handoff timing、目标端现有资源、增量字节与容量。此页不是实验结果。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页｜系统结构：数据、路侧环境与控制方法形成闭环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 docs/project/advisor_report_briefing_20260621.md 的系统 Mermaid 图和论文工作稿重绘。NGSIM 与 Alibaba 分别提供轨迹和工作流。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页｜资源模型：共享部分只搬一次，专用部分按需补齐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论文第 3 节。base、adapter、workflow state 为不同对象；增量成本按目标站尚未驻留的唯一对象计。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页｜控制方法有五种实际选择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对应当前环境的五类 semantic actions。页面采用面向报告的语义名称，不展示代码编号。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页｜算法结构：同一份信息，支持三个时间尺度的决策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 docs/project/advisor_report_briefing_20260621.md 与论文第 4 节重绘：7 个 64 维输入块，经 448→128→64 融合，输出 slow/fast/event decisions 和价值估计。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页｜奖励设计：鼓励服务推进，也计入资源与时延成本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src/envs/core/vec_workflow_core_env.py:416-577。展示 RewardBreakdown 的简化分组。真实传输字节未直接从 reward 中扣除，应在系统评价中另报。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页｜论文中的奖励收敛图（原图）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来源：outputs/sa_ghmappo_reward_visuals_20260716/reward_convergence_selected.png；说明文档：docs/project/sa_ghmappo_reward_convergence_and_advantage_visuals_20260716.md。对应 strict_full_v8_dev_screen_20260621_v2；五个 seed，每个约 96 个训练 episode，展示 12-episode 滑动平均。该图说明训练过程中的奖励变化，属于 dev-screen 训练曲线。后页冻结评估的奖励对照来自另一实验版本，不应将两页数值直接合并解释。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页｜实验数据：用真实车辆轨迹和真实任务链驱动仿真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论文第 5.1 节。NGSIM 提供 mobility trace；Alibaba 提供 workflow DAG。二者并非同一现场联合观测；服务所需模型按实验设定映射。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页｜实验设计：先测机制，再比较决策方法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论文第 5.2/5.3 节。左侧四种机制组合是确认性实验设计，并非当前已完成的正式比较结果。右侧算法比较需使用一致观测、动作和训练预算。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页｜冻结评估：综合奖励在两组窗口均排名第一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reviewed_at: 2026-10-11；literature_cutoff: 2026-10-11；target_venue: IEEE TMC；policy_version: tmc_review_policy_v3_20260621；git_commit_at_review: d3e2bae；evidence_level: E2_ARTIFACT_AUDITED（既有冻结算法版本）。</a:t>
            </a:r>
          </a:p>
          <a:p xmlns:a="http://schemas.openxmlformats.org/drawingml/2006/main">
            <a:r>
              <a:t>正式 run: top_journal_v100_urgency_safe_resource_full_20260808/benchmarks/formal_full_stratified/main_results_full_stratified_20260808_183339_526215；原始 benchmark_rows.csv 共 1320 行，11 方法×20 原始窗口×2 工作流×3 seed；配对统计: artifacts/experiments/top_journal_v100_urgency_safe_resource_full_20260808/statistics/formal_full_stratified/paired_statistics.json。</a:t>
            </a:r>
          </a:p>
          <a:p xmlns:a="http://schemas.openxmlformats.org/drawingml/2006/main">
            <a:r>
              <a:t>后续独立 run: top_journal_v100_future_validation_v20_20260809/main_results_full_stratified_20260809_041440_446507；原始 benchmark_rows.csv 共 990 行，11 方法×15 原始窗口×2 工作流×3 seed；配对统计: artifacts/experiments/top_journal_v100_future_validation_v20_20260809/statistics/paired_statistics.json。</a:t>
            </a:r>
          </a:p>
          <a:p xmlns:a="http://schemas.openxmlformats.org/drawingml/2006/main">
            <a:r>
              <a:t>对最强对照“受欢迎程度缓存规则”，正式奖励差 +0.3475，window-outer BCa 95% CI [0.1550,0.60082]；后续独立奖励差 +3.9920，CI [2.077111,8.290975]。两批实验均 reward_positive_offset=0，环境奖励定义一致。页面图示 6 种方法；原始表中共 11 种方法，所提版本在两批均第一。此历史算法线与 2026-09 系统机制工作稿的开发矩阵分开，不合并为同一投稿主表，也不据此声称所有系统指标领先。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页｜模型共享示例：连续复用时搬运量更少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来源：artifacts/analysis/mechanism_evidence_closure_20261005_v1/。四种配置均完成72/72请求。数字是机制级资源账本，非实际无线链路吞吐。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页｜状态接续示例：保存进度后，只执行剩余步骤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来源：artifacts/analysis/two_node_workflow_reexecution_comparison_20261005_v1/。两节点、同机、单次技术样例；状态包 2,040 B，输出与从头运行一致。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页｜总结：把移动交接从“换位置”变成“接着做”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研究框架、既有冻结算法奖励对照与机制示例分别陈述。正式跨 RSU 端到端机制效果仍以相应独立实验为准。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页｜主要参考文献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文献截点：2026-10-11。完整 DOI/URL：</a:t>
            </a:r>
          </a:p>
          <a:p xmlns:a="http://schemas.openxmlformats.org/drawingml/2006/main">
            <a:r>
              <a:t>P1 COHCTO · TMC 2025：https://doi.org/10.1109/TMC.2025.3573379</a:t>
            </a:r>
          </a:p>
          <a:p xmlns:a="http://schemas.openxmlformats.org/drawingml/2006/main">
            <a:r>
              <a:t>P2 LDMCO · TMC 2026：https://doi.org/10.1109/TMC.2025.3646450</a:t>
            </a:r>
          </a:p>
          <a:p xmlns:a="http://schemas.openxmlformats.org/drawingml/2006/main">
            <a:r>
              <a:t>P3 Ly-COMA · IET 2025：https://doi.org/10.1049/itr2.70083</a:t>
            </a:r>
          </a:p>
          <a:p xmlns:a="http://schemas.openxmlformats.org/drawingml/2006/main">
            <a:r>
              <a:t>P4 Fan 等 · TVT 2024：https://doi.org/10.1109/TVT.2023.3310520</a:t>
            </a:r>
          </a:p>
          <a:p xmlns:a="http://schemas.openxmlformats.org/drawingml/2006/main">
            <a:r>
              <a:t>P5 MCMA · TMC 2025：https://doi.org/10.1109/TMC.2025.3539945</a:t>
            </a:r>
          </a:p>
          <a:p xmlns:a="http://schemas.openxmlformats.org/drawingml/2006/main">
            <a:r>
              <a:t>P6 MATM · TVT 2026：https://doi.org/10.1109/TVT.2026.3660321</a:t>
            </a:r>
          </a:p>
          <a:p xmlns:a="http://schemas.openxmlformats.org/drawingml/2006/main">
            <a:r>
              <a:t>P7 AWTO · FGCS 2026：https://doi.org/10.1016/j.future.2026.108415</a:t>
            </a:r>
          </a:p>
          <a:p xmlns:a="http://schemas.openxmlformats.org/drawingml/2006/main">
            <a:r>
              <a:t>P8 POLAR · arXiv 2026：https://arxiv.org/abs/2604.16583</a:t>
            </a:r>
          </a:p>
          <a:p xmlns:a="http://schemas.openxmlformats.org/drawingml/2006/main">
            <a:r>
              <a:t>P9 SLoRA · MLSys 2024：https://proceedings.mlsys.org/paper_files/paper/2024/hash/906419cd502575b617cc489a1a696a67-Abstract-Conference.html</a:t>
            </a:r>
          </a:p>
          <a:p xmlns:a="http://schemas.openxmlformats.org/drawingml/2006/main">
            <a:r>
              <a:t>P10 Punica · MLSys 2024：https://proceedings.mlsys.org/paper_files/paper/2024/hash/054de805fcceb78a201f5e9d53c85908-Abstract-Conference.html</a:t>
            </a:r>
          </a:p>
          <a:p xmlns:a="http://schemas.openxmlformats.org/drawingml/2006/main">
            <a:r>
              <a:t>P11 WfCommons · FGCS 2022：https://doi.org/10.1016/j.future.2021.09.043</a:t>
            </a:r>
          </a:p>
          <a:p xmlns:a="http://schemas.openxmlformats.org/drawingml/2006/main">
            <a:r>
              <a:t>P12 RUDDER · NeurIPS 2019：https://papers.neurips.cc/paper_files/paper/2019/hash/16105fb9cc614fc29e1bda00dab60d41-Abstract.html</a:t>
            </a:r>
          </a:p>
          <a:p xmlns:a="http://schemas.openxmlformats.org/drawingml/2006/main">
            <a:r>
              <a:t>P13 MAPPO · NeurIPS 2022：https://arxiv.org/abs/2103.01955</a:t>
            </a:r>
          </a:p>
          <a:p xmlns:a="http://schemas.openxmlformats.org/drawingml/2006/main">
            <a:r>
              <a:t>方法与数值来源：docs/project/system_mechanism_manuscript_working_draft.md；artifacts/analysis/mechanism_evidence_closure_20261005_v1/；artifacts/analysis/two_node_workflow_reexecution_comparison_20261005_v1/；artifacts/experiments/top_journal_v100_urgency_safe_resource_full_20260808/；artifacts/experiments/top_journal_v100_future_validation_v20_20260809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8349cf09c4c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8e6c02f234e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b6e14515a4c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eeed8f97a4c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68cc7248e4d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d8cf1b9c94b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A9E6542-95D0-4E89-871E-4F97BDAE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A863E4-549F-466A-8E2E-DC6F91DCE0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C9284B2-DAA2-454D-A89B-CD8C6AE764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14A5923-A633-489F-9833-08ADD5F3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EB460E-563F-4A87-AE57-193800A002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1300679-B30B-44A7-B8AC-7AD1A355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F8FBF5-1784-4D6F-BAD7-4A3D00465C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4E33345-A0DC-4CEB-99C9-D6BA8AAAA7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EC6B580-358D-4498-AF2F-3A540DEC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8A3F2A-936A-472B-B024-A0498F0DDF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B7522E-DCC5-4D57-8D8C-AFC1C3EBC9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DCDD4F-F007-442F-8DD0-48D9634DFA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25C392C-F412-4FB4-939A-3FFD7653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EA9B9E-0C9F-4EA9-8D27-D7CBC862E6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0ED4EE-82DF-4B83-83C3-6981113E5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f5562ecb9d4e42" /><Relationship Type="http://schemas.openxmlformats.org/officeDocument/2006/relationships/slideLayout" Target="/ppt/slideLayouts/slideLayout1.xml" Id="R27120f7d22a243d7" /><Relationship Type="http://schemas.openxmlformats.org/officeDocument/2006/relationships/slideLayout" Target="/ppt/slideLayouts/slideLayout2.xml" Id="R2b3e04b79ab143a4" /><Relationship Type="http://schemas.openxmlformats.org/officeDocument/2006/relationships/slideLayout" Target="/ppt/slideLayouts/slideLayout3.xml" Id="R8591b2c9693245ff" /><Relationship Type="http://schemas.openxmlformats.org/officeDocument/2006/relationships/slideLayout" Target="/ppt/slideLayouts/slideLayout4.xml" Id="Rab6cd64c369c493e" /><Relationship Type="http://schemas.openxmlformats.org/officeDocument/2006/relationships/slideLayout" Target="/ppt/slideLayouts/slideLayout5.xml" Id="R8d9f2ee1c1594ad0" /><Relationship Type="http://schemas.openxmlformats.org/officeDocument/2006/relationships/slideLayout" Target="/ppt/slideLayouts/slideLayout6.xml" Id="R2514c07a56e844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120f7d22a243d7"/>
    <p:sldLayoutId xmlns:r="http://schemas.openxmlformats.org/officeDocument/2006/relationships" id="2147483650" r:id="R2b3e04b79ab143a4"/>
    <p:sldLayoutId xmlns:r="http://schemas.openxmlformats.org/officeDocument/2006/relationships" id="2147483651" r:id="R8591b2c9693245ff"/>
    <p:sldLayoutId xmlns:r="http://schemas.openxmlformats.org/officeDocument/2006/relationships" id="2147483652" r:id="Rab6cd64c369c493e"/>
    <p:sldLayoutId xmlns:r="http://schemas.openxmlformats.org/officeDocument/2006/relationships" id="2147483653" r:id="R8d9f2ee1c1594ad0"/>
    <p:sldLayoutId xmlns:r="http://schemas.openxmlformats.org/officeDocument/2006/relationships" id="2147483654" r:id="R2514c07a56e844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03abe69e1f4c15" /><Relationship Type="http://schemas.openxmlformats.org/officeDocument/2006/relationships/image" Target="/ppt/media/image.png" Id="R84c98b926f0b4c6d" /><Relationship Type="http://schemas.openxmlformats.org/officeDocument/2006/relationships/notesSlide" Target="/ppt/notesSlides/notesSlide1.xml" Id="R75a902a9633745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e0ad132483422c" /><Relationship Type="http://schemas.openxmlformats.org/officeDocument/2006/relationships/image" Target="/ppt/media/image2.png" Id="Rcb56d5bfc7634f5e" /><Relationship Type="http://schemas.openxmlformats.org/officeDocument/2006/relationships/notesSlide" Target="/ppt/notesSlides/notesSlide2.xml" Id="Rc6801ba4780a4d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9768e55a364775" /><Relationship Type="http://schemas.openxmlformats.org/officeDocument/2006/relationships/image" Target="/ppt/media/image3.png" Id="R35bd25e34c6141be" /><Relationship Type="http://schemas.openxmlformats.org/officeDocument/2006/relationships/notesSlide" Target="/ppt/notesSlides/notesSlide3.xml" Id="R3f607566ddc64e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2c3690c6864f67" /><Relationship Type="http://schemas.openxmlformats.org/officeDocument/2006/relationships/image" Target="/ppt/media/image4.png" Id="R4104f88a0b774ea3" /><Relationship Type="http://schemas.openxmlformats.org/officeDocument/2006/relationships/notesSlide" Target="/ppt/notesSlides/notesSlide4.xml" Id="R4f149f11e56341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87bde5547d4b21" /><Relationship Type="http://schemas.openxmlformats.org/officeDocument/2006/relationships/image" Target="/ppt/media/image5.png" Id="Rccf63295d1ff46a5" /><Relationship Type="http://schemas.openxmlformats.org/officeDocument/2006/relationships/notesSlide" Target="/ppt/notesSlides/notesSlide5.xml" Id="R7c17d33f816a49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0cc5833244da7" /><Relationship Type="http://schemas.openxmlformats.org/officeDocument/2006/relationships/image" Target="/ppt/media/image6.png" Id="R39ec09277d344537" /><Relationship Type="http://schemas.openxmlformats.org/officeDocument/2006/relationships/notesSlide" Target="/ppt/notesSlides/notesSlide6.xml" Id="R0cceec15f6204c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96c5b33eb045ed" /><Relationship Type="http://schemas.openxmlformats.org/officeDocument/2006/relationships/image" Target="/ppt/media/image7.png" Id="R807086de37d34538" /><Relationship Type="http://schemas.openxmlformats.org/officeDocument/2006/relationships/notesSlide" Target="/ppt/notesSlides/notesSlide7.xml" Id="Rf046d4537d7943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1444d5a1ce45fa" /><Relationship Type="http://schemas.openxmlformats.org/officeDocument/2006/relationships/image" Target="/ppt/media/image8.png" Id="R99af613d05df433b" /><Relationship Type="http://schemas.openxmlformats.org/officeDocument/2006/relationships/notesSlide" Target="/ppt/notesSlides/notesSlide8.xml" Id="R5ba4c5ebc4a341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1bb6b96e0494c" /><Relationship Type="http://schemas.openxmlformats.org/officeDocument/2006/relationships/image" Target="/ppt/media/image9.png" Id="R9115efd51aa942f3" /><Relationship Type="http://schemas.openxmlformats.org/officeDocument/2006/relationships/notesSlide" Target="/ppt/notesSlides/notesSlide9.xml" Id="Rdcfd9ba7927340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b0715bf124418b" /><Relationship Type="http://schemas.openxmlformats.org/officeDocument/2006/relationships/image" Target="/ppt/media/image10.png" Id="R0bbd05af98c04d18" /><Relationship Type="http://schemas.openxmlformats.org/officeDocument/2006/relationships/notesSlide" Target="/ppt/notesSlides/notesSlide10.xml" Id="R132b4c91317141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5dd15f09754c86" /><Relationship Type="http://schemas.openxmlformats.org/officeDocument/2006/relationships/image" Target="/ppt/media/image11.png" Id="R05865b7c16924fce" /><Relationship Type="http://schemas.openxmlformats.org/officeDocument/2006/relationships/notesSlide" Target="/ppt/notesSlides/notesSlide11.xml" Id="R5801d6632b1346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c12b16c4cc44bf" /><Relationship Type="http://schemas.openxmlformats.org/officeDocument/2006/relationships/image" Target="/ppt/media/image12.png" Id="Ra83a61cbdf2a4489" /><Relationship Type="http://schemas.openxmlformats.org/officeDocument/2006/relationships/notesSlide" Target="/ppt/notesSlides/notesSlide12.xml" Id="Rd7831d15231f4c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24039cfec24694" /><Relationship Type="http://schemas.openxmlformats.org/officeDocument/2006/relationships/image" Target="/ppt/media/image13.png" Id="R2cd2672bb3dd4f02" /><Relationship Type="http://schemas.openxmlformats.org/officeDocument/2006/relationships/image" Target="/ppt/media/image14.png" Id="R40888a924c8b44b2" /><Relationship Type="http://schemas.openxmlformats.org/officeDocument/2006/relationships/notesSlide" Target="/ppt/notesSlides/notesSlide13.xml" Id="R1a6eee79790d49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5636dfd574785" /><Relationship Type="http://schemas.openxmlformats.org/officeDocument/2006/relationships/image" Target="/ppt/media/image15.png" Id="R591000fe323d46c3" /><Relationship Type="http://schemas.openxmlformats.org/officeDocument/2006/relationships/notesSlide" Target="/ppt/notesSlides/notesSlide14.xml" Id="Re3aa398f287943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8d4ee8106f4923" /><Relationship Type="http://schemas.openxmlformats.org/officeDocument/2006/relationships/image" Target="/ppt/media/image16.png" Id="Rc69830f06e644647" /><Relationship Type="http://schemas.openxmlformats.org/officeDocument/2006/relationships/notesSlide" Target="/ppt/notesSlides/notesSlide15.xml" Id="Rcbd8849461ac41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fae29ecb84aa4" /><Relationship Type="http://schemas.openxmlformats.org/officeDocument/2006/relationships/image" Target="/ppt/media/image17.png" Id="R9823a5dee1224a50" /><Relationship Type="http://schemas.openxmlformats.org/officeDocument/2006/relationships/notesSlide" Target="/ppt/notesSlides/notesSlide16.xml" Id="R4792d80a52b640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075380de6e4103" /><Relationship Type="http://schemas.openxmlformats.org/officeDocument/2006/relationships/image" Target="/ppt/media/image18.png" Id="R77fa4598105745cc" /><Relationship Type="http://schemas.openxmlformats.org/officeDocument/2006/relationships/notesSlide" Target="/ppt/notesSlides/notesSlide17.xml" Id="Rbf50bd9a80e744d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1661b178c04715" /><Relationship Type="http://schemas.openxmlformats.org/officeDocument/2006/relationships/image" Target="/ppt/media/image19.png" Id="Rc77b36fc2d654ff2" /><Relationship Type="http://schemas.openxmlformats.org/officeDocument/2006/relationships/notesSlide" Target="/ppt/notesSlides/notesSlide18.xml" Id="R6d5f9d3b9ac046d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2ea67af90449bf" /><Relationship Type="http://schemas.openxmlformats.org/officeDocument/2006/relationships/image" Target="/ppt/media/image20.png" Id="R5d230480662c4e59" /><Relationship Type="http://schemas.openxmlformats.org/officeDocument/2006/relationships/notesSlide" Target="/ppt/notesSlides/notesSlide19.xml" Id="Rbecfd5895e20493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1f2422ead14385" /><Relationship Type="http://schemas.openxmlformats.org/officeDocument/2006/relationships/image" Target="/ppt/media/image21.png" Id="R8d6d11c647644771" /><Relationship Type="http://schemas.openxmlformats.org/officeDocument/2006/relationships/notesSlide" Target="/ppt/notesSlides/notesSlide20.xml" Id="R5f3d6256f6da45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296DF-E4A5-4873-8676-6B136324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47816-BEBE-4BC4-9DF4-F51E74B5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98b926f0b4c6d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60D18-D508-454C-803F-1A0E942B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广东工业大学 · 学术研究汇报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101B8-A33A-4057-B86B-CE60F26E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让移动中的连续服务在路侧边缘稳定接续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EA3F3-BD60-4A1C-B958-C72BB23B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431D8-6D62-4782-A5AB-F9469FD8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1D01C-898F-4F82-BB09-4BF02498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模型复用与执行状态协同准备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D3EDD-CD9A-47AD-8BE9-13EF046C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90900"/>
            <a:ext cx="10382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研究背景 · 相关工作 · 系统方法 · 实验与发现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8904A-D2BF-4C23-B16F-C17E51EB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D84CA-F9BC-43EF-B1FD-03322EF6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Dependency-Aware Preparation for Mobile Edge Workflows</a:t>
            </a:r>
          </a:p>
        </p:txBody>
      </p:sp>
    </p:spTree>
    <p:extLst>
      <p:ext uri="{BB962C8B-B14F-4D97-AF65-F5344CB8AC3E}">
        <p14:creationId xmlns:p14="http://schemas.microsoft.com/office/powerpoint/2010/main" val="20907109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F75743B-10A5-43CA-B47B-611A2C0E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DD99F-2592-4B39-AB1A-2CECF2A6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6d5bfc7634f5e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9230E-5EEA-4C1F-9F2B-56C2C5EF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相关工作 · 13 篇代表研究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56756-909D-4BCB-A2B7-12160B87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相关工作：代表论文与本文切入点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36C5B-15CB-4559-B902-B3063AB1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4C062-76C5-4B7A-8821-2F5BC53E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8A6A0-9E56-4DF2-9EAE-379A66EC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14525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4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COHCTO · TMC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A7E7C-92F1-4DD4-827C-3BE82780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14550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已有：任务依赖与服务缓存联合卸载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4A86D-B71E-4D29-A9FE-84B0560D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86000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本文：交接前共同准备模型与执行进度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A00E5-D9A5-418E-A4E4-4CF3F1D0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574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D6BE2-98AC-43C7-B9F9-61485C22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76500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4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LDMCO · TMC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C9194-6C2D-46DF-80C7-B63C8002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765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已有：优化依赖任务的执行时机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1AE9B-F517-4019-AF4A-60170BDB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4797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本文：保留跨站已完成的任务进度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37D1B-349F-49B6-A85F-281E2025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1942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B90A1-C157-4263-96FE-B8EFDE9C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38475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4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Ly-COMA · IET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35B3D-1279-42EF-81C3-4A1B8B95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38500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已有：依赖子任务与跨边缘迁移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7694D-516F-42AE-A036-5AA7BE2B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09950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本文：区分共享模型、专用模块和状态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25AC6-6E6B-4987-A341-7D6FC0EF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8140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3D77E2-FC1B-4942-9330-0DF8D6FC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00450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4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Fan 等 · TVT 2024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81939-5F43-45DB-9873-BD268F15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0047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已有：携带依赖结果以支持迁移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4D110-7151-4CA8-874A-2E7B3942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719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本文：联合衡量模型复用与准备开销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83946E-1EA3-4755-B3BD-54F18B7E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4337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EFC0F3-8A44-4DB8-B4DB-40DCA402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62425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4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MCMA · TMC 2025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BF382C-FEA1-4CC7-9A24-2769A0B4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62450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已有：预测车辆轨迹并安排任务迁移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4415F8-AC96-458D-801C-85E3F325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33900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本文：跟踪整条任务链跨站完成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0D6844-97AB-4295-8425-D24BFC50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053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94140A-FD14-4B18-A622-1AD76432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24400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4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MATM · TVT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95F7D4-A510-4E9D-90BA-C3748F53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244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已有：轨迹预测、迁移与资源分配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D60B3-CEE7-41D5-A55E-400F4E76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9587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本文：使目标站模型和执行状态同时就绪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60197F-23DD-4C51-94F6-D092E4C4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6732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C9B493-0C78-48EC-B348-9843F48C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86375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4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AWTO · FGCS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3B5EA8-8B33-4702-824A-BB5896CC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486400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已有：边缘工作流调度与模型加载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9C3E10-AAB1-4393-B2DA-1309E787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657850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本文：补入车辆移动造成的站间交接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28C8B1-FCFE-4264-B2F3-16EA2068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14525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4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POLAR · arXiv 2026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0BFFDC-A2E2-4F42-9CB3-2BDE7DEC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已有：缓存专用模块并路由请求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7C1A9A-D3E7-42CF-8B72-5191B169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本文：结合任务先后依赖与中途接续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883466-A7DD-4F8D-9B21-30DC28B1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3C4604-80BD-4423-8837-7F52EF2F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4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SLoRA · MLSys 2024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9E69DA-5238-4A15-8819-900E62F2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765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已有：共享底座服务多个专用模块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5054DE-6FC0-490D-BAC9-353DF33A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4797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本文：决定跨站提前准备的对象与时机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5ECB1D-A81C-4914-B7F7-7D9FAF75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1942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0B8C3C-3251-4F25-B989-790B7D65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38475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4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Punica · MLSys 2024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2FAD85-610F-45B4-A464-FB378B83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已有：共享底座支持多租户请求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75DBC1-B7B2-4F22-AAAB-CF200FD6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本文：面向移动车辆协调放置与后续执行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DB8BC8-7383-4465-92B6-5E85E234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8140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747206-1AD9-4A3C-92AF-E9DA8D67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4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WfCommons · FGCS 2022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C25406-C435-424B-B7BD-C9256DD1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0047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已有：分析和生成有依赖的工作流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31A3B6-5DD4-45C8-A096-685B1B85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719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本文：与车辆轨迹和路侧资源共同建模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3D0CD0-C3BD-4A65-8F31-FB471769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4337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907A2B-3880-49AD-BA7D-FDE4DD4C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62425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4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RUDDER · NeurIPS 2019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49D179-A080-45A2-A5E4-6CA0D585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62450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已有：把长期回报归因到早期行为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9ED8DE-69FF-46DF-BDD5-F04785CA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本文：将准备与迁移成本落到系统决策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DB5BCF-2142-49F1-93D2-BE26AA4F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053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D7C1F1-8B36-40ED-919F-94F27AB1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24400"/>
            <a:ext cx="504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49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MAPPO · NeurIPS 2022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AD4273-1721-42CB-80AD-D853D92F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244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已有：合作学习的强基线方法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C717BD-2E4D-4C7A-81A1-F0D67760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9587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72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本文：落到连续工作流和路侧资源的控制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FD2ADF-516D-42A4-B93E-621ACDB5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共同研究的交集：车辆跨站时，让任务进度、模型组件与执行状态协同就绪。</a:t>
            </a:r>
          </a:p>
        </p:txBody>
      </p:sp>
    </p:spTree>
    <p:extLst>
      <p:ext uri="{BB962C8B-B14F-4D97-AF65-F5344CB8AC3E}">
        <p14:creationId xmlns:p14="http://schemas.microsoft.com/office/powerpoint/2010/main" val="1927332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DD6553F-1854-43B6-BE82-30D9EBA7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1597B-1A28-40DA-88CC-BB561C73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d25e34c6141be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7A718-2632-46B7-812F-49688AEA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文献定位 · 研究范围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F363E-E185-4D0D-96C8-5214E4E9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横向对比：我们的研究把五个问题连在一起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CD349-C2E1-44FF-886C-B9B4FE87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17806-40AA-4747-9AB6-08633C19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85076-2C96-465F-B0B4-F0FAD315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2924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论文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8E700-036A-455F-AA3B-78BC87A9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24050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任务依赖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9982C-2683-43DA-A335-03DD29FD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924050"/>
            <a:ext cx="137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模型复用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41714-C2B6-49AD-836A-14CE398F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24050"/>
            <a:ext cx="137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车辆移动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A3AC6-39CD-4025-B80C-4AA4A65C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924050"/>
            <a:ext cx="137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状态续接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03699-E6D4-4DBA-BA07-8A0D29E5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24050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联合决策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C217F-D3E2-42E9-A0E6-0976C45A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P1 COHCTO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33747-34C0-4BF8-9FF4-CD3FED3B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145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5BF4E-E4E1-4666-BBE5-F67200E8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314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67E82-2FDC-447D-8CF8-8F2C8756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14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58F24-6EAC-4DBE-AA91-85ED3CDC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314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B4011-D899-4A49-A4C8-2317B585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14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75C519-52A9-479D-85CE-B0BFCC8C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ED990-D91A-4384-86B9-EB882D42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P2 LDMCO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C5701-833E-4CA4-A921-E82B6B09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47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4E7EF-DE25-46AA-BA59-56F3B448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F6B60-5ED1-4D27-ADB7-7765E94D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565E39-5751-4071-8422-79BE4269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F46ADD-6240-47CC-95B9-1D10C41E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47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89A7A3-E1A6-4518-ADE1-22597A3E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1C53AF-F30B-4848-9EF8-A6D3BAFC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P3 Ly-COMA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F865D8-430A-4602-96E4-BF7ED93A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813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FCE0B4-C505-4154-83C8-8D6A1285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813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881808-5F92-42CF-842B-2792BF6A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813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EE12EB-CAFD-435A-8A04-29FD9C75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813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A6AFD8-95B4-48BF-A018-B470C23E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813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C1B75B-30D0-49D0-BFD3-DE1890E4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4B584E-1EA6-419E-847E-3484870F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P4 Fan 迁移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A7032F-5C9E-4AAD-94FE-D2E3E761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147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05720A-6523-4FDD-88B6-C28FA3B8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147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7093DA-B387-4626-B7E5-BFFFC9B6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147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E624E7-A023-4A3D-A413-97DE95B9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3147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ED52A9-E9E4-4705-87B5-604C557C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14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35BE44-48BF-4937-834B-D883FC24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16AA82-7F19-4F83-8136-FDEF0B33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P5 MCMA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8EF818-BC93-476B-B324-1A6907FC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480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964D5E-2C7E-4940-A6A2-302AC58F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480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1DE6D0-C76A-4D06-8094-FC22B846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480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7419FC-FE64-4C63-86E6-6E8F50FC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6480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441A41-3ECD-48B9-945C-91AF7BE9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480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6C91BE-840B-4DFC-ADC5-31013446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C0AAE5-2D25-4B9D-B209-C43904E6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P6 MATM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11BC28-E875-4056-9BDC-3AE1351C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814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CDA35B-309E-40CF-9027-D2822B13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9814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697E8C-5A04-40DB-B4F3-F558E94F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814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CD5FA0-60F0-446A-B3DD-EC84054B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9814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920F24-E747-4B1D-8B53-DE51DECB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81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FAAA1F-5A69-428F-8EC9-B6065251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677677-7E5B-45D2-942C-349D8679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P7 AWTO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14BDF0-8E55-4859-AD64-679DF955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148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077A70-076B-47BB-AACB-1706B322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3148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BF1098-622D-45CF-B6A7-3B837BE6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148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12FE531-519B-473D-8044-39BBFAC1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3148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ACB9DA-6545-495C-9D21-09890095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148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98B11A-9EAC-4E68-AA2A-ABA85B16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D4618A6-17C1-4E31-A093-96543B31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P8 POLAR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6E5487F-7A4C-4794-BF4A-3B798C52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482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1B64CB7-FBC2-44FD-A102-3FE4E156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482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D47AC2-06D9-4967-BAFA-1B224C19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482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CD00EDC-4BA8-493C-8510-99A2A7CB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6482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51C9045-C92B-4611-A04D-2305A9E6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48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803992-B10D-4DF5-B0E0-591A1D1A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2EA2B4-0E2D-41D0-B77B-FB317526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P9/10 SLoRA/Punica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227C27-D5C2-4A1A-B2DF-E82396B3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9815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D99DF4-CEBE-4A8C-954B-A0D74862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981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FDDB1BB-000E-4B26-BEF5-1E9D8FFC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81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C188EC1-A6D4-4CFB-963C-C8AF9A6C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981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534FA68-81FA-4866-B452-0C106DAF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81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CDD3FC-F5A8-4ECD-A36F-73974281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2C4575F-FF7F-432B-BC20-53E58EC9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95900"/>
            <a:ext cx="10734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6193">
            <a:solidFill>
              <a:srgbClr val="BDEE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BFD93CD-D796-421E-B13E-2BBD828C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本研究关注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472B2B9-75C6-4224-B6FA-7085A220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314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66AD285-C8E7-427D-ADB6-E0BA31B1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314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E6621FB-8951-489C-9DF3-09A9D876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14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A41B0B6-3BE5-4B82-AEC8-266669EB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314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154F46C-331C-48DF-82D2-7EFD028C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314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BD25894-87A1-4A14-A40D-DC1BCCC5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63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● 直接涉及    ◐ 部分相关    — 非核心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E79AB1D-5B20-4EFA-A889-A0A07B77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五个方面的交集，是本文提出统一准备与调度方法的出发点。</a:t>
            </a:r>
          </a:p>
        </p:txBody>
      </p:sp>
    </p:spTree>
    <p:extLst>
      <p:ext uri="{BB962C8B-B14F-4D97-AF65-F5344CB8AC3E}">
        <p14:creationId xmlns:p14="http://schemas.microsoft.com/office/powerpoint/2010/main" val="431697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77C53-9B08-4493-9FB8-E681EA71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BB11E-B8C7-425A-B8DD-4B3374FD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4f88a0b774ea3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55BB5-E614-43D2-87F2-AA2BFD13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研究贡献 · 问题与证据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BC752-3240-426C-BE77-A4569817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研究贡献：联合准备与两项机制验证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D05AE-EF80-425F-A633-E201E127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2F3A6-D4CE-4FC3-AD3C-CBEE4FDD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8B06C-277A-4A0C-8CA8-1241725B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097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贡献一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8E90C-E9EC-4596-B07D-68AEA764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81200"/>
            <a:ext cx="8029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跨站连续任务的联合准备模型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CCF2E-DF94-43D3-8763-05B1D0E3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71725"/>
            <a:ext cx="795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把任务顺序、共享模型、专用模块、执行进度和交接时机纳入同一决策。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A8D44-0E42-4540-9B93-2F7AB306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2C7A0-DDFC-49F4-9BC2-433200ED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95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贡献二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DDD52-23E1-453A-B6A8-879842B0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257550"/>
            <a:ext cx="8029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共享模型的复用收益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0EE5B-966B-4D11-AFEF-2777FBA9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48075"/>
            <a:ext cx="7953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原生仿真账本中，两种顺序均完成 72 / 72 次请求；连续使用同一模型族少搬运 5,376 MiB。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0B29E-2AE4-4A35-95B0-A1A2E686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CC6F0-6EAC-4D0C-B49A-E48BC883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386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贡献三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01404-1655-4FEA-845F-3322DA26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591050"/>
            <a:ext cx="8029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已完成步骤的状态接续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B661A-9B07-4E5A-8C9B-0342B7A2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981575"/>
            <a:ext cx="7953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同机两节点真实调用：后续进程只运行剩余步骤，输入与输出一致；状态包 2,040 B，较重跑少 11.134 秒。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AACC1-115F-45D5-95D2-A39F2018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两项新增实验分别回答：共享部分能否少搬运；中断后能否从原进度继续。</a:t>
            </a:r>
          </a:p>
        </p:txBody>
      </p:sp>
    </p:spTree>
    <p:extLst>
      <p:ext uri="{BB962C8B-B14F-4D97-AF65-F5344CB8AC3E}">
        <p14:creationId xmlns:p14="http://schemas.microsoft.com/office/powerpoint/2010/main" val="892338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0D1F5-3857-4F5A-B505-7ACD5CD9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8B72C-7905-4A7A-A6E5-E86EB6C8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63295d1ff46a5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21FD8-7818-4C25-8140-B1083EAB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研究问题 · 三个问题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D34AB-2CB1-4A4A-8C6C-898790B7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研究问题：怎样让准备工作真正帮助任务完成？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368B1-8F07-4824-8658-B06C658A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096E2-6282-4A45-8136-B324F6F7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12A65-C44C-4855-83FF-68397AC2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81225"/>
            <a:ext cx="2276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CBFC2-8E0A-4216-8065-D74DFC52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38375"/>
            <a:ext cx="7848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多个步骤共用一个模型时，能减少多少重复搬运？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2D218-7AB1-4052-8ECA-509CDD90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81375"/>
            <a:ext cx="2276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6E4CB-995A-42F6-B23C-DA6D0F06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38525"/>
            <a:ext cx="7848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车辆即将交接时，哪些资源值得提前放到下一站？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0BB12-ECC5-4D67-890D-C0644490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81525"/>
            <a:ext cx="2276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993A8-CB5F-4912-B4FB-FB810757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38675"/>
            <a:ext cx="7848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面对任务进度与车辆移动，怎样协调长期准备和即时执行？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E4AD7-2B4A-4731-A55C-66EC1E10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统一的目标：让更多完整工作流按时完成，并控制等待和传输成本。</a:t>
            </a:r>
          </a:p>
        </p:txBody>
      </p:sp>
    </p:spTree>
    <p:extLst>
      <p:ext uri="{BB962C8B-B14F-4D97-AF65-F5344CB8AC3E}">
        <p14:creationId xmlns:p14="http://schemas.microsoft.com/office/powerpoint/2010/main" val="1866356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134475" y="30194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210300" y="30194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86125" y="30194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E08E0-16F2-43D6-9D4B-1BB2CDDB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08900-5AC4-40E5-AD52-64DA504A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c09277d344537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7C8A8-BBEC-466C-B785-8D331E7B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核心机制 · 四步说明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8941E-17B1-4E8B-A7A6-566EC5B2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方法直觉：先看下一步，再准备下一站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DC985-5213-44FC-B0EB-7BB2BDE0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7F1AB-C5CD-439B-A122-8E17F248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2568F-170D-4B4F-9D86-532FD11E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5431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看任务进度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下一步需要什么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8B1C7-7F06-4489-BE5B-27849212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5431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看车辆动向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可能到哪一站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F14BE-EBF5-4DB4-9F7F-28955273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25431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看已有资源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只补齐缺少的部分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9D4AB-F5B9-45DC-AF92-E21DE60E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81250"/>
            <a:ext cx="19240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交接之后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从原进度继续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45B25-4255-4807-AA6A-47D60493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1045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核心思想：下一站准备的是“后续工作真正需要、且当前还没有”的资源。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601D9-40B2-4063-81D6-83207C17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准备对象包括模型组件，也包括已经完成步骤留下的运行状态。</a:t>
            </a:r>
          </a:p>
        </p:txBody>
      </p:sp>
    </p:spTree>
    <p:extLst>
      <p:ext uri="{BB962C8B-B14F-4D97-AF65-F5344CB8AC3E}">
        <p14:creationId xmlns:p14="http://schemas.microsoft.com/office/powerpoint/2010/main" val="1403630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91A62-819B-4B79-AEE7-A2F657AC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7959B-0B67-41AA-8048-9D3AF678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086de37d34538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16F98-4D7D-4BF4-87E3-56FAB29F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策略取舍 · 判断依据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61933-F13C-43BA-BFC9-E7D928D3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什么时候提前准备？看三个可观测因素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CB39F-7BED-48E6-937E-B35A5744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D5FD6-3CAE-44FF-BE97-D75AFF63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CE9CD-1FEA-4480-B4B0-7B921FAE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952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交接时间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车辆还会在本站停留多久？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62C8C-8B22-4EE4-B45D-FE011448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52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下一站已有资源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是否已经存着可复用模型？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9CB68-8E03-4A37-AE17-A6321206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2952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准备成本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需要传多少数据、占多少空间？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860CC-B61A-43EC-8717-FC04EFCC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95825"/>
            <a:ext cx="10544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据此选择：提前准备、等需求出现再准备，或由车端完成当前步骤。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9E80F-3C09-4432-B5C4-42F7F414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这使“是否提前搬运”成为可计算的决策，而非固定规则。</a:t>
            </a:r>
          </a:p>
        </p:txBody>
      </p:sp>
    </p:spTree>
    <p:extLst>
      <p:ext uri="{BB962C8B-B14F-4D97-AF65-F5344CB8AC3E}">
        <p14:creationId xmlns:p14="http://schemas.microsoft.com/office/powerpoint/2010/main" val="7065825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0139363" y="29622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258175" y="2552700"/>
            <a:ext cx="609600" cy="1438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7248525" y="29622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5610225" y="2552700"/>
            <a:ext cx="62865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752725" y="3219450"/>
            <a:ext cx="628650" cy="8048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752725" y="3219450"/>
            <a:ext cx="628650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752725" y="2424113"/>
            <a:ext cx="628650" cy="7953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320FCD-BCA0-4C26-BF51-86FDFDF1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CD83F-829E-49B1-A05A-446568B5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f613d05df433b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B0824-B90B-4FB8-9069-0A77AC0A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论文结构图 · 系统层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DA6AE-F884-4812-814E-1D93D984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系统结构：数据、路侧环境与控制方法形成闭环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6EA2B-ED0C-4785-9866-C802CFEF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965F5-4447-4DFC-8619-2AC05871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68F2E-6229-4B61-84A7-162164A1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2038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车辆轨迹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9B19C-6E42-4BEB-9D42-E8D5C7B6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2038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任务链结构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47039-2666-49E7-90AF-0A2D3AA0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2038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模型资源清单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C2E9A-9A03-4CD0-9E31-6D1D2407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09850"/>
            <a:ext cx="2228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路侧边缘环境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站点 / 缓存 / 交接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A32CC-3A8E-47BB-BEA3-D71FA1F3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2019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当前信息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 / 车辆 / 站点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C9CFC-FC6D-4C09-B922-3D445D58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81400"/>
            <a:ext cx="2019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信息融合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依赖 + 资源 + 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953BC-E4ED-4A23-BDF0-71B88DD0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143125"/>
            <a:ext cx="25431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协调决策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长期 / 即时 / 交接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A47E2B-D8C1-4C90-BA44-7F450C79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581400"/>
            <a:ext cx="25431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执行选择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放置、卸载或准备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1C8D6-2E46-4E60-809B-649EAEDD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67300"/>
            <a:ext cx="1033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决策回到路侧环境；系统记录整条任务链的完成、等待和传输。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D47C5B-EB8F-4CE4-A6E3-7BD44C14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图由论文方法稿中的系统结构重绘，元素可在 PPT 中编辑。</a:t>
            </a:r>
          </a:p>
        </p:txBody>
      </p:sp>
    </p:spTree>
    <p:extLst>
      <p:ext uri="{BB962C8B-B14F-4D97-AF65-F5344CB8AC3E}">
        <p14:creationId xmlns:p14="http://schemas.microsoft.com/office/powerpoint/2010/main" val="10730236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FB8BF-D1D3-4CD1-99BC-223E5B7C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972E2-3CE5-4E6C-B0FD-74655263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5efd51aa942f3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2B5D0-624A-4C41-BCBD-822F61E6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论文模型 · 资源账本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05392-875B-4EC5-961C-76E698BA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资源模型：共享部分只搬一次，专用部分按需补齐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68A07-0F31-4023-A7B1-70949285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000C7-E242-417A-861C-C9C241AC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1AD48-9E2C-44A3-A17E-3700226D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86000"/>
            <a:ext cx="272415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共享模型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多个步骤可复用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BA86D-A6A5-4A7A-9BDE-54B1495B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286000"/>
            <a:ext cx="272415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专用模块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为具体步骤补充能力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D7F16-AED0-4376-BC07-5F3A8CDC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86000"/>
            <a:ext cx="390525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运行状态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记录已完成步骤和上下文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DC2F8-9F07-4CB3-8490-1658F399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10429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需搬运的数据 = 下一步所需对象 − 下一站已有对象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66811-D781-48A2-8753-36C8A16B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53025"/>
            <a:ext cx="10363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每个对象只计一次，并同时检查模型兼容性与站点容量。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2EF3C-A4CE-4D43-88D5-A0959275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资源账本使“复用”有明确的字节含义。</a:t>
            </a:r>
          </a:p>
        </p:txBody>
      </p:sp>
    </p:spTree>
    <p:extLst>
      <p:ext uri="{BB962C8B-B14F-4D97-AF65-F5344CB8AC3E}">
        <p14:creationId xmlns:p14="http://schemas.microsoft.com/office/powerpoint/2010/main" val="384250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34DC4-02A4-4013-BD7B-2EB6AAD9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E10F5-D61C-4B37-A79F-1B2BF503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d05af98c04d18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F0735-C264-4B05-9FA8-748BD47A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论文方法 · 可执行决策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854A9-C29A-42CD-82C6-4FB23824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控制方法有五种实际选择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E583B-C96F-47B0-BF57-AC03B2A7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32AD7-DB13-4D08-A5F1-6D941151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60ADD-5902-4436-8AFA-1B1C758C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038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补齐本站模型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A4955-3001-4873-8DA8-C7FAE291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478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当前站缺少执行所需模型时，先补齐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BA126-C80C-4DD4-ACCC-8B5A18D6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670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B2AE2-F654-4DAC-AA8E-327755A0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3038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提前准备下一站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C08C9-6368-4772-B33B-EAA6871C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336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根据车辆动向预备可能用到的组件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AFF1A-5175-45C3-8E33-3709A79F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528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0B88C-19EC-4F96-98FC-E4E58802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3038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交给车端执行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F2B95-42EB-4FC3-B212-C2155264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4194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车辆本地资源承担当前步骤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F47BB-A919-4FB2-8F7C-85E2DB3C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38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979115-8030-4090-8DCE-E63BC111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3038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在本站直接执行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C8891-DBFC-47F3-BCC5-6F5C5917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052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资源就绪时直接卸载到当前站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D9146-A96A-49B1-9C1D-BBAE3E5F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244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5E4C6-4245-4B70-97F3-D11E3ABA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3038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准备交接状态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BD0EE-3E8B-43D1-9BC0-710D3AED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7910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让下一站具备继续执行所需的信息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3BF19D-2F07-47CF-AB9D-61546BD1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每次选择都受资源容量与可执行条件约束。</a:t>
            </a:r>
          </a:p>
        </p:txBody>
      </p:sp>
    </p:spTree>
    <p:extLst>
      <p:ext uri="{BB962C8B-B14F-4D97-AF65-F5344CB8AC3E}">
        <p14:creationId xmlns:p14="http://schemas.microsoft.com/office/powerpoint/2010/main" val="16635570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/>
          <p:cNvCxnSpPr>
            <a:stCxn xmlns:a="http://schemas.openxmlformats.org/drawingml/2006/main" id="11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281738" y="3943350"/>
            <a:ext cx="4076700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281738" y="3943350"/>
            <a:ext cx="1347788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4781550" y="3943350"/>
            <a:ext cx="1500188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11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1933575" y="3943350"/>
            <a:ext cx="4348163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6281738" y="2876550"/>
            <a:ext cx="1671638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972050" y="2876550"/>
            <a:ext cx="1309688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990725" y="2876550"/>
            <a:ext cx="4291013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D123A5-169C-4794-9F87-6A4EC924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439FE-D181-47DC-A945-E2AD5B4F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65b7c16924fce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9A5B1-6B95-4E10-A6AA-F9D02E0D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论文结构图 · 算法层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56277-466D-428E-923B-0E75A24A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算法结构：同一份信息，支持三个时间尺度的决策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CA239-8A5C-4E7E-8FF7-1EC41E08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E26FF-9C21-4E63-9495-0BCCCCD0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D0FE9-CC2C-4FAE-8E4B-31400936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4955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任务链信息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进度与先后依赖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8B48D-8F81-4365-B4B5-BB17B7C9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047875"/>
            <a:ext cx="24955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站点与车辆信息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资源、负载、位置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F2739-7004-424C-9821-398F1605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47875"/>
            <a:ext cx="24955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移动趋势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预测交接与紧迫度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28B6A-CD8C-443C-9A1C-EEBBF81E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19450"/>
            <a:ext cx="5095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共享信息融合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 组输入 → 统一状态表示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21F27-081A-46CE-9746-C217BF9C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慢决策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模型放置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5506F-43FC-4657-BA0F-ED54A8C5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767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快决策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当前任务去向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EC3AA9-ED7B-4ABD-8C64-7FDFBF59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交接决策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下一站准备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05F1E-CE72-43B1-A2B5-9421DE07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0"/>
            <a:ext cx="2143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价值评估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长期收益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AD36D-4336-4164-B8F6-FFB5C589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一套控制方法同时处理长期资源安排、即时执行和交接事件。</a:t>
            </a:r>
          </a:p>
        </p:txBody>
      </p:sp>
    </p:spTree>
    <p:extLst>
      <p:ext uri="{BB962C8B-B14F-4D97-AF65-F5344CB8AC3E}">
        <p14:creationId xmlns:p14="http://schemas.microsoft.com/office/powerpoint/2010/main" val="6052855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C3FAC-4F57-4815-AAE4-75850854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7318F-C86C-4C59-8D30-0881A402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a61cbdf2a4489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856AE-FBF8-475D-9920-5E5B1E3F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论文方法 · 训练目标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51511-6003-4084-AE12-A25773C4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奖励设计：鼓励服务推进，也计入资源与时延成本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D293C-896C-496E-ADE7-B1030BE5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54193-EC16-415D-B91F-57B209F6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1D9C0-4023-414F-8581-3FC5FE1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6925"/>
            <a:ext cx="10591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每步得分 = 基础项 + 服务推进 + 连续执行 + 探索收益 − 等待 − 模型缺失 − 交接成本 − 约束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6DF46-39DE-41CF-BB4B-99BCB83F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3C039-FDAF-4FA8-834C-353C7B3C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49720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获得收益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完成当前步骤、交接后继续执行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173AC-7C41-4D55-8CF9-DE845F83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33775"/>
            <a:ext cx="49720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计入成本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等待时间、模型缺失与资源约束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C5FA3-A89D-4429-9BBB-9C529146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45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最终评价仍看整条任务链完成情况、时延和实际传输数据量。</a:t>
            </a:r>
          </a:p>
        </p:txBody>
      </p:sp>
    </p:spTree>
    <p:extLst>
      <p:ext uri="{BB962C8B-B14F-4D97-AF65-F5344CB8AC3E}">
        <p14:creationId xmlns:p14="http://schemas.microsoft.com/office/powerpoint/2010/main" val="17949773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25AB3-6409-4A00-B447-593623CD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D8562-6C05-4800-9684-5B51868F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2672bb3dd4f02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442FA-C163-4CAF-B6C1-E2F82ECE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论文原图 · 训练奖励收敛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88a924c8b44b2"/>
          <a:stretch xmlns:a="http://schemas.openxmlformats.org/drawingml/2006/main"/>
        </p:blipFill>
        <p:spPr>
          <a:xfrm xmlns:a="http://schemas.openxmlformats.org/drawingml/2006/main">
            <a:off x="799703" y="762000"/>
            <a:ext cx="10592594" cy="5981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709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81900" y="30956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33800" y="30956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7CF40-CC89-43E2-BD7D-838D6F19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3A055-1EC5-4E9C-B893-E5D2FA25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000fe323d46c3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E3DDB-7F4F-4C1B-A513-4B5B049F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实验设置 · 数据来源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E7BC3-D06D-4985-84B9-CAB5512B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实验数据：用真实车辆轨迹和真实任务链驱动仿真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6F040-C109-4169-929E-68DF320F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43A0B-4E1D-4776-9B40-6BC17E5B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CAE7A-05BA-4481-8AE3-CA99DB98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971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NGSIM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车辆位置、速度和移动轨迹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F3C75-582F-4034-96F9-38D855C8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62200"/>
            <a:ext cx="2971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Alibaba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任务链和步骤之间的依赖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C0FB4-5D70-4CB6-A11F-0D148BF0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971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实验设定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每一步所需的模型与状态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0F26CC-F962-431E-BF38-B2FD18BA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52950"/>
            <a:ext cx="1057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在可复现的移动场景中，观察任务链、资源和车辆交接如何相互影响。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DCEC0-2324-42D2-B1B6-F1FE5E59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数据来源分别公开；服务需求通过明确的实验映射构造。</a:t>
            </a:r>
          </a:p>
        </p:txBody>
      </p:sp>
    </p:spTree>
    <p:extLst>
      <p:ext uri="{BB962C8B-B14F-4D97-AF65-F5344CB8AC3E}">
        <p14:creationId xmlns:p14="http://schemas.microsoft.com/office/powerpoint/2010/main" val="10652162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FD368-7A36-4364-BD37-0C0B7111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02FE6-08EC-4DE4-94CE-E7E57744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830f06e644647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A1D71-F5D7-409C-B0EC-81DBEC46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实验设置 · 对照设计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E726A-465F-4501-A398-CB744352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实验设计：先测机制，再比较决策方法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3FD80-340B-43D1-948D-26DB4D78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03BBD-84D6-4624-AB37-8F8244E1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D52E7-1BDF-460E-BBF0-A43ECB6C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00250"/>
            <a:ext cx="500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资源共享 × 状态准备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67BD9-CC56-4326-A644-6BD2319A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81275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常规放置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按需执行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CD2BC-F17E-41BE-A721-549435F9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81275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共享模型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按需执行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54BCC-1B75-45D4-9F7B-AFC8C8A5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常规放置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提前准备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268A5-2526-4D59-84BA-D3D3B0A8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95725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共享模型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提前准备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6E280-A7BB-4950-92BF-68E7E09E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比较“由谁决定何时准备”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EB6CC-A582-432F-ACA6-2268DA45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81275"/>
            <a:ext cx="493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固定规则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97C64-A7A6-4090-A7BC-F8145A5C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86150"/>
            <a:ext cx="493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28F81-9EDF-495F-996D-FA3A078E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493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多时间尺度策略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48E0A-7B5C-4A1C-BBB9-72283F83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算法奖励对照已有冻结结果，见下一页；机制组合按相同指标继续评价。</a:t>
            </a:r>
          </a:p>
        </p:txBody>
      </p:sp>
    </p:spTree>
    <p:extLst>
      <p:ext uri="{BB962C8B-B14F-4D97-AF65-F5344CB8AC3E}">
        <p14:creationId xmlns:p14="http://schemas.microsoft.com/office/powerpoint/2010/main" val="7856577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02BEFA-5EB3-4009-9117-2BAFAAEE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94381-C228-494B-BE6A-D164CFBC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3a5dee1224a50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E4CAE-7E13-4136-B8DA-5F625243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实验结果 · 奖励对比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13ABF-D567-4BA9-9B7E-CE67DFF1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冻结评估：综合奖励在两组窗口均排名第一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ADA4A-466E-4008-8379-B42A44D9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0C1B2-5C56-4ED8-A2BD-38E56F7E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A8295-13CF-4E7F-8552-CC0AB71C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526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正式评估 · 20 个时间窗口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E46BE-202C-4FA3-9E45-5DE09378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90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6578C-170A-4881-AEE7-002C1EF6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428875"/>
            <a:ext cx="175502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EFF"/>
          </a:solidFill>
          <a:ln xmlns:a="http://schemas.openxmlformats.org/drawingml/2006/main" w="0">
            <a:solidFill>
              <a:srgbClr val="BDEE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FCA24-ECA2-406F-BE53-85408A88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907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26.43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04DCA-5356-4FBA-9354-8C6DB5EB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575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缓存规则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7BF1D-E9A5-4E18-8559-63498AEC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895600"/>
            <a:ext cx="1731919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18B53-C37E-4D90-8938-00C1022D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575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26.08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B96A34-FA6A-441E-BF4B-0F2569A6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242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DQN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C96DA-010E-4E33-A0E7-E5ADC277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362325"/>
            <a:ext cx="143443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52F08-5750-43E2-8E2D-26D5F449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2422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21.60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B8ACB-1514-450F-900D-2E017038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909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Dueling DQN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C7D28-8FB4-4652-96C7-6CE9EB9C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829050"/>
            <a:ext cx="1151492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DB2C07-B538-45EF-8F81-101E6547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9095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17.34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ECDF6-933C-42F7-808D-5B41D132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576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交接策略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82376D-3159-4835-B9AC-7FF7A548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295775"/>
            <a:ext cx="74238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33D4F5-3861-4778-856C-17D10098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576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11.18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E330A2-3D6F-4EDD-ACBF-74FE989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244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2FA86-C4E1-4051-9285-B93B9811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762500"/>
            <a:ext cx="61641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FE02A-1263-46F8-AC7F-24836CDD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244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9.28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F5B42F-1D75-4317-8D72-63656A68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482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较最佳对照 +0.35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33998-2A64-4080-B2A0-E24A63EF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57212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95% 区间：+0.16 至 +0.60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9FEC6-E02F-44A4-940F-8715E3FB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后续独立验证 · 15 个时间窗口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B5FD5A-EBEC-440C-B10A-4C6673A2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90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本方法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EDF8CB-F161-4F81-BE31-AE2FCFB0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28875"/>
            <a:ext cx="221400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EFF"/>
          </a:solidFill>
          <a:ln xmlns:a="http://schemas.openxmlformats.org/drawingml/2006/main" w="0">
            <a:solidFill>
              <a:srgbClr val="BDEE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F9E9AD-FAC8-4E2B-82FD-EC2A70E2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3907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33.34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DFB98B-2EB5-4F4B-B7DD-AB3EA03E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缓存规则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DB51EF-4EBD-474F-8294-93F3E67F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95600"/>
            <a:ext cx="194892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0B630C-1512-4E88-B642-E396A03D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8575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29.35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F9DF10-8DDE-45AE-A149-8053DE80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242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DQN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A3C0A8-E673-4A40-B4E2-41750599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62325"/>
            <a:ext cx="16093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0139B9-24DB-453B-A212-13A7A65D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32422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24.24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32C060-09EB-4810-AFAF-F47674AA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Dueling DQN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191FBC-0087-4CC6-8153-21A999D4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1272212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69AA40-094D-4EC5-8F12-4DE4B0C5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79095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19.16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C174E5-1030-4D19-B185-1477BE0F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576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交接策略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114960-501F-4479-85A1-0C30C90A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95775"/>
            <a:ext cx="665821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21079A-EB33-4CA9-B0FC-22A7EB5B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2576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10.03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3080DC-0FE2-4C51-AA33-2AE81F88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244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PPO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9FC4BE-FE72-4670-AAE1-14DC6D46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62500"/>
            <a:ext cx="60884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A364F1-676A-4DE4-B50E-C2801873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7244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9.17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956776-B8AE-4C2A-B714-7FC7B9F2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482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较最佳对照 +3.99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BDDF07-AB87-41D8-8F79-5AFA250F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7212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95% 区间：+2.08 至 +8.29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93B8B7-C69F-42B9-BBFB-39ECEC44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图示主要对照；原始比较共 11 种方法。本页是既有冻结算法版本的奖励结果。</a:t>
            </a:r>
          </a:p>
        </p:txBody>
      </p:sp>
    </p:spTree>
    <p:extLst>
      <p:ext uri="{BB962C8B-B14F-4D97-AF65-F5344CB8AC3E}">
        <p14:creationId xmlns:p14="http://schemas.microsoft.com/office/powerpoint/2010/main" val="12730313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42BEBD-41A7-4F88-A7D0-FC0F4D47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33BB2-45FD-4CBA-BDFC-170E2525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a4598105745cc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9D487-8D9E-432D-A155-5FDF869D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机制演示 · 资源复用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3A4C9-0793-40AC-A47D-9C0686F4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模型共享示例：连续复用时搬运量更少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5A680-E23E-4724-A093-6633C660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5605B-D117-4F64-912C-FE225372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DB220-C47D-4379-A650-07B980E3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907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四种配置均完成 72 / 72 次请求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66577-DF1D-4ACA-AA99-ABD44E96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8127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相同模型连续使用 · 共享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0B45A-53C6-4A96-927B-DE1513AE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2338917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EFF"/>
          </a:solidFill>
          <a:ln xmlns:a="http://schemas.openxmlformats.org/drawingml/2006/main" w="0">
            <a:solidFill>
              <a:srgbClr val="BDEE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698F3-4B57-4D54-B7E7-65ED3925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81275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3,264 MiB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9EE3D-508A-41EA-BDB1-2BED7C98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交替使用不同模型 · 共享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A7D48-FBAB-4C13-A831-C58966C5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4EF04-4C08-4E46-9AC9-B998BEC4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337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8,640 MiB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7F227-E662-4F55-9F3C-C133CDDB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862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相同模型连续使用 · 不共享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03AFE-2092-477C-A4F2-4E442BB5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338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47063-C20E-41D1-921D-4F13556C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086225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8,640 MiB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C13EF-0E38-409C-B443-F71BFCF1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387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交替使用不同模型 · 不共享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4A8707-EFD4-4479-AFCD-8047EFA8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8632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F983D-96BD-43BD-A380-FE93D1B2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8387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8,640 MiB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83DB1C-872E-407E-8B11-FFEA750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同完成量下，少搬运 5,376 MiB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CACD8B-8306-4962-9433-8F9EF71F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该示例说明：只有后续请求真正复用同一共享部分，资源账本才体现节省。</a:t>
            </a:r>
          </a:p>
        </p:txBody>
      </p:sp>
    </p:spTree>
    <p:extLst>
      <p:ext uri="{BB962C8B-B14F-4D97-AF65-F5344CB8AC3E}">
        <p14:creationId xmlns:p14="http://schemas.microsoft.com/office/powerpoint/2010/main" val="4453109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29500" y="2976563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52825" y="2976563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0FC7A-C6A4-403B-A88A-5D298127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20A48-0851-4C2F-A3DE-AB5F7FEA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b36fc2d654ff2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A0E40-892A-448E-9555-602A239E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机制演示 · 连续执行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AFAC6-A045-4C2E-9742-6785798E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状态接续示例：保存进度后，只执行剩余步骤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F6254-D574-4343-B1F0-C6DD8763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EDDBF-33D2-422B-801B-F3E2D1FD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A114A-F349-4B55-BC9F-7B5BFA15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1725"/>
            <a:ext cx="275272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完成第一步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保存执行进度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08DFD-63B1-43FD-BDC2-ECA7268D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71725"/>
            <a:ext cx="275272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状态包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2,040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361C5-8FF2-46BF-A977-B1C9C933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71725"/>
            <a:ext cx="275272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恢复进度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运行后续步骤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19192-D6B4-4637-9F29-4C2AF399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4895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从头运行：32.504 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828A1-E243-4B3B-B0F7-31178587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19600"/>
            <a:ext cx="4895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接续执行：21.370 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68F86-8E19-4E8A-A206-E33BD820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同机两步样例中，后续步骤输入与输出一致；时间减少 11.134 秒。</a:t>
            </a:r>
          </a:p>
        </p:txBody>
      </p:sp>
    </p:spTree>
    <p:extLst>
      <p:ext uri="{BB962C8B-B14F-4D97-AF65-F5344CB8AC3E}">
        <p14:creationId xmlns:p14="http://schemas.microsoft.com/office/powerpoint/2010/main" val="6253137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9BFB1-FB07-447E-8688-58EE6362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7C027-5278-4B4A-8F6D-474DF010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30480662c4e59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9B068-B068-490E-AA11-33CF3091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研究总结 · 四个要点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969F5-7DE3-4FAD-8F5E-DB2554EC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总结：把移动交接从“换位置”变成“接着做”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95969-310D-44B7-B0D6-E0DAC283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FDD84-3255-4957-B2F0-F2A7BBFC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56AAC-29F9-45C7-B7DB-C91BA0C6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09775"/>
            <a:ext cx="2419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联合建模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55149-A78E-47E0-B40C-8A827FE4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47875"/>
            <a:ext cx="773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把任务链、共享模型与执行进度连到跨站准备决策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13F6F-A55B-4743-9DD7-90DB12E3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86075"/>
            <a:ext cx="2419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E0FDC-B6CD-45A6-86C9-C3AED78A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24175"/>
            <a:ext cx="773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72/72 次请求完成时，共享模型少搬运 5,376 MiB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5BFD4-B495-4802-9757-DBCF3311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62375"/>
            <a:ext cx="2419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状态接续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61170-3D2C-48DB-9075-ED30F3A4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00475"/>
            <a:ext cx="773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同机两节点接续仅做后续步骤，较重跑少 11.134 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D0799-1F01-48B0-AC4B-62102848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38675"/>
            <a:ext cx="2419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奖励结果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1FEA5-8445-460A-A574-240E0881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76775"/>
            <a:ext cx="773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既有冻结评估中，两组窗口的综合奖励均居首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6A954-45A2-47AA-8E04-FEAE576B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资源、接续与奖励分别来自对应的实验设置，证据见前述页面。</a:t>
            </a:r>
          </a:p>
        </p:txBody>
      </p:sp>
    </p:spTree>
    <p:extLst>
      <p:ext uri="{BB962C8B-B14F-4D97-AF65-F5344CB8AC3E}">
        <p14:creationId xmlns:p14="http://schemas.microsoft.com/office/powerpoint/2010/main" val="11485852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DDBA5-A367-4C25-9ED1-EAAA3763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61059-D72A-4882-B323-E79F82A2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d11c647644771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AECCE-6866-43E6-96E6-9D6122A8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参考文献 · 论文来源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5DF47-D35E-4356-BB6F-F33DF308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主要参考文献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1E9BD-9B6D-4DA6-8030-CA7D7B17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F4895-B99F-4AA9-992B-EA156958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260BB-41D7-4445-ABCD-3E82DAFF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移动边缘与任务调度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AA857-D93B-489B-9CB3-7018CE6D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00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模型服务与方法基础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CD3E3-1038-48F6-A17B-94564D11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COHCTO · TMC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5B1A0-C6B9-4DFF-8061-53E349BF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LDMCO · TMC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73F4E-93C0-4057-9639-C05F688E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38525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Ly-COMA · IET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FE123-60EA-4BDD-BF35-4252BFD7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Fan 等 · TVT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71B05-9410-480E-A37C-9BF62D3A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MCMA · TMC 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2C8D8-7D88-4614-AC13-E3FFD023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MATM · TVT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79481-2E03-47D0-ABEF-972F8DAC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29225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AWTO · FGCS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D45E6-6EA7-4B41-AF20-EE7D7848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431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POLAR · arXiv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92EC5-D5F9-4A89-99CD-6D2505B1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384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SLoRA · MLSys 2024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2A80A-9B0B-45C7-8AD0-A9A95219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337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Punica · MLSys 2024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30A4C-9EE0-4CBD-9307-A15231B0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290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WfCommons · FGCS 2022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A83BF-9B68-44EA-9DD4-E2486822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5243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RUDDER · NeurIPS 2019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D37DB-BB0F-4268-BFB8-BCFB65DD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196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MAPPO · NeurIPS 2022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340823-2819-4168-977A-8B9118F3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逐篇研究内容与本文对应问题见第 2—3 页。</a:t>
            </a:r>
          </a:p>
        </p:txBody>
      </p:sp>
    </p:spTree>
    <p:extLst>
      <p:ext uri="{BB962C8B-B14F-4D97-AF65-F5344CB8AC3E}">
        <p14:creationId xmlns:p14="http://schemas.microsoft.com/office/powerpoint/2010/main" val="681242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2026-10-11T09:51:56.9590000Z</dcterms:created>
  <dcterms:modified xsi:type="dcterms:W3CDTF">2026-10-11T09:51:56.9590000Z</dcterms:modified>
</coreProperties>
</file>