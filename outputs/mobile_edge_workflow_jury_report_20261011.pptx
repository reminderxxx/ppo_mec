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b77cd6aa074ff4" /><Relationship Type="http://schemas.openxmlformats.org/officeDocument/2006/relationships/extended-properties" Target="/docProps/app.xml" Id="R82eff350e54a4e5e" /><Relationship Type="http://schemas.openxmlformats.org/officeDocument/2006/relationships/officeDocument" Target="/ppt/presentation.xml" Id="R6153aec6358149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42355ada1c4379"/>
  </p:sldMasterIdLst>
  <p:notesMasterIdLst>
    <p:notesMasterId xmlns:r="http://schemas.openxmlformats.org/officeDocument/2006/relationships" r:id="Rde16a1bcdb2c4617"/>
  </p:notesMasterIdLst>
  <p:sldIdLst>
    <p:sldId xmlns:r="http://schemas.openxmlformats.org/officeDocument/2006/relationships" id="256" r:id="R2c78b84494844f35"/>
    <p:sldId xmlns:r="http://schemas.openxmlformats.org/officeDocument/2006/relationships" id="257" r:id="R0d5ddf5714574c78"/>
    <p:sldId xmlns:r="http://schemas.openxmlformats.org/officeDocument/2006/relationships" id="258" r:id="Rebfc0eba6d664173"/>
    <p:sldId xmlns:r="http://schemas.openxmlformats.org/officeDocument/2006/relationships" id="259" r:id="R2c12f5b7f55e43c5"/>
    <p:sldId xmlns:r="http://schemas.openxmlformats.org/officeDocument/2006/relationships" id="260" r:id="R8523ed9fd7da40aa"/>
    <p:sldId xmlns:r="http://schemas.openxmlformats.org/officeDocument/2006/relationships" id="261" r:id="Rf4cf5239f53f4e04"/>
    <p:sldId xmlns:r="http://schemas.openxmlformats.org/officeDocument/2006/relationships" id="262" r:id="R75a663b198e149a5"/>
    <p:sldId xmlns:r="http://schemas.openxmlformats.org/officeDocument/2006/relationships" id="263" r:id="R9c6a893343bf4900"/>
    <p:sldId xmlns:r="http://schemas.openxmlformats.org/officeDocument/2006/relationships" id="264" r:id="R85bb6f3d563c4361"/>
    <p:sldId xmlns:r="http://schemas.openxmlformats.org/officeDocument/2006/relationships" id="265" r:id="Rfbde0a1e4e64418a"/>
    <p:sldId xmlns:r="http://schemas.openxmlformats.org/officeDocument/2006/relationships" id="266" r:id="Ra9abc3411fd748ff"/>
    <p:sldId xmlns:r="http://schemas.openxmlformats.org/officeDocument/2006/relationships" id="267" r:id="R7b9a5377e95c4479"/>
    <p:sldId xmlns:r="http://schemas.openxmlformats.org/officeDocument/2006/relationships" id="268" r:id="R5cf78f690722401d"/>
    <p:sldId xmlns:r="http://schemas.openxmlformats.org/officeDocument/2006/relationships" id="269" r:id="R945f46564fab40e3"/>
    <p:sldId xmlns:r="http://schemas.openxmlformats.org/officeDocument/2006/relationships" id="270" r:id="Rea069aae4106426b"/>
    <p:sldId xmlns:r="http://schemas.openxmlformats.org/officeDocument/2006/relationships" id="271" r:id="Raab0d961943e4ef6"/>
    <p:sldId xmlns:r="http://schemas.openxmlformats.org/officeDocument/2006/relationships" id="272" r:id="R5d72feffd694410e"/>
    <p:sldId xmlns:r="http://schemas.openxmlformats.org/officeDocument/2006/relationships" id="273" r:id="R6042f62f1b784692"/>
    <p:sldId xmlns:r="http://schemas.openxmlformats.org/officeDocument/2006/relationships" id="274" r:id="R4c3d26e432ee41de"/>
    <p:sldId xmlns:r="http://schemas.openxmlformats.org/officeDocument/2006/relationships" id="275" r:id="R9669c42d938e440b"/>
    <p:sldId xmlns:r="http://schemas.openxmlformats.org/officeDocument/2006/relationships" id="276" r:id="R1bed5e1fc85e44c7"/>
    <p:sldId xmlns:r="http://schemas.openxmlformats.org/officeDocument/2006/relationships" id="277" r:id="R78b1e460ec8447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112ce2adb24e00" /><Relationship Type="http://schemas.openxmlformats.org/officeDocument/2006/relationships/slideMaster" Target="/ppt/slideMasters/slideMaster1.xml" Id="Rad42355ada1c4379" /><Relationship Type="http://schemas.openxmlformats.org/officeDocument/2006/relationships/notesMaster" Target="/ppt/notesMasters/notesMaster1.xml" Id="Rde16a1bcdb2c4617" /><Relationship Type="http://schemas.openxmlformats.org/officeDocument/2006/relationships/presProps" Target="/ppt/presProps.xml" Id="Ree130ca391ca4a1e" /><Relationship Type="http://schemas.openxmlformats.org/officeDocument/2006/relationships/tableStyles" Target="/ppt/tableStyles.xml" Id="Rf8cc7dd8387c4a55" /><Relationship Type="http://schemas.openxmlformats.org/officeDocument/2006/relationships/slide" Target="/ppt/slides/slide1.xml" Id="R2c78b84494844f35" /><Relationship Type="http://schemas.openxmlformats.org/officeDocument/2006/relationships/slide" Target="/ppt/slides/slide2.xml" Id="R0d5ddf5714574c78" /><Relationship Type="http://schemas.openxmlformats.org/officeDocument/2006/relationships/slide" Target="/ppt/slides/slide3.xml" Id="Rebfc0eba6d664173" /><Relationship Type="http://schemas.openxmlformats.org/officeDocument/2006/relationships/slide" Target="/ppt/slides/slide4.xml" Id="R2c12f5b7f55e43c5" /><Relationship Type="http://schemas.openxmlformats.org/officeDocument/2006/relationships/slide" Target="/ppt/slides/slide5.xml" Id="R8523ed9fd7da40aa" /><Relationship Type="http://schemas.openxmlformats.org/officeDocument/2006/relationships/slide" Target="/ppt/slides/slide6.xml" Id="Rf4cf5239f53f4e04" /><Relationship Type="http://schemas.openxmlformats.org/officeDocument/2006/relationships/slide" Target="/ppt/slides/slide7.xml" Id="R75a663b198e149a5" /><Relationship Type="http://schemas.openxmlformats.org/officeDocument/2006/relationships/slide" Target="/ppt/slides/slide8.xml" Id="R9c6a893343bf4900" /><Relationship Type="http://schemas.openxmlformats.org/officeDocument/2006/relationships/slide" Target="/ppt/slides/slide9.xml" Id="R85bb6f3d563c4361" /><Relationship Type="http://schemas.openxmlformats.org/officeDocument/2006/relationships/slide" Target="/ppt/slides/slide10.xml" Id="Rfbde0a1e4e64418a" /><Relationship Type="http://schemas.openxmlformats.org/officeDocument/2006/relationships/slide" Target="/ppt/slides/slide11.xml" Id="Ra9abc3411fd748ff" /><Relationship Type="http://schemas.openxmlformats.org/officeDocument/2006/relationships/slide" Target="/ppt/slides/slide12.xml" Id="R7b9a5377e95c4479" /><Relationship Type="http://schemas.openxmlformats.org/officeDocument/2006/relationships/slide" Target="/ppt/slides/slide13.xml" Id="R5cf78f690722401d" /><Relationship Type="http://schemas.openxmlformats.org/officeDocument/2006/relationships/slide" Target="/ppt/slides/slide14.xml" Id="R945f46564fab40e3" /><Relationship Type="http://schemas.openxmlformats.org/officeDocument/2006/relationships/slide" Target="/ppt/slides/slide15.xml" Id="Rea069aae4106426b" /><Relationship Type="http://schemas.openxmlformats.org/officeDocument/2006/relationships/slide" Target="/ppt/slides/slide16.xml" Id="Raab0d961943e4ef6" /><Relationship Type="http://schemas.openxmlformats.org/officeDocument/2006/relationships/slide" Target="/ppt/slides/slide17.xml" Id="R5d72feffd694410e" /><Relationship Type="http://schemas.openxmlformats.org/officeDocument/2006/relationships/slide" Target="/ppt/slides/slide18.xml" Id="R6042f62f1b784692" /><Relationship Type="http://schemas.openxmlformats.org/officeDocument/2006/relationships/slide" Target="/ppt/slides/slide19.xml" Id="R4c3d26e432ee41de" /><Relationship Type="http://schemas.openxmlformats.org/officeDocument/2006/relationships/slide" Target="/ppt/slides/slide20.xml" Id="R9669c42d938e440b" /><Relationship Type="http://schemas.openxmlformats.org/officeDocument/2006/relationships/slide" Target="/ppt/slides/slide21.xml" Id="R1bed5e1fc85e44c7" /><Relationship Type="http://schemas.openxmlformats.org/officeDocument/2006/relationships/slide" Target="/ppt/slides/slide22.xml" Id="R78b1e460ec8447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4abedf87f44f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e1343063e3400e" /><Relationship Type="http://schemas.openxmlformats.org/officeDocument/2006/relationships/notesMaster" Target="/ppt/notesMasters/notesMaster1.xml" Id="R267571105ed94f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31f7ed9eaf4f9b" /><Relationship Type="http://schemas.openxmlformats.org/officeDocument/2006/relationships/notesMaster" Target="/ppt/notesMasters/notesMaster1.xml" Id="R6a2347bb5daf47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0a58dda8fa49c4" /><Relationship Type="http://schemas.openxmlformats.org/officeDocument/2006/relationships/notesMaster" Target="/ppt/notesMasters/notesMaster1.xml" Id="Rfb493cd944b24b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85b17678b4456e" /><Relationship Type="http://schemas.openxmlformats.org/officeDocument/2006/relationships/notesMaster" Target="/ppt/notesMasters/notesMaster1.xml" Id="R21ba3fc2cddc4c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cf4970d304453" /><Relationship Type="http://schemas.openxmlformats.org/officeDocument/2006/relationships/notesMaster" Target="/ppt/notesMasters/notesMaster1.xml" Id="R389178d84c434f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40010fdbff4605" /><Relationship Type="http://schemas.openxmlformats.org/officeDocument/2006/relationships/notesMaster" Target="/ppt/notesMasters/notesMaster1.xml" Id="R1ae17b8341d84a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beb3f5013544a1" /><Relationship Type="http://schemas.openxmlformats.org/officeDocument/2006/relationships/notesMaster" Target="/ppt/notesMasters/notesMaster1.xml" Id="R5c5b01773fec49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b409ea2e264895" /><Relationship Type="http://schemas.openxmlformats.org/officeDocument/2006/relationships/notesMaster" Target="/ppt/notesMasters/notesMaster1.xml" Id="R8b895771dbad49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42a4aa6a834e05" /><Relationship Type="http://schemas.openxmlformats.org/officeDocument/2006/relationships/notesMaster" Target="/ppt/notesMasters/notesMaster1.xml" Id="R5f33eed35fb941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178f620e644d42" /><Relationship Type="http://schemas.openxmlformats.org/officeDocument/2006/relationships/notesMaster" Target="/ppt/notesMasters/notesMaster1.xml" Id="R32c83fdd060a4d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0e9ac29fc94d0f" /><Relationship Type="http://schemas.openxmlformats.org/officeDocument/2006/relationships/notesMaster" Target="/ppt/notesMasters/notesMaster1.xml" Id="Rf37cb11227d94e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b858f213024b05" /><Relationship Type="http://schemas.openxmlformats.org/officeDocument/2006/relationships/notesMaster" Target="/ppt/notesMasters/notesMaster1.xml" Id="R0a1b6187329148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d9772761014139" /><Relationship Type="http://schemas.openxmlformats.org/officeDocument/2006/relationships/notesMaster" Target="/ppt/notesMasters/notesMaster1.xml" Id="R4819bf9778024e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6bbe2631d6e4591" /><Relationship Type="http://schemas.openxmlformats.org/officeDocument/2006/relationships/notesMaster" Target="/ppt/notesMasters/notesMaster1.xml" Id="Rc78c6f39bfdc452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3b07a3668104f98" /><Relationship Type="http://schemas.openxmlformats.org/officeDocument/2006/relationships/notesMaster" Target="/ppt/notesMasters/notesMaster1.xml" Id="R441489435ab4471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9da727e9af426b" /><Relationship Type="http://schemas.openxmlformats.org/officeDocument/2006/relationships/notesMaster" Target="/ppt/notesMasters/notesMaster1.xml" Id="R098f12f06fb64c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1db0fb353834c2b" /><Relationship Type="http://schemas.openxmlformats.org/officeDocument/2006/relationships/notesMaster" Target="/ppt/notesMasters/notesMaster1.xml" Id="Rc8db6d305a2942a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4b761cd02e44b8e" /><Relationship Type="http://schemas.openxmlformats.org/officeDocument/2006/relationships/notesMaster" Target="/ppt/notesMasters/notesMaster1.xml" Id="Rd60d1376081f42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2731723081d45b3" /><Relationship Type="http://schemas.openxmlformats.org/officeDocument/2006/relationships/notesMaster" Target="/ppt/notesMasters/notesMaster1.xml" Id="R7b76b27eab564be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0fd74c44e514528" /><Relationship Type="http://schemas.openxmlformats.org/officeDocument/2006/relationships/notesMaster" Target="/ppt/notesMasters/notesMaster1.xml" Id="R4623d5e50eb348a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de029094c0647af" /><Relationship Type="http://schemas.openxmlformats.org/officeDocument/2006/relationships/notesMaster" Target="/ppt/notesMasters/notesMaster1.xml" Id="R8f2e5f5d45424b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1dbf85c27df47a3" /><Relationship Type="http://schemas.openxmlformats.org/officeDocument/2006/relationships/notesMaster" Target="/ppt/notesMasters/notesMaster1.xml" Id="R488a98702dd540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 页｜让移动中的连续服务在路侧边缘稳定接续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依据：docs/project/system_mechanism_manuscript_working_draft.md；文献截点 2026-10-11。此稿用于研究汇报。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 页｜先看一个问题：车开过路口，服务怎样接着做？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论文工作稿第 1 节。RSU 指路侧边缘服务器；任务链具有前后依赖。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3 页｜要“接着做”，下一站需要三样东西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三项分别对应 DAG predecessor result、兼容模型与可恢复的执行状态。缓存命中不等同于整体完成。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4 页｜相关工作：任务依赖与移动迁移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 COHCTO · TMC 2025：https://doi.org/10.1109/TMC.2025.3573379</a:t>
            </a:r>
          </a:p>
          <a:p xmlns:a="http://schemas.openxmlformats.org/drawingml/2006/main">
            <a:r>
              <a:t>P2 LDMCO · TMC 2026：https://doi.org/10.1109/TMC.2025.3646450</a:t>
            </a:r>
          </a:p>
          <a:p xmlns:a="http://schemas.openxmlformats.org/drawingml/2006/main">
            <a:r>
              <a:t>P3 Ly-COMA · IET 2025：https://doi.org/10.1049/itr2.70083</a:t>
            </a:r>
          </a:p>
          <a:p xmlns:a="http://schemas.openxmlformats.org/drawingml/2006/main">
            <a:r>
              <a:t>P4 Fan 等 · TVT 2024：https://doi.org/10.1109/TVT.2023.3310520</a:t>
            </a:r>
          </a:p>
          <a:p xmlns:a="http://schemas.openxmlformats.org/drawingml/2006/main">
            <a:r>
              <a:t>P5 MCMA · TMC 2025：https://doi.org/10.1109/TMC.2025.3539945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5 页｜相关工作：预测、模型缓存与移动服务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P6 MATM · TVT 2026：https://doi.org/10.1109/TVT.2026.3660321</a:t>
            </a:r>
          </a:p>
          <a:p xmlns:a="http://schemas.openxmlformats.org/drawingml/2006/main">
            <a:r>
              <a:t>P7 AWTO · FGCS 2026：https://doi.org/10.1016/j.future.2026.108415</a:t>
            </a:r>
          </a:p>
          <a:p xmlns:a="http://schemas.openxmlformats.org/drawingml/2006/main">
            <a:r>
              <a:t>P8 POLAR · arXiv 2026：https://arxiv.org/abs/2604.16583</a:t>
            </a:r>
          </a:p>
          <a:p xmlns:a="http://schemas.openxmlformats.org/drawingml/2006/main">
            <a:r>
              <a:t>P9 SLoRA · MLSys 2024：https://proceedings.mlsys.org/paper_files/paper/2024/hash/906419cd502575b617cc489a1a696a67-Abstract-Conference.html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6 页｜相关工作：模型服务与方法基础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P10 Punica · MLSys 2024：https://proceedings.mlsys.org/paper_files/paper/2024/hash/054de805fcceb78a201f5e9d53c85908-Abstract-Conference.html</a:t>
            </a:r>
          </a:p>
          <a:p xmlns:a="http://schemas.openxmlformats.org/drawingml/2006/main">
            <a:r>
              <a:t>P11 WfCommons · FGCS 2022：https://doi.org/10.1016/j.future.2021.09.043</a:t>
            </a:r>
          </a:p>
          <a:p xmlns:a="http://schemas.openxmlformats.org/drawingml/2006/main">
            <a:r>
              <a:t>P12 RUDDER · NeurIPS 2019：https://papers.neurips.cc/paper_files/paper/2019/hash/16105fb9cc614fc29e1bda00dab60d41-Abstract.html</a:t>
            </a:r>
          </a:p>
          <a:p xmlns:a="http://schemas.openxmlformats.org/drawingml/2006/main">
            <a:r>
              <a:t>P13 MAPPO · NeurIPS 2022：https://arxiv.org/abs/2103.01955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7 页｜横向对比：我们的研究把五个问题连在一起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●=论文公开研究直接涉及；◐=相邻或部分；—=非核心。本研究一行表示研究问题的覆盖范围，不表示每项效果已由正式实验确认。出处见前 3 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8 页｜我们的工作：把“准备什么、何时准备、在哪里准备”统一考虑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依据论文工作稿的系统模型与方法设计。此页描述研究框架，不作为优越性结论。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9 页｜研究问题：怎样让准备工作真正帮助任务完成？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论文工作稿第 1 节。三问分别对应共享复用、交接准备和控制方法；问题是待检验命题。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页｜方法直觉：先看下一步，再准备下一站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依据论文第 3 节：依赖前沿、目标站资源账本、增量准备、交接后继续。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页｜什么时候提前准备？看三个可观测因素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概念性决策因素：handoff timing、目标端现有资源、增量字节与容量。此页不是实验结果。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12 页｜系统结构：数据、路侧环境与控制方法形成闭环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 docs/project/advisor_report_briefing_20260621.md 的系统 Mermaid 图和论文工作稿重绘。NGSIM 与 Alibaba 分别提供轨迹和工作流。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页｜资源模型：共享部分只搬一次，专用部分按需补齐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3 节。base、adapter、workflow state 为不同对象；增量成本按目标站尚未驻留的唯一对象计。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14 页｜控制方法有五种实际选择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对应当前环境的五类 semantic actions。页面采用面向报告的语义名称，不展示代码编号。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15 页｜算法结构：同一份信息，支持三个时间尺度的决策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 docs/project/advisor_report_briefing_20260621.md 与论文第 4 节重绘：7 个 64 维输入块，经 448→128→64 融合，输出 slow/fast/event decisions 和价值估计。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16 页｜奖励设计：鼓励服务推进，也计入资源与时延成本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src/envs/core/vec_workflow_core_env.py:416-577。展示 RewardBreakdown 的简化分组。真实传输字节未直接从 reward 中扣除，应在系统评价中另报。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17 页｜实验数据：用真实车辆轨迹和真实任务链驱动仿真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5.1 节。NGSIM 提供 mobility trace；Alibaba 提供 workflow DAG。二者并非同一现场联合观测；服务所需模型按实验设定映射。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18 页｜实验设计：先测机制，再比较决策方法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5.2/5.3 节。左侧四种机制组合是确认性实验设计，并非当前已完成的正式比较结果。右侧算法比较需使用一致观测、动作和训练预算。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19 页｜模型共享示例：连续复用时搬运量更少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来源：artifacts/analysis/mechanism_evidence_closure_20261005_v1/。四种配置均完成72/72请求。数字是机制级资源账本，非实际无线链路吞吐。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20 页｜状态接续示例：保存进度后，只执行剩余步骤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来源：artifacts/analysis/two_node_workflow_reexecution_comparison_20261005_v1/。两节点、同机、单次技术样例；状态包 2,040 B，输出与从头运行一致。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21 页｜总结：把移动交接从“换位置”变成“接着做”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研究框架与机制证据摘要。正式跨 RSU 端到端效果应以未来完整独立实验表述，不在此页宣称。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22 页｜主要参考文献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文献截点：2026-10-11。完整 DOI/URL：</a:t>
            </a:r>
          </a:p>
          <a:p xmlns:a="http://schemas.openxmlformats.org/drawingml/2006/main">
            <a:r>
              <a:t>P1 COHCTO · TMC 2025：https://doi.org/10.1109/TMC.2025.3573379</a:t>
            </a:r>
          </a:p>
          <a:p xmlns:a="http://schemas.openxmlformats.org/drawingml/2006/main">
            <a:r>
              <a:t>P2 LDMCO · TMC 2026：https://doi.org/10.1109/TMC.2025.3646450</a:t>
            </a:r>
          </a:p>
          <a:p xmlns:a="http://schemas.openxmlformats.org/drawingml/2006/main">
            <a:r>
              <a:t>P3 Ly-COMA · IET 2025：https://doi.org/10.1049/itr2.70083</a:t>
            </a:r>
          </a:p>
          <a:p xmlns:a="http://schemas.openxmlformats.org/drawingml/2006/main">
            <a:r>
              <a:t>P4 Fan 等 · TVT 2024：https://doi.org/10.1109/TVT.2023.3310520</a:t>
            </a:r>
          </a:p>
          <a:p xmlns:a="http://schemas.openxmlformats.org/drawingml/2006/main">
            <a:r>
              <a:t>P5 MCMA · TMC 2025：https://doi.org/10.1109/TMC.2025.3539945</a:t>
            </a:r>
          </a:p>
          <a:p xmlns:a="http://schemas.openxmlformats.org/drawingml/2006/main">
            <a:r>
              <a:t>P6 MATM · TVT 2026：https://doi.org/10.1109/TVT.2026.3660321</a:t>
            </a:r>
          </a:p>
          <a:p xmlns:a="http://schemas.openxmlformats.org/drawingml/2006/main">
            <a:r>
              <a:t>P7 AWTO · FGCS 2026：https://doi.org/10.1016/j.future.2026.108415</a:t>
            </a:r>
          </a:p>
          <a:p xmlns:a="http://schemas.openxmlformats.org/drawingml/2006/main">
            <a:r>
              <a:t>P8 POLAR · arXiv 2026：https://arxiv.org/abs/2604.16583</a:t>
            </a:r>
          </a:p>
          <a:p xmlns:a="http://schemas.openxmlformats.org/drawingml/2006/main">
            <a:r>
              <a:t>P9 SLoRA · MLSys 2024：https://proceedings.mlsys.org/paper_files/paper/2024/hash/906419cd502575b617cc489a1a696a67-Abstract-Conference.html</a:t>
            </a:r>
          </a:p>
          <a:p xmlns:a="http://schemas.openxmlformats.org/drawingml/2006/main">
            <a:r>
              <a:t>P10 Punica · MLSys 2024：https://proceedings.mlsys.org/paper_files/paper/2024/hash/054de805fcceb78a201f5e9d53c85908-Abstract-Conference.html</a:t>
            </a:r>
          </a:p>
          <a:p xmlns:a="http://schemas.openxmlformats.org/drawingml/2006/main">
            <a:r>
              <a:t>P11 WfCommons · FGCS 2022：https://doi.org/10.1016/j.future.2021.09.043</a:t>
            </a:r>
          </a:p>
          <a:p xmlns:a="http://schemas.openxmlformats.org/drawingml/2006/main">
            <a:r>
              <a:t>P12 RUDDER · NeurIPS 2019：https://papers.neurips.cc/paper_files/paper/2019/hash/16105fb9cc614fc29e1bda00dab60d41-Abstract.html</a:t>
            </a:r>
          </a:p>
          <a:p xmlns:a="http://schemas.openxmlformats.org/drawingml/2006/main">
            <a:r>
              <a:t>P13 MAPPO · NeurIPS 2022：https://arxiv.org/abs/2103.01955</a:t>
            </a:r>
          </a:p>
          <a:p xmlns:a="http://schemas.openxmlformats.org/drawingml/2006/main">
            <a:r>
              <a:t>方法与数值来源：docs/project/system_mechanism_manuscript_working_draft.md；artifacts/analysis/mechanism_evidence_closure_20261005_v1/；artifacts/analysis/two_node_workflow_reexecution_comparison_20261005_v1/。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f0752c57f43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c38dac69b4449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ea26797a93486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81c56eeb44f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92b5089c8a4e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24d7cd3fd44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24EBA01-8965-4981-B6F7-0C7E985F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A569ED1-47FE-41A0-B3AF-691B08146D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E70BCC1-5E0D-42EF-A849-68953514205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AC9C38D-326E-477B-8992-413F2F62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FA1D44A-3473-40A9-A46F-2CD73FDEDD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F058393-9002-475F-AFE1-BD193595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994C762-5906-4E25-B3F6-8B85B4F208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164F23D9-F5FE-4A8A-AAD1-246C4C5D6D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297CCDF-6AD2-459A-B62B-BA6B6512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D89FFD6-A23C-4AE2-9F5D-BECE6301CC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2D0CF74-74EA-4AA9-83E6-A154F8FB7A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AAAAF1-9336-4DDF-893A-8321ACA13A6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43E0EB7-C581-4701-99DB-3FDFA1C8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61FF257-8F04-425C-94B0-4C2B0A4B16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1858420-1C23-4494-B681-5B0C37838D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b976374cdb4966" /><Relationship Type="http://schemas.openxmlformats.org/officeDocument/2006/relationships/slideLayout" Target="/ppt/slideLayouts/slideLayout1.xml" Id="Rbe8e5681d302471a" /><Relationship Type="http://schemas.openxmlformats.org/officeDocument/2006/relationships/slideLayout" Target="/ppt/slideLayouts/slideLayout2.xml" Id="R3914679e3c8c4a8e" /><Relationship Type="http://schemas.openxmlformats.org/officeDocument/2006/relationships/slideLayout" Target="/ppt/slideLayouts/slideLayout3.xml" Id="R209e64aae00f445b" /><Relationship Type="http://schemas.openxmlformats.org/officeDocument/2006/relationships/slideLayout" Target="/ppt/slideLayouts/slideLayout4.xml" Id="Rff0d47173d924491" /><Relationship Type="http://schemas.openxmlformats.org/officeDocument/2006/relationships/slideLayout" Target="/ppt/slideLayouts/slideLayout5.xml" Id="R8a7743522f2f41f2" /><Relationship Type="http://schemas.openxmlformats.org/officeDocument/2006/relationships/slideLayout" Target="/ppt/slideLayouts/slideLayout6.xml" Id="R3adb97f4a35447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8e5681d302471a"/>
    <p:sldLayoutId xmlns:r="http://schemas.openxmlformats.org/officeDocument/2006/relationships" id="2147483650" r:id="R3914679e3c8c4a8e"/>
    <p:sldLayoutId xmlns:r="http://schemas.openxmlformats.org/officeDocument/2006/relationships" id="2147483651" r:id="R209e64aae00f445b"/>
    <p:sldLayoutId xmlns:r="http://schemas.openxmlformats.org/officeDocument/2006/relationships" id="2147483652" r:id="Rff0d47173d924491"/>
    <p:sldLayoutId xmlns:r="http://schemas.openxmlformats.org/officeDocument/2006/relationships" id="2147483653" r:id="R8a7743522f2f41f2"/>
    <p:sldLayoutId xmlns:r="http://schemas.openxmlformats.org/officeDocument/2006/relationships" id="2147483654" r:id="R3adb97f4a35447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f3b1e7f11e4030" /><Relationship Type="http://schemas.openxmlformats.org/officeDocument/2006/relationships/image" Target="/ppt/media/image.png" Id="Rb391ce61011f4d56" /><Relationship Type="http://schemas.openxmlformats.org/officeDocument/2006/relationships/notesSlide" Target="/ppt/notesSlides/notesSlide1.xml" Id="Rab72231687614d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b2abce6f4847ef" /><Relationship Type="http://schemas.openxmlformats.org/officeDocument/2006/relationships/image" Target="/ppt/media/image2.png" Id="R9aa7cac677c045d0" /><Relationship Type="http://schemas.openxmlformats.org/officeDocument/2006/relationships/notesSlide" Target="/ppt/notesSlides/notesSlide2.xml" Id="R415cfca82cfe40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030fcc3f884472" /><Relationship Type="http://schemas.openxmlformats.org/officeDocument/2006/relationships/image" Target="/ppt/media/image3.png" Id="R1299e2fe53d24bf3" /><Relationship Type="http://schemas.openxmlformats.org/officeDocument/2006/relationships/notesSlide" Target="/ppt/notesSlides/notesSlide3.xml" Id="R5b72f3c5811d4c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898c20123840aa" /><Relationship Type="http://schemas.openxmlformats.org/officeDocument/2006/relationships/image" Target="/ppt/media/image4.png" Id="R1236bb702f5a47ed" /><Relationship Type="http://schemas.openxmlformats.org/officeDocument/2006/relationships/notesSlide" Target="/ppt/notesSlides/notesSlide4.xml" Id="R93670d1e29c146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fdccbaf4964690" /><Relationship Type="http://schemas.openxmlformats.org/officeDocument/2006/relationships/image" Target="/ppt/media/image5.png" Id="R94649abc43e64d91" /><Relationship Type="http://schemas.openxmlformats.org/officeDocument/2006/relationships/notesSlide" Target="/ppt/notesSlides/notesSlide5.xml" Id="R9511bb64ae8644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757ed96cf646c3" /><Relationship Type="http://schemas.openxmlformats.org/officeDocument/2006/relationships/image" Target="/ppt/media/image6.png" Id="Rf49f562836e340bd" /><Relationship Type="http://schemas.openxmlformats.org/officeDocument/2006/relationships/notesSlide" Target="/ppt/notesSlides/notesSlide6.xml" Id="Rc8404b2b94204d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b5f0130c7742bf" /><Relationship Type="http://schemas.openxmlformats.org/officeDocument/2006/relationships/image" Target="/ppt/media/image7.png" Id="R6cf53ddf1cc94ea1" /><Relationship Type="http://schemas.openxmlformats.org/officeDocument/2006/relationships/notesSlide" Target="/ppt/notesSlides/notesSlide7.xml" Id="R5f9f6a8dbf0c42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3c5244147e42fa" /><Relationship Type="http://schemas.openxmlformats.org/officeDocument/2006/relationships/image" Target="/ppt/media/image8.png" Id="Rdcf76a526014480e" /><Relationship Type="http://schemas.openxmlformats.org/officeDocument/2006/relationships/notesSlide" Target="/ppt/notesSlides/notesSlide8.xml" Id="R6dd0ad6c39ca41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b21f58d9844a25" /><Relationship Type="http://schemas.openxmlformats.org/officeDocument/2006/relationships/image" Target="/ppt/media/image9.png" Id="Rbe4edc0528754b7c" /><Relationship Type="http://schemas.openxmlformats.org/officeDocument/2006/relationships/notesSlide" Target="/ppt/notesSlides/notesSlide9.xml" Id="Re99b7cae74864c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0ceb9d7bd848c6" /><Relationship Type="http://schemas.openxmlformats.org/officeDocument/2006/relationships/image" Target="/ppt/media/image10.png" Id="R4c568fa8a7f94019" /><Relationship Type="http://schemas.openxmlformats.org/officeDocument/2006/relationships/notesSlide" Target="/ppt/notesSlides/notesSlide10.xml" Id="R3d03595d902e4c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8528bab9684b22" /><Relationship Type="http://schemas.openxmlformats.org/officeDocument/2006/relationships/image" Target="/ppt/media/image11.png" Id="R50ad7236772d4687" /><Relationship Type="http://schemas.openxmlformats.org/officeDocument/2006/relationships/notesSlide" Target="/ppt/notesSlides/notesSlide11.xml" Id="R8391a452ceb14c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06892052b7420b" /><Relationship Type="http://schemas.openxmlformats.org/officeDocument/2006/relationships/image" Target="/ppt/media/image12.png" Id="R48e0766939e14002" /><Relationship Type="http://schemas.openxmlformats.org/officeDocument/2006/relationships/notesSlide" Target="/ppt/notesSlides/notesSlide12.xml" Id="Ra3efe5e0dd4b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881de01ae341c7" /><Relationship Type="http://schemas.openxmlformats.org/officeDocument/2006/relationships/image" Target="/ppt/media/image13.png" Id="R1642d0d7742e4a53" /><Relationship Type="http://schemas.openxmlformats.org/officeDocument/2006/relationships/notesSlide" Target="/ppt/notesSlides/notesSlide13.xml" Id="R337995509630459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d7c2b9917f49cd" /><Relationship Type="http://schemas.openxmlformats.org/officeDocument/2006/relationships/image" Target="/ppt/media/image14.png" Id="R8b672e2dea864069" /><Relationship Type="http://schemas.openxmlformats.org/officeDocument/2006/relationships/notesSlide" Target="/ppt/notesSlides/notesSlide14.xml" Id="R6127187c687f4b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0ad93a9d79449d" /><Relationship Type="http://schemas.openxmlformats.org/officeDocument/2006/relationships/image" Target="/ppt/media/image15.png" Id="R8a5b644eb0ff45cd" /><Relationship Type="http://schemas.openxmlformats.org/officeDocument/2006/relationships/notesSlide" Target="/ppt/notesSlides/notesSlide15.xml" Id="Rb7e4df3e847d44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b50f0c43b3417e" /><Relationship Type="http://schemas.openxmlformats.org/officeDocument/2006/relationships/image" Target="/ppt/media/image16.png" Id="Rf007f7c2a8874038" /><Relationship Type="http://schemas.openxmlformats.org/officeDocument/2006/relationships/notesSlide" Target="/ppt/notesSlides/notesSlide16.xml" Id="Rcc00a470d9414bb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768827f8bd452d" /><Relationship Type="http://schemas.openxmlformats.org/officeDocument/2006/relationships/image" Target="/ppt/media/image17.png" Id="R3b9162dac8274452" /><Relationship Type="http://schemas.openxmlformats.org/officeDocument/2006/relationships/notesSlide" Target="/ppt/notesSlides/notesSlide17.xml" Id="R96e7c8bf4d10457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8a426cc8fc4b56" /><Relationship Type="http://schemas.openxmlformats.org/officeDocument/2006/relationships/image" Target="/ppt/media/image18.png" Id="R4840c78ab75d4240" /><Relationship Type="http://schemas.openxmlformats.org/officeDocument/2006/relationships/notesSlide" Target="/ppt/notesSlides/notesSlide18.xml" Id="R6d8f369d0ead4b2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a6d07db1334573" /><Relationship Type="http://schemas.openxmlformats.org/officeDocument/2006/relationships/image" Target="/ppt/media/image19.png" Id="Rd3826454b19946f0" /><Relationship Type="http://schemas.openxmlformats.org/officeDocument/2006/relationships/notesSlide" Target="/ppt/notesSlides/notesSlide19.xml" Id="R67d54b9c1dc9467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af6c2a0e934459" /><Relationship Type="http://schemas.openxmlformats.org/officeDocument/2006/relationships/image" Target="/ppt/media/image20.png" Id="R11bc49d8a2734d7c" /><Relationship Type="http://schemas.openxmlformats.org/officeDocument/2006/relationships/notesSlide" Target="/ppt/notesSlides/notesSlide20.xml" Id="R5d90c76d170347f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cff4494e8d4450" /><Relationship Type="http://schemas.openxmlformats.org/officeDocument/2006/relationships/image" Target="/ppt/media/image21.png" Id="R4bb3a8f179024410" /><Relationship Type="http://schemas.openxmlformats.org/officeDocument/2006/relationships/notesSlide" Target="/ppt/notesSlides/notesSlide21.xml" Id="R0cba7438324d49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495cd415c34299" /><Relationship Type="http://schemas.openxmlformats.org/officeDocument/2006/relationships/image" Target="/ppt/media/image22.png" Id="Re308d657a11d41b9" /><Relationship Type="http://schemas.openxmlformats.org/officeDocument/2006/relationships/notesSlide" Target="/ppt/notesSlides/notesSlide22.xml" Id="Rfac5bf7026c944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B9196-9601-4143-836D-BC6A5D02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52552-EA69-4CF1-AE00-42F1F516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91ce61011f4d56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101EB-5B38-4842-8509-C873C42A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7C24C5-3E7E-461A-9E07-9EA357EC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让移动中的连续服务在路侧边缘稳定接续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34F80-8350-48DB-952C-ED410732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01A4C-7159-4C5E-9A0C-539E262E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4FCB33-D9D7-428D-9F2B-A2438A0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E7F0A-CEC1-495F-9956-DBF9228F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模型复用与执行状态协同准备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A47A-EDCA-490D-B434-DC2D5BCF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90900"/>
            <a:ext cx="10382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相关工作 · 系统方法 · 实验与发现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697E4-6966-43A5-81A4-5CACB53F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957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E63CB-D43F-4C68-A243-E9CD476F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1038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Dependency-Aware Preparation for Mobile Edge Workflows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78B71E-30E6-423E-8BEF-1E21E738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研究汇报｜2026 年 10 月</a:t>
            </a:r>
          </a:p>
        </p:txBody>
      </p:sp>
    </p:spTree>
    <p:extLst>
      <p:ext uri="{BB962C8B-B14F-4D97-AF65-F5344CB8AC3E}">
        <p14:creationId xmlns:p14="http://schemas.microsoft.com/office/powerpoint/2010/main" val="1566886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924675" y="30765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429000" y="30765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96E82-E22A-4D5D-86A8-1FFDF129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890FC-F36A-4C16-8565-EC289FB6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7cac677c045d0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B1812-1C23-41D2-B68C-F9EF1F0C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一分钟理解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EE4DF2-EE6E-471D-A969-6B5DDAD2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先看一个问题：车开过路口，服务怎样接着做？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77F1E-A644-40D1-959C-526EC73E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65A03-FF60-4AA1-9319-AF3CA7B0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F6AB5-1075-48B8-976E-488E8487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0DCA4C-0BCA-40C9-B48E-9FBDED05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2647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路侧站 A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完成前一步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4D216-F71D-44A7-8D8C-DB46165F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62225"/>
            <a:ext cx="2352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车辆驶向下一站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C70EC-DA87-4FC7-93AA-314E85C8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562225"/>
            <a:ext cx="3276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路侧站 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继续下一步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E459E3-F142-4655-BF6B-3AEB522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042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我们关注的不是一次任务放在哪里，而是整条服务链能否连续完成。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87114-47C1-4C7A-A0A0-4FA9050A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路侧站：靠近车辆部署的边缘服务器；连续服务：后一步要使用前一步的结果。</a:t>
            </a:r>
          </a:p>
        </p:txBody>
      </p:sp>
    </p:spTree>
    <p:extLst>
      <p:ext uri="{BB962C8B-B14F-4D97-AF65-F5344CB8AC3E}">
        <p14:creationId xmlns:p14="http://schemas.microsoft.com/office/powerpoint/2010/main" val="15202782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72375" y="33909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771900" y="33909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439757-5C8A-4CFF-8036-E9A8FFBE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6AA16-69A9-4B41-BCA8-293CA956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9e2fe53d24bf3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BDC15-8376-4AF5-88D4-8DA39410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问题分解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B89D9-6DDB-4605-93CC-B54EA8A6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要“接着做”，下一站需要三样东西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67A16-5DAC-4D0F-9E4B-46A0E81E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FAE30D-EF6C-42FF-B3D1-E3FB8247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EE39B-5D4A-4E50-B4EB-61CA2649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3AAB95-4F02-4763-B1B0-8F63C810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① 前一步的结果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知道任务做到哪里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3A4667-049F-4BCB-846D-54357BD2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② 可用的模型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具备执行下一步的能力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820D9-5850-4FF5-A41E-F648714A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③ 运行时状态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能从断点继续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E3AA54-EE65-4F9E-B096-98397DB5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0062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这三件事必须在同一个交接窗口内相互配合。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A19491-0B62-4595-869C-832A29F6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“有先后依赖的工作流”在论文中记为 DAG。</a:t>
            </a:r>
          </a:p>
        </p:txBody>
      </p:sp>
    </p:spTree>
    <p:extLst>
      <p:ext uri="{BB962C8B-B14F-4D97-AF65-F5344CB8AC3E}">
        <p14:creationId xmlns:p14="http://schemas.microsoft.com/office/powerpoint/2010/main" val="10067685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C3D8D5-2C8D-43DA-B64C-2B773024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E5A9C-081C-4668-A476-AA095914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6bb702f5a47ed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E477A-9821-4F2A-BFFB-3D18CFB7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1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24EF1-76BF-42F6-A9ED-DB035B16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相关工作：任务依赖与移动迁移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FFC23-2588-4A76-8AB9-816BCB97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3C1D3-A9D7-4267-9AE7-D6C4F11F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2D887-0313-47B1-BA06-869FDF66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4A992-EB10-4AA9-AD2B-BCE3D0FD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04D5E3-ACBB-4890-803D-A9545F55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86190-0A47-4EE3-81A9-9AEF2A79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BF770-CA3C-475C-9188-01DD2C3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CADA2A-A3A9-440A-B5D2-CCD5B538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COHCTO · TMC 2025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49E245-7153-4E76-8A6D-17DFF2E9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把任务依赖和服务缓存一起纳入卸载。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3F901-D3A7-430A-A7FF-4A53CD8B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继续研究交接时，模型组件与执行进度如何一同到位。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B08D22-633C-4BA3-B142-2411031B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356199-8EF6-404D-8DFB-721C1523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0375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LDMCO · TMC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E14EF-CEBF-4A05-8E2D-EA200619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00375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针对有先后顺序的任务，优化数据依赖与执行时机。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986982-7DFE-4A9F-9D78-07B4F190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00375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进一步研究任务跨路侧站后，已完成的进度如何保留。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BF8F85-683B-465E-9469-461CC088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61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12643-2369-41CE-ADCB-173A0F98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Ly-COMA · IET 2025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54FA1-444C-488C-A3E0-FC1ADA0E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69570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把有依赖的子任务与跨边缘迁移放在一起。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FD64D2-3E3A-433D-8880-5C9722AE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69570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进一步区分共享模型、专用模块与执行状态的准备。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83A705-B05B-479E-9FAE-CF6B5E95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6F5D91-39A7-463D-ADD3-87B9039A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Fan 等 · TVT 2024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3F5D3-3CFA-48C1-B340-34D6896B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91025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利用车辆携带依赖结果，支持无回传链路迁移。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D505F6-0F3C-40BC-95DE-18539FA2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391025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进一步研究模型复用与准备开销、完成量的关系。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28C741-882A-47BD-87A0-09F79D00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F4738C-F933-4988-A1EA-87D9F817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MCMA · TMC 2025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0353CB-0336-478B-98D2-28D9051A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08635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用轨迹预测指导任务迁移和卸载。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E56D31-5001-4B45-8123-2F03A83A6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08635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进一步关注整条任务链跨站继续，而不只决定迁往哪里。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AEC293-1F9C-4A36-A617-B3B7B78C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19618263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DE667A-566A-4CC2-BADF-9C2F0613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99568-5B83-4059-B929-5AE20B98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649abc43e64d91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409BB-B51D-49AD-BC9F-3D1BDCAB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2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792135-CFCC-400F-BF69-9FBB326A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相关工作：预测、模型缓存与移动服务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0385C-66FC-4BAB-93CD-982D8AF0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D7B8B-631B-4F20-9E9F-44241EE2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6D874-DBBA-424A-8A70-4F636C04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8A491-9BBB-4A06-806C-C19693E6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674E70-5ECD-442C-A4AB-D3CF4192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81E5D-6BC2-4DB3-82F5-3F53BEB9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3B4B7-2597-4046-A04C-5B637D54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14B1C-AC30-48A1-9598-59B122AB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MATM · TVT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D7E606-E1FA-4B07-B378-13EF2612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结合轨迹预测、任务迁移与资源分配。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49CEF-B9A6-4882-B674-76F21C49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进一步让目标站的模型与后续执行所需状态共同就绪。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EEA239-9820-4CE2-B870-DD3D8615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04B0AE-1369-4F5E-B09E-0D9CA574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AWTO · FGCS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49F7E2-D2DF-4E0E-8521-380DA38D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623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在边缘集群中联动工作流调度、模型加载与内存。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7186A5-E688-4378-9D5F-9E347493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进一步处理车辆移动造成的路侧站交接。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7CFF6E-1EE2-4301-9F11-49704F64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7DEE7D-6041-4052-B3D1-F94F6C4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POLAR · arXiv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FFC8BD-A60A-47FE-8459-0516BBA4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0195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联合管理专用模型模块的缓存与请求路由。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DD3B21-F20F-41EC-9099-863A4752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0195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进一步纳入任务先后依赖、车辆移动和中途继续执行。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761DD9-C1C3-4520-A63E-1656F5F0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C4FCE7-A50B-41CF-A463-177307E6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SLoRA · MLSys 2024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ED9179-8964-45F3-9A7E-2B48050D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8768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一份共享模型支持大量专用模块的高效服务。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30E346-EA7C-428D-93A8-B5898302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8768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进一步决定跨站交接前，哪些组件值得提前准备。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8F4385-EFB6-468A-86B0-1F92C3F6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15794591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2463E3-9156-42C5-8168-A5C981D5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04776-EBED-4E71-A3F0-F39628DA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9f562836e340bd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296A86-831A-4F08-91DF-2963F657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3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EA67D-C412-45AE-8453-3CE3336C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相关工作：模型服务与方法基础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C6571-2266-42F3-9B6C-5C47FEE6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A0B0C-06E2-40BC-8739-772F5EB6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24D79-7890-420C-93EB-4FBB0692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D84CEF-F600-4923-A2EC-74D8A431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334CF-2896-4F04-8547-6FDEDC7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A2975D-4628-453E-A38B-20D29EFA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FEE0D-6B3D-4431-A6C1-6F9756C7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81CB1-9989-448A-9BED-44A9CDE5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Punica · MLSys 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8C93B0-C079-4E15-933C-5BE947AB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利用共享模型服务多个专用模块请求。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74B66-2A01-4819-8424-F9260D84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进一步研究车辆移动时的模块放置与后续任务执行。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C42693-1F77-44BD-A63F-D5FD1075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57205-3BDB-4977-8B1B-36FE1E2D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WfCommons · FGCS 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BAFBCC-48B0-4606-889F-73EBD79C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623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分析并生成具有真实结构特征的工作流。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C671E7-3B41-49EB-B857-8EAF889F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进一步把工作流结构与车辆轨迹、路侧资源联系起来。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225A9C-9C25-4BA1-9C12-33AAF2E6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C68CE0-8A6D-4DFB-9685-F70B9946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RUDDER · NeurIPS 2019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11C509-BEA0-46EC-AFF5-490074BD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0195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研究长期任务中如何分配延迟到来的奖励。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E5A2AC-6602-4CDE-ADA1-CE25341C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0195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进一步落到模型准备、交接与传输开销的具体系统问题。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B932D1-89D8-439D-8B83-922C46E9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D84CC3-1A1D-4CC3-860D-02358A87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MAPPO · NeurIPS 2022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D73A5B-121A-40F2-9BDE-956DC03C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8768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提供合作式强化学习的基线方法与经验。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1F0D1B-9798-4F58-B863-D852F1E8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8768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进一步建立车辆、路侧站和连续工作流的系统模型。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9A2F08-00A0-49B2-B4BF-CA50D45B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10417546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BC2546A-3083-47FB-B2C6-C794058A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63CAF-9B49-4A72-9D9C-FC8D0801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53ddf1cc94ea1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61B01-C6CE-4DC1-A72B-66B219C7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文献定位 · 研究范围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E5F01-7323-4751-96D0-00CE24E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横向对比：我们的研究把五个问题连在一起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5666A-1643-4A2F-95DC-ABE937C3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A1FBE-7E5C-46E6-B01B-590ADBE2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3CA1C-1D67-43DE-AA72-5707D605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50229E-3E96-455F-B8F3-C9C76B73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29241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1E2517-DFFF-4A57-B275-ECB48F8F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24050"/>
            <a:ext cx="15049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任务依赖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F74D8-4FF2-412C-8395-5A0A9068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模型复用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5EF2FF-9EAB-4DAA-A0D3-664D6733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车辆移动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DB2EA-82FA-4C54-8C13-8CE8EA30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状态续接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7A7A4D-6912-4453-B38A-6AD82302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24050"/>
            <a:ext cx="1714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联合决策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DD69A-C5F0-42B6-802B-BE252045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145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P1 COHCTO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BDB045-F729-4DA4-A4FE-45B22ECC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EF0E3B-4543-4C11-862A-2ED5DC38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424AFE-7CB9-4142-BF0B-5B62DBFB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ACE7BB-1F69-46E1-9A7A-2816A48E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7CD3E5-BC76-418E-9990-FCBC81FC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14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B9900C-8982-4F50-813F-476C7CC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25A5A1-21DE-4D76-9641-D2B3D089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P2 LDMCO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9C91E6-0B11-44FB-B68C-B433129A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479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90A0A8-660B-4AED-B0D1-41149762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651E7A-E5A0-4AE0-A3FB-31E1ABD8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1F328E-B2B0-4232-A308-8B05083D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AC3581-FEAC-489E-A8CE-2316FA5B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47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223AE9-654D-4E8B-B224-5AD27EE5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682BCA-EBBD-42F5-B129-E43EB939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P3 Ly-COMA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45394E-F725-4815-A903-363208C4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8132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12006A-C5D0-46C0-8E18-0E44F7FA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DF1485-4CA0-41C3-B250-053D29A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235CD5-4EA1-49A3-9C56-8443EE57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0B8C09-2F9A-4395-9923-A66A7518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813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390B59-E857-47A1-9175-139C0A32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D0CCAD-5507-4527-BD93-66CDF31F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P4 Fan 迁移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C4A7C0-2885-4B24-9223-B0692BD5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1470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E80833-B7B7-46CC-92A2-8CD25711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9FC714-0252-4827-AFD9-883C4BD3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3C1BAD-ADEF-4567-8C8E-39601C80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5D6338-2C24-49BF-9E48-B9007B2E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147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65DE30-B60C-4A57-9F4F-5EC0DA6C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ECE38E-F258-4452-9427-01609DDA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80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P5 MCMA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F2FB9D-27E1-4184-99C5-7146CB83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480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081687E-8D90-4738-8EDC-7A99C4B6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0AE4F3-3A2E-4E6C-BB48-917C16CD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FC71D3E-7A3E-4148-A123-889E0C2D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E508938-16E6-4C68-B147-4A3C9551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480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A6F27C-6B91-46C2-AB3D-6164B54C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528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AC9B63A-A730-4151-869B-E0CCBB0A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P6 MATM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C4FB85-C1FC-422A-91C1-97718843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814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570D4A6-6151-4CE5-ACBC-33379BAE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5050B6-0F02-4234-B63A-F72A6587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1A0530-4527-44D9-84AB-15FAABF7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BF4A8D7-351D-439D-B37A-81A5A9B7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9814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6E4FBC-E8BE-4B9E-9CC1-E3CBD604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CC41C64-CCF6-4D54-A371-9F3F7E51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1482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P7 AWTO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80ED422-AFA7-4B0F-BAF4-A50B1C65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1482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A1B521-6860-4154-885E-96FFAFCD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22F61E4-DA23-49DE-8381-EB56F6C6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406339D-4F52-4B9E-A5D7-586D0E86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7B1B5CD-8157-4BFF-8AB8-BA733F4F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148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938769D-136D-40C4-82AC-5A724276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96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F67CED2-D92C-4DD3-9CB5-13400914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P8 POLAR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3B5C30F-BCE8-42F9-8BEF-8417AB3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9E21A6-083D-43DA-B197-C0F80BB9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10C2832-D43C-475D-B302-A158747C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309CC54-E3B0-45DC-8F2B-274E9154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4484632-53F5-4D10-A875-2AD63C86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482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E9D9A73-3C87-4659-B59F-4F31D0EB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BBFEAE9-F102-450E-A820-2FF24610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P9/10 SLoRA/Punica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66DAEAA-1DC9-4348-907A-14CF60C2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981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6C2FEA9-B64C-4D83-9204-B0A43DA5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340B9D5-65BB-4648-B37B-F8810809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FC292FD-3674-40DA-8FC9-3AE5E23F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DB148CA-648A-4D4D-80BE-1EF8CF4F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81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9C45BA5-88AC-45DC-B9D2-0F501F8D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FC7D79C-6859-406C-932E-25815920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95900"/>
            <a:ext cx="10734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6193">
            <a:solidFill>
              <a:srgbClr val="BDEEFF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70E76D8-E3B2-4042-B38B-CAE42410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本研究关注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776EDD4-E4D4-4A35-867F-CDDAD6DF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3149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B2D4D3-A32B-4DE1-889E-0920014C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E0EADF1-B20B-4481-B089-FBA0A865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47FD49D-6F4F-4C44-87CC-C46DC7F5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4E0C8F6-E80A-45FA-9C5F-689E26E1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14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3D02653-9374-4CB6-A323-D2F9BEA2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38800"/>
            <a:ext cx="106394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33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● 直接涉及    ◐ 部分相关    — 非核心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98042AF-422F-4573-9F57-4905D4F9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五个方面的交集，是本文提出统一准备与调度方法的出发点。</a:t>
            </a:r>
          </a:p>
        </p:txBody>
      </p:sp>
    </p:spTree>
    <p:extLst>
      <p:ext uri="{BB962C8B-B14F-4D97-AF65-F5344CB8AC3E}">
        <p14:creationId xmlns:p14="http://schemas.microsoft.com/office/powerpoint/2010/main" val="7080375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705725" y="33909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6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981450" y="33909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05FA5A-5AE2-4486-84ED-EC9C4444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BE220-037B-4B72-9048-E066CC2B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f76a526014480e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FA0EB-92CF-4B89-853E-97CFA551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研究贡献 · 一张图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0098C-B6AA-4FE9-AA79-B609C56E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我们的工作：把“准备什么、何时准备、在哪里准备”统一考虑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40C13-32AB-4BC0-8D12-CDDB8217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4C8C2-B4D3-4083-A7E7-DA8B674C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C84B26-1998-4EA0-A1B5-472F6250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47123-243A-4AAD-B33C-3D6452E9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准备什么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前一步结果、共享模型、专用模块与运行状态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425F4B-74C6-4E6C-9CA0-F3EA007C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何时准备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根据任务进度与预计交接时间决定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FBB17-E51F-4471-9388-4AAC3A9E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在哪里准备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检查下一路侧站已有资源与可用容量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56477-D1D0-41A1-B2C6-7F6CF411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967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评价时同时看：整条任务链是否完成、等待时间和搬运数据量。</a:t>
            </a:r>
          </a:p>
        </p:txBody>
      </p:sp>
    </p:spTree>
    <p:extLst>
      <p:ext uri="{BB962C8B-B14F-4D97-AF65-F5344CB8AC3E}">
        <p14:creationId xmlns:p14="http://schemas.microsoft.com/office/powerpoint/2010/main" val="8335066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B17C2-4FDC-4924-9A71-5B76F1C9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2D7C4-6687-47A7-9085-F3BE358A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4edc0528754b7c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62AE0-8EFA-4A07-B10E-767B713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研究问题 · 三个问题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9B229-0AFE-4A01-A1D1-51E7A78D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研究问题：怎样让准备工作真正帮助任务完成？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F4753-C4B2-4DF2-8CB4-3E383DFD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A7D544-DFE0-43D9-87B3-37501D36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C8E5A-87F3-4DE6-A027-0439C8D3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7D930-EADF-4983-BD93-23A7013B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8122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606BB-B05C-4C4B-BAC7-969876A7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3837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多个步骤共用一个模型时，能减少多少重复搬运？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A2C1EF-260D-4F5B-9289-A0B585CB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38137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38685-3536-4DFC-A0B8-6E54F495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3852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车辆即将交接时，哪些资源值得提前放到下一站？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0810F-CD79-48B3-B6B0-949AB42A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58152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59DFA-6D69-49CA-A49C-5EAC830F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63867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面对任务进度与车辆移动，怎样协调长期准备和即时执行？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CEBF55-3AA5-48D6-910B-9B9E2A29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统一的目标：让更多完整工作流按时完成，并控制等待和传输成本。</a:t>
            </a:r>
          </a:p>
        </p:txBody>
      </p:sp>
    </p:spTree>
    <p:extLst>
      <p:ext uri="{BB962C8B-B14F-4D97-AF65-F5344CB8AC3E}">
        <p14:creationId xmlns:p14="http://schemas.microsoft.com/office/powerpoint/2010/main" val="11170244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9134475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210300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86125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1BE354-C8C7-468B-8B54-62F1DCDA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44C3C-8597-4E1E-8B7F-4B6ADF65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68fa8a7f94019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4977F-4179-43F6-BCDC-EBA80497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核心机制 · 四步说明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F1661-AEAF-4507-9212-61B6D0F0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方法直觉：先看下一步，再准备下一站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DB2808-7428-41D2-AB87-9E1F92E8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91EB6-B564-4C2D-A754-E5DC4825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F1FE18-3CE7-4005-B3EB-4B292639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305F0-D483-4AED-A37E-7E11C7C2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看任务进度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下一步需要什么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1A32C-5FA0-412A-85DA-9AEA6E14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看车辆动向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可能到哪一站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DA6D4-1F7E-46C7-861A-9B138D01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看已有资源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只补齐缺少的部分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EB2B0-D5D0-41B9-8208-13826968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381250"/>
            <a:ext cx="19240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交接之后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从原进度继续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4985E4-4A3D-4888-805B-CF575EA1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104584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核心思想：下一站准备的是“后续工作真正需要、且当前还没有”的资源。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8608AE-A3BC-4B8D-9F93-58C8AA70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准备对象包括模型组件，也包括已经完成步骤留下的运行状态。</a:t>
            </a:r>
          </a:p>
        </p:txBody>
      </p:sp>
    </p:spTree>
    <p:extLst>
      <p:ext uri="{BB962C8B-B14F-4D97-AF65-F5344CB8AC3E}">
        <p14:creationId xmlns:p14="http://schemas.microsoft.com/office/powerpoint/2010/main" val="19885286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01D0B3-431C-4AEE-B2AE-749E6D60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7012F-1BA2-40F7-B6D8-AF3F20D8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ad7236772d4687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5A0B5-DE1A-47B3-B25A-670A3A27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策略取舍 · 判断依据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32B9C-4096-41FA-B34D-C422BA16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什么时候提前准备？看三个可观测因素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B9E37-C613-4649-BAA3-DA668119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7A918-B9B2-400C-AAB5-6B4D65FD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B520C-D919-4BB5-9B8E-D0D6CD83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19F3F1-740A-4473-ADB8-73F05EC1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交接时间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车辆还会在本站停留多久？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155E49-5987-4099-BA70-0C086B79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下一站已有资源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是否已经存着可复用模型？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15809-7A67-45CE-AEAE-850298E7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准备成本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需要传多少数据、占多少空间？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C2453-BD6D-4FFF-AAC7-AF0722BB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95825"/>
            <a:ext cx="10544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据此选择：提前准备、等需求出现再准备，或由车端完成当前步骤。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BE20A-C370-4BF0-AE86-DA8EFB04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这使“是否提前搬运”成为可计算的决策，而非固定规则。</a:t>
            </a:r>
          </a:p>
        </p:txBody>
      </p:sp>
    </p:spTree>
    <p:extLst>
      <p:ext uri="{BB962C8B-B14F-4D97-AF65-F5344CB8AC3E}">
        <p14:creationId xmlns:p14="http://schemas.microsoft.com/office/powerpoint/2010/main" val="4888779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18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139363" y="296227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8258175" y="2552700"/>
            <a:ext cx="609600" cy="1438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16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7248525" y="296227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5610225" y="2552700"/>
            <a:ext cx="628650" cy="6667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2752725" y="3219450"/>
            <a:ext cx="628650" cy="8048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2752725" y="3219450"/>
            <a:ext cx="628650" cy="47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752725" y="2424113"/>
            <a:ext cx="628650" cy="7953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853CEC-DE84-4EEB-AA9D-19F375C1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2CA44-F279-4AC5-8BA9-A44C0DDA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0766939e14002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8681C-288E-47A2-BBDE-E3B6C159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论文结构图 · 系统层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BA972-2F24-41CB-A6EC-CFC66CDF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系统结构：数据、路侧环境与控制方法形成闭环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EB4DE-4DBC-4ACF-B217-9F204D84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C80E0-B4A6-4471-8CD6-6DB17D96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1A49B-39A4-4FFF-8AF8-3F08E1A0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D1734-482C-4DA8-861D-9DEB10E9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145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车辆轨迹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727F8-4B2F-414E-9D49-AA7F6864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任务链结构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18684-58AC-4D05-84B9-9A5DDF27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147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模型资源清单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00E1CF-A2BC-42A2-9AB9-2BD4387F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09850"/>
            <a:ext cx="2228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路侧边缘环境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站点 / 缓存 / 交接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6A6549-FA82-42A7-8D7D-F2985474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019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 / 车辆 / 站点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1BE1C0-D80E-478C-BE94-612EFC45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81400"/>
            <a:ext cx="2019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信息融合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依赖 + 资源 + 预测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E84D1D-4FA5-441A-84A5-CA46DA54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143125"/>
            <a:ext cx="25431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协调决策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长期 / 即时 / 交接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88C7CD-21B3-4218-855E-65392CC2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581400"/>
            <a:ext cx="25431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执行选择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放置、卸载或准备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C911E9-3645-4E86-997B-A1E6F9B8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67300"/>
            <a:ext cx="10334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决策回到路侧环境；系统记录整条任务链的完成、等待和传输。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F288AD-801E-4C74-9443-4F91E78F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图由论文方法稿中的系统结构重绘，元素可在 PPT 中编辑。</a:t>
            </a:r>
          </a:p>
        </p:txBody>
      </p:sp>
    </p:spTree>
    <p:extLst>
      <p:ext uri="{BB962C8B-B14F-4D97-AF65-F5344CB8AC3E}">
        <p14:creationId xmlns:p14="http://schemas.microsoft.com/office/powerpoint/2010/main" val="594513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1EE0AA-23B7-4218-AD7F-4B5A1702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D944D5-C5A1-40F3-99CA-077E1307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2d0d7742e4a53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39EA3-851E-49F4-A68A-E25917DA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论文模型 · 资源账本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51E65-F0F8-49D3-84A8-565A8ED0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资源模型：共享部分只搬一次，专用部分按需补齐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82E33-1F86-49D8-A8BA-C1C1566B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307E2-3440-401A-9CF2-1A0DF58A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1EC43-8EBD-4CAF-A975-67304E7F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7E79A-F0D4-427E-8A7F-996DD4DE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86000"/>
            <a:ext cx="27241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多个步骤可复用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7D513-52E6-4E95-9F06-2092F1B3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286000"/>
            <a:ext cx="27241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专用模块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为具体步骤补充能力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E86AFD-2260-4EAE-A148-D5C3EB3B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286000"/>
            <a:ext cx="39052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运行状态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记录已完成步骤和上下文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74661D-8C2E-4E52-90BB-E7325E1A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95775"/>
            <a:ext cx="104298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需搬运的数据 = 下一步所需对象 − 下一站已有对象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B86B06-043C-4A90-A062-C357D811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53025"/>
            <a:ext cx="1036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每个对象只计一次，并同时检查模型兼容性与站点容量。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78EAB6-C3F6-4494-8609-3AF68833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资源账本使“复用”有明确的字节含义。</a:t>
            </a:r>
          </a:p>
        </p:txBody>
      </p:sp>
    </p:spTree>
    <p:extLst>
      <p:ext uri="{BB962C8B-B14F-4D97-AF65-F5344CB8AC3E}">
        <p14:creationId xmlns:p14="http://schemas.microsoft.com/office/powerpoint/2010/main" val="1798098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5F6CDB-722B-463E-A167-771DC6BC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CD60A-95E1-4637-A530-66AB8D06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72e2dea864069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F3E7E-B3D0-4C23-AFD3-B0DF560B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论文方法 · 可执行决策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0EFED-244F-4140-98B3-88A3EF10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控制方法有五种实际选择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21740C-5E41-424D-89AE-4E6377F3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49E6C2-AE35-464A-B96B-ADA5F00C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50E07-150E-45CC-B707-033C8DE6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7FE1E-7D88-4DF1-93AE-A995DC5F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补齐本站模型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D22BD-E6ED-4373-B8E4-1D93111D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0478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当前站缺少执行所需模型时，先补齐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16A5B-3322-40BC-80AB-CCB91E24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670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C0AF0-61A7-43AC-803D-DB7E1639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提前准备下一站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8E84E-0828-4EBE-83A2-0C221B74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7336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根据车辆动向预备可能用到的组件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C7C123-90CE-4962-82E7-37FD14CD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3528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B6E00D-F809-4CDB-B5E3-BA42C723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交给车端执行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DEBE21-D2CA-4146-B0D1-BF512346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4194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车辆本地资源承担当前步骤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09EB1C-DD69-4FD4-BC36-19E935A9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386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08A938-962C-48EB-8586-DE3B1FE1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052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在本站直接执行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B0E76B-A7AA-4CA5-8900-17A24ADB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1052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资源就绪时直接卸载到当前站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156C31-BADB-4438-A660-C00EB69D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7244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569146-58B7-4799-AF7C-021C6228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准备交接状态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20EE21-6421-422F-9F22-0FC9E53D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7910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让下一站具备继续执行所需的信息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202A5E-148E-4EBF-ABA6-6F739943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每次选择都受资源容量与可执行条件约束。</a:t>
            </a:r>
          </a:p>
        </p:txBody>
      </p:sp>
    </p:spTree>
    <p:extLst>
      <p:ext uri="{BB962C8B-B14F-4D97-AF65-F5344CB8AC3E}">
        <p14:creationId xmlns:p14="http://schemas.microsoft.com/office/powerpoint/2010/main" val="4322916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"/>
          <p:cNvCxnSpPr>
            <a:stCxn xmlns:a="http://schemas.openxmlformats.org/drawingml/2006/main" id="12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281738" y="3943350"/>
            <a:ext cx="4076700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6" name=""/>
          <p:cNvCxnSpPr>
            <a:stCxn xmlns:a="http://schemas.openxmlformats.org/drawingml/2006/main" id="12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6281738" y="3943350"/>
            <a:ext cx="1347788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12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4781550" y="3943350"/>
            <a:ext cx="1500188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12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1933575" y="3943350"/>
            <a:ext cx="4348163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6281738" y="2876550"/>
            <a:ext cx="1671638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10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4972050" y="2876550"/>
            <a:ext cx="1309688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9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990725" y="2876550"/>
            <a:ext cx="4291013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3847A3-A905-477D-8625-894734A0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7B17D1-0229-40D3-9251-17601F9B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5b644eb0ff45cd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BA3FE6-D317-4858-9E09-37CD6FB8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论文结构图 · 算法层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2D176-2EE3-45B7-B3B3-B801A3C0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算法结构：同一份信息，支持三个时间尺度的决策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95B592-5F74-4C50-8913-F3FE0B66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52DE9-3198-473E-AA66-61CBC30C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D3E46-7FD6-4CED-940B-B49AF776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55EF3-A4A1-4725-83A0-F457DDE4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进度与先后依赖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67A1F-C026-40B3-90B0-D99093B7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站点与车辆信息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资源、负载、位置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9D4EB5-936B-4265-9325-C3AB8EAB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移动趋势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预测交接与紧迫度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0D9C1E-FF0B-48AC-9EAB-A0D9FAC9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50958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共享信息融合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7 组输入 → 统一状态表示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A713DD-BAC0-4D98-AE44-D0E47B45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慢决策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模型放置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36B64-B1DA-4E27-A2D3-D6EB025B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快决策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当前任务去向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C2F90C-5175-4169-B4E8-AAD0576A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下一站准备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701EA-D0C6-4374-B4DC-94A20A0A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76750"/>
            <a:ext cx="21431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价值评估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长期收益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309B4E-06DF-4110-AD0A-B9403EEB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一套控制方法同时处理长期资源安排、即时执行和交接事件。</a:t>
            </a:r>
          </a:p>
        </p:txBody>
      </p:sp>
    </p:spTree>
    <p:extLst>
      <p:ext uri="{BB962C8B-B14F-4D97-AF65-F5344CB8AC3E}">
        <p14:creationId xmlns:p14="http://schemas.microsoft.com/office/powerpoint/2010/main" val="7039245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51F56-5A7F-4F0E-A69D-C2321E5F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483E3-E06B-4EBA-ACBE-5BE5E6F2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7f7c2a8874038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274EC-899D-4607-BFA1-AE55C6B6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论文方法 · 训练目标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AB8A9-AE16-4DE1-9EF4-F7805B81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奖励设计：鼓励服务推进，也计入资源与时延成本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4AF70A-DBEC-4F4A-AC19-710097EE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C8D05-BDA6-4768-B0E1-6D098D43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6A955-9CC6-477A-A29E-220A0618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F2917-2CBE-4C55-885E-51C294F2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66925"/>
            <a:ext cx="105918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每步得分 = 基础项 + 服务推进 + 连续执行 + 探索收益 − 等待 − 模型缺失 − 交接成本 − 约束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46EF7-28FF-49CA-AF38-6EAF6ACE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527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874327-734F-4645-953E-F19F27E0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33775"/>
            <a:ext cx="49720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获得收益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完成当前步骤、交接后继续执行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CBA0F0-5D17-410C-8365-265947F6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33775"/>
            <a:ext cx="49720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计入成本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等待时间、模型缺失与资源约束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2D8E68-E063-4637-8B3E-D821AA6F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10458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最终评价仍看整条任务链完成情况、时延和实际传输数据量。</a:t>
            </a:r>
          </a:p>
        </p:txBody>
      </p:sp>
    </p:spTree>
    <p:extLst>
      <p:ext uri="{BB962C8B-B14F-4D97-AF65-F5344CB8AC3E}">
        <p14:creationId xmlns:p14="http://schemas.microsoft.com/office/powerpoint/2010/main" val="20138287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81900" y="3095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733800" y="3095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FD8B1D-0EDF-4437-A3D9-14C6CDFF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CD7547-AC6A-47C2-9851-9CBAC1ED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9162dac8274452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D3F66-DE2A-439F-B2C0-57F203CC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实验设置 · 数据来源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78A98-EFCD-42C6-B903-A1DAD448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实验数据：用真实车辆轨迹和真实任务链驱动仿真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11CE2-3077-4613-B950-15C4B836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D468A-F7CB-4191-AAB6-5BDDF7C5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12E296-BD5D-4C5A-B67B-3560B7F9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63C92B-EDF2-449E-A65D-E173E808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NGSIM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车辆位置、速度和移动轨迹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BCBF7A-BED8-4F24-891E-1120A89E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Alibaba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任务链和步骤之间的依赖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12186E-4EBA-4D3C-82EF-407BFED4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实验设定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每一步所需的模型与状态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6F34D1-FD70-4086-8D23-943AB201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552950"/>
            <a:ext cx="1057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在可复现的移动场景中，观察任务链、资源和车辆交接如何相互影响。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035D7-38F5-4E5F-9F23-9F7F5C8B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数据来源分别公开；服务需求通过明确的实验映射构造。</a:t>
            </a:r>
          </a:p>
        </p:txBody>
      </p:sp>
    </p:spTree>
    <p:extLst>
      <p:ext uri="{BB962C8B-B14F-4D97-AF65-F5344CB8AC3E}">
        <p14:creationId xmlns:p14="http://schemas.microsoft.com/office/powerpoint/2010/main" val="18467523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027FEC-AF63-4A33-9DD9-450F6396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988BCE-A17C-4AB7-BD9F-BBC8AFF4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0c78ab75d4240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6F94C-7B91-4B0F-8615-1463881E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实验设置 · 对照设计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14AAC-178D-4DF6-9E32-74071076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实验设计：先测机制，再比较决策方法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E7AF2-51E6-4149-8A66-66532D3A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1D443-D83E-4245-999E-B06D77CB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7388AC-419A-455A-84E0-2F5F3779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C0422-F148-4B56-AEBC-3B869BE3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000250"/>
            <a:ext cx="5000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资源共享 × 状态准备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2071D9-6E69-4A36-9675-CFBC2C6F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8127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常规放置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按需执行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A9934D-86F6-4DD4-A512-A159DA3F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8127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按需执行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3E5C7-FCA5-4D22-843E-E000810A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9572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常规放置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890D7-F249-4D57-ACA2-86ACAA02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9572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7B274-2253-489B-A710-E0F67453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比较“由谁决定何时准备”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50F85-4C63-4C49-89F7-977F89BA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81275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固定规则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96402A-16C2-4A96-91F4-B9DDBB1E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486150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统一策略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95E177-ABE6-44C5-9C9A-6A0F1AE8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391025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多时间尺度策略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7BDCC-8573-4651-A970-441C8718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主要指标：完整任务链完成率、等待时间和每完成一次所需传输量。</a:t>
            </a:r>
          </a:p>
        </p:txBody>
      </p:sp>
    </p:spTree>
    <p:extLst>
      <p:ext uri="{BB962C8B-B14F-4D97-AF65-F5344CB8AC3E}">
        <p14:creationId xmlns:p14="http://schemas.microsoft.com/office/powerpoint/2010/main" val="9929941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393B7D-EA41-4B77-9DAA-1975B2AF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4DC56-9B1C-4F03-98C6-EB2D8035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26454b19946f0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467833-14C9-4CE2-ABE9-53CFF178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机制演示 · 资源复用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91CDD-7A97-4383-B9D2-B533E460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模型共享示例：连续复用时搬运量更少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A1937-DB63-4AE3-BAE7-E285833A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56DC3-EFEB-45DE-9726-FD2390AA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ED7ADE-C41E-4BCF-87FB-D5811F47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022BA-6158-4989-BB66-9CFBBEBD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90725"/>
            <a:ext cx="1009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四种配置均完成 72 / 72 次请求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F3D3E-B22A-4437-8B68-241168DC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8127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相同模型连续使用 · 共享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85E49-5290-4CF0-953F-C018D112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28900"/>
            <a:ext cx="2338917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EEFF"/>
          </a:solidFill>
          <a:ln xmlns:a="http://schemas.openxmlformats.org/drawingml/2006/main" w="0">
            <a:solidFill>
              <a:srgbClr val="BDEE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B211C5-7AC9-4F5A-9CD1-2FCD221B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581275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3,264 MiB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500E6-0BC1-436C-9E00-6A4F8EBF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交替使用不同模型 · 共享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7CE9E-6DDF-4471-A46D-CFC381FD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81375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D2045-753C-45E2-A343-87CD7C5A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33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A9E977-86A0-4DFC-82DB-67E170D0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8622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相同模型连续使用 · 不共享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FC14AB-99F6-4D3C-9326-56D6A81B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33850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80B3BA-175E-4887-BEB1-42EB68E4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086225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DDC70D-E2AB-41AF-9324-1B351EA4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3870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交替使用不同模型 · 不共享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09A3F-D40E-43B9-8290-62E83B33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86325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0D1056-ED66-499E-85B6-0BA4E87E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387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9F8491-54C0-41FE-A269-088ABEEF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该示例说明：只有后续请求真正复用同一共享部分，资源账本才体现节省。</a:t>
            </a:r>
          </a:p>
        </p:txBody>
      </p:sp>
    </p:spTree>
    <p:extLst>
      <p:ext uri="{BB962C8B-B14F-4D97-AF65-F5344CB8AC3E}">
        <p14:creationId xmlns:p14="http://schemas.microsoft.com/office/powerpoint/2010/main" val="7334774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429500" y="2976563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552825" y="2976563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07980-52AC-4CB5-984C-CDAA4E78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EDA3B-AB85-4392-9000-03ABE2CD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c49d8a2734d7c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E9A71-456C-4F21-B530-628020DB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机制演示 · 连续执行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717A2-DEDB-401B-B3B9-23CFF84A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状态接续示例：保存进度后，只执行剩余步骤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D4EE6-8224-4498-BE12-347BDB64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640A54-6E7E-44A7-BC87-65D724FB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C30674-A2B2-4C65-920A-EE4C637B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6E3C0-7095-46D8-8730-2AB92F24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完成第一步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保存执行进度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812CD-A2A2-4C3E-8566-D0063145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状态包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2,040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BC621-38C9-4CB7-8199-4A5FB6F8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恢复进度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运行后续步骤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4CC64-DE84-4CEC-9720-FC2B7EE0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9600"/>
            <a:ext cx="48958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从头运行：32.504 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9EF85-224E-4042-A92A-58A1CECA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19600"/>
            <a:ext cx="48958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接续执行：21.370 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FD571B-7A16-4375-905C-016E4E37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同机两步样例中，后续步骤输入与输出一致；时间减少 11.134 秒。</a:t>
            </a:r>
          </a:p>
        </p:txBody>
      </p:sp>
    </p:spTree>
    <p:extLst>
      <p:ext uri="{BB962C8B-B14F-4D97-AF65-F5344CB8AC3E}">
        <p14:creationId xmlns:p14="http://schemas.microsoft.com/office/powerpoint/2010/main" val="119935742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C51A9D-6BF1-436E-8184-0890CB54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C8424F-4908-479B-B2C8-52C1A6BA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3a8f179024410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CF0AF-CBBF-42BD-97B9-A643BE49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研究总结 · 三个要点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CF5E4-0B73-454F-BCBE-63E0B341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总结：把移动交接从“换位置”变成“接着做”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361E5-A152-46A1-B39E-82FC508D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B52FE-1E6D-41F3-BDCA-422BF896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D3471-F47E-416B-9C57-18F3D0D7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1052B-D395-46A6-9860-B506E393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238375"/>
            <a:ext cx="24193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9A0A1-61E8-4BD5-B1BF-44D188DA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86000"/>
            <a:ext cx="7734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关注完整任务链跨路侧站的连续完成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72BCC-C8E3-40C2-827F-12C114CF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371850"/>
            <a:ext cx="24193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方法设计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8912E6-3ACC-42B5-AE5E-1147A6C1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19475"/>
            <a:ext cx="7734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共同考虑模型复用、执行状态和车辆交接时机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3B485-FF41-4376-9D62-A1CB8651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505325"/>
            <a:ext cx="24193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已有演示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96D7DD-3A82-4A0C-A4E3-77CA606D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552950"/>
            <a:ext cx="7734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资源账本展示共享收益；两步实例展示状态接续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EBAAB-F68C-426D-BD3B-1CA83B63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下一阶段按相同数据与预算，比较不同准备机制和决策方法。</a:t>
            </a:r>
          </a:p>
        </p:txBody>
      </p:sp>
    </p:spTree>
    <p:extLst>
      <p:ext uri="{BB962C8B-B14F-4D97-AF65-F5344CB8AC3E}">
        <p14:creationId xmlns:p14="http://schemas.microsoft.com/office/powerpoint/2010/main" val="21235510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C92790-2267-4EDE-8D87-FAC0DAED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11E0C-8874-4055-84F3-BA79545C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08d657a11d41b9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C75F3-3C2F-46A2-8D42-149D1D34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参考文献 · 论文来源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FF7B46-977E-4C97-9A99-477A5C02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主要参考文献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429B1-ABF3-436F-8485-14B961BF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B0DDA-610C-4781-9C05-BBA8A0E6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6EE55-95A0-47CF-9A64-12C27ACF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6993F1-4598-4EF8-8EDC-4BB823A5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移动边缘与任务调度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FBD8E4-1C16-419D-80D3-BB7BA088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模型服务与方法基础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673DE-DEF3-43CA-9DF8-F6275A82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COHCTO · TMC 2025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D1992-6941-4112-9291-3DD28CEE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LDMCO · TMC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D77E5-F72A-429E-AC3F-AC5AC052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3852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Ly-COMA · IET 2025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1C3864-03CA-4091-BDC6-3881058A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8620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Fan 等 · TVT 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439C7-5090-4B74-950B-CD59F744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MCMA · TMC 2025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9363E7-A2FE-4717-B0D2-F3B87CAA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MATM · TVT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2E1E1F-42FB-4A0A-8FFA-ACD4AAA4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2922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AWTO · FGCS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B5490-4B5B-4E19-AFE1-8EEA98F8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5431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POLAR · arXiv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0CB56F-5C24-4476-800D-392CC0AC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384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SLoRA · MLSys 2024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C3515F-DB8F-40F1-B5BD-0B1E8C3B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337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Punica · MLSys 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0918BD-7290-4910-9F1B-AA48EBED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0290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WfCommons · FGCS 2022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063DB8-6E89-456F-9145-A6540D81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5243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RUDDER · NeurIPS 2019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E81B41-B683-446B-94F9-2ADA84C4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50196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MAPPO · NeurIPS 2022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0D08E2-DFFC-4E40-BD82-1E241925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逐篇研究内容与本文对应问题见第 4—7 页。</a:t>
            </a:r>
          </a:p>
        </p:txBody>
      </p:sp>
    </p:spTree>
    <p:extLst>
      <p:ext uri="{BB962C8B-B14F-4D97-AF65-F5344CB8AC3E}">
        <p14:creationId xmlns:p14="http://schemas.microsoft.com/office/powerpoint/2010/main" val="18665878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2026-10-11T05:31:37.1660000Z</dcterms:created>
  <dcterms:modified xsi:type="dcterms:W3CDTF">2026-10-11T05:31:37.1660000Z</dcterms:modified>
</coreProperties>
</file>