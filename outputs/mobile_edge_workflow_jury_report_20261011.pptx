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2ac5374f0d4f56" /><Relationship Type="http://schemas.openxmlformats.org/officeDocument/2006/relationships/extended-properties" Target="/docProps/app.xml" Id="R56fdecd6f52646bf" /><Relationship Type="http://schemas.openxmlformats.org/officeDocument/2006/relationships/officeDocument" Target="/ppt/presentation.xml" Id="Rfe0d69f9877543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7eba2182cc4433"/>
  </p:sldMasterIdLst>
  <p:notesMasterIdLst>
    <p:notesMasterId xmlns:r="http://schemas.openxmlformats.org/officeDocument/2006/relationships" r:id="Rcbd0471e43624a1d"/>
  </p:notesMasterIdLst>
  <p:sldIdLst>
    <p:sldId xmlns:r="http://schemas.openxmlformats.org/officeDocument/2006/relationships" id="256" r:id="R4538d68d795b44e6"/>
    <p:sldId xmlns:r="http://schemas.openxmlformats.org/officeDocument/2006/relationships" id="257" r:id="Rbcf77602bbd54ad8"/>
    <p:sldId xmlns:r="http://schemas.openxmlformats.org/officeDocument/2006/relationships" id="258" r:id="R3b590f391bae44a0"/>
    <p:sldId xmlns:r="http://schemas.openxmlformats.org/officeDocument/2006/relationships" id="259" r:id="Re1753d10c18e4610"/>
    <p:sldId xmlns:r="http://schemas.openxmlformats.org/officeDocument/2006/relationships" id="260" r:id="R6b0081db64384442"/>
    <p:sldId xmlns:r="http://schemas.openxmlformats.org/officeDocument/2006/relationships" id="261" r:id="Rbadd5e12dbf340ff"/>
    <p:sldId xmlns:r="http://schemas.openxmlformats.org/officeDocument/2006/relationships" id="262" r:id="R233a785f8fb94ae9"/>
    <p:sldId xmlns:r="http://schemas.openxmlformats.org/officeDocument/2006/relationships" id="263" r:id="R9df41f5e1c4c4a79"/>
    <p:sldId xmlns:r="http://schemas.openxmlformats.org/officeDocument/2006/relationships" id="264" r:id="R80ee7e7427714c93"/>
    <p:sldId xmlns:r="http://schemas.openxmlformats.org/officeDocument/2006/relationships" id="265" r:id="R1f60cd54214b477a"/>
    <p:sldId xmlns:r="http://schemas.openxmlformats.org/officeDocument/2006/relationships" id="266" r:id="Rf858e0957dec4b1b"/>
    <p:sldId xmlns:r="http://schemas.openxmlformats.org/officeDocument/2006/relationships" id="267" r:id="R5fe44cdbcb2f484b"/>
    <p:sldId xmlns:r="http://schemas.openxmlformats.org/officeDocument/2006/relationships" id="268" r:id="R229dc33a49b34a6d"/>
    <p:sldId xmlns:r="http://schemas.openxmlformats.org/officeDocument/2006/relationships" id="269" r:id="R0bfa8aaefc514279"/>
    <p:sldId xmlns:r="http://schemas.openxmlformats.org/officeDocument/2006/relationships" id="270" r:id="R6205c6c9b6ee42d1"/>
    <p:sldId xmlns:r="http://schemas.openxmlformats.org/officeDocument/2006/relationships" id="271" r:id="Rccfd18e352b84bec"/>
    <p:sldId xmlns:r="http://schemas.openxmlformats.org/officeDocument/2006/relationships" id="272" r:id="Re3452f6dec9041f2"/>
    <p:sldId xmlns:r="http://schemas.openxmlformats.org/officeDocument/2006/relationships" id="273" r:id="R8f5617e926ce48d2"/>
    <p:sldId xmlns:r="http://schemas.openxmlformats.org/officeDocument/2006/relationships" id="274" r:id="Rd4434983c70b4948"/>
    <p:sldId xmlns:r="http://schemas.openxmlformats.org/officeDocument/2006/relationships" id="275" r:id="Rbb029fdc11244ec6"/>
    <p:sldId xmlns:r="http://schemas.openxmlformats.org/officeDocument/2006/relationships" id="276" r:id="R8818bfe930c74db3"/>
    <p:sldId xmlns:r="http://schemas.openxmlformats.org/officeDocument/2006/relationships" id="277" r:id="R7ec1280d990743db"/>
    <p:sldId xmlns:r="http://schemas.openxmlformats.org/officeDocument/2006/relationships" id="278" r:id="Rc9b74ca1c5de4eca"/>
    <p:sldId xmlns:r="http://schemas.openxmlformats.org/officeDocument/2006/relationships" id="279" r:id="R20536db20efc4c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7e585021ff467d" /><Relationship Type="http://schemas.openxmlformats.org/officeDocument/2006/relationships/slideMaster" Target="/ppt/slideMasters/slideMaster1.xml" Id="Red7eba2182cc4433" /><Relationship Type="http://schemas.openxmlformats.org/officeDocument/2006/relationships/notesMaster" Target="/ppt/notesMasters/notesMaster1.xml" Id="Rcbd0471e43624a1d" /><Relationship Type="http://schemas.openxmlformats.org/officeDocument/2006/relationships/presProps" Target="/ppt/presProps.xml" Id="Ra60e3ae74e9941a9" /><Relationship Type="http://schemas.openxmlformats.org/officeDocument/2006/relationships/tableStyles" Target="/ppt/tableStyles.xml" Id="Rdb9e49c7127f4255" /><Relationship Type="http://schemas.openxmlformats.org/officeDocument/2006/relationships/slide" Target="/ppt/slides/slide1.xml" Id="R4538d68d795b44e6" /><Relationship Type="http://schemas.openxmlformats.org/officeDocument/2006/relationships/slide" Target="/ppt/slides/slide2.xml" Id="Rbcf77602bbd54ad8" /><Relationship Type="http://schemas.openxmlformats.org/officeDocument/2006/relationships/slide" Target="/ppt/slides/slide3.xml" Id="R3b590f391bae44a0" /><Relationship Type="http://schemas.openxmlformats.org/officeDocument/2006/relationships/slide" Target="/ppt/slides/slide4.xml" Id="Re1753d10c18e4610" /><Relationship Type="http://schemas.openxmlformats.org/officeDocument/2006/relationships/slide" Target="/ppt/slides/slide5.xml" Id="R6b0081db64384442" /><Relationship Type="http://schemas.openxmlformats.org/officeDocument/2006/relationships/slide" Target="/ppt/slides/slide6.xml" Id="Rbadd5e12dbf340ff" /><Relationship Type="http://schemas.openxmlformats.org/officeDocument/2006/relationships/slide" Target="/ppt/slides/slide7.xml" Id="R233a785f8fb94ae9" /><Relationship Type="http://schemas.openxmlformats.org/officeDocument/2006/relationships/slide" Target="/ppt/slides/slide8.xml" Id="R9df41f5e1c4c4a79" /><Relationship Type="http://schemas.openxmlformats.org/officeDocument/2006/relationships/slide" Target="/ppt/slides/slide9.xml" Id="R80ee7e7427714c93" /><Relationship Type="http://schemas.openxmlformats.org/officeDocument/2006/relationships/slide" Target="/ppt/slides/slide10.xml" Id="R1f60cd54214b477a" /><Relationship Type="http://schemas.openxmlformats.org/officeDocument/2006/relationships/slide" Target="/ppt/slides/slide11.xml" Id="Rf858e0957dec4b1b" /><Relationship Type="http://schemas.openxmlformats.org/officeDocument/2006/relationships/slide" Target="/ppt/slides/slide12.xml" Id="R5fe44cdbcb2f484b" /><Relationship Type="http://schemas.openxmlformats.org/officeDocument/2006/relationships/slide" Target="/ppt/slides/slide13.xml" Id="R229dc33a49b34a6d" /><Relationship Type="http://schemas.openxmlformats.org/officeDocument/2006/relationships/slide" Target="/ppt/slides/slide14.xml" Id="R0bfa8aaefc514279" /><Relationship Type="http://schemas.openxmlformats.org/officeDocument/2006/relationships/slide" Target="/ppt/slides/slide15.xml" Id="R6205c6c9b6ee42d1" /><Relationship Type="http://schemas.openxmlformats.org/officeDocument/2006/relationships/slide" Target="/ppt/slides/slide16.xml" Id="Rccfd18e352b84bec" /><Relationship Type="http://schemas.openxmlformats.org/officeDocument/2006/relationships/slide" Target="/ppt/slides/slide17.xml" Id="Re3452f6dec9041f2" /><Relationship Type="http://schemas.openxmlformats.org/officeDocument/2006/relationships/slide" Target="/ppt/slides/slide18.xml" Id="R8f5617e926ce48d2" /><Relationship Type="http://schemas.openxmlformats.org/officeDocument/2006/relationships/slide" Target="/ppt/slides/slide19.xml" Id="Rd4434983c70b4948" /><Relationship Type="http://schemas.openxmlformats.org/officeDocument/2006/relationships/slide" Target="/ppt/slides/slide20.xml" Id="Rbb029fdc11244ec6" /><Relationship Type="http://schemas.openxmlformats.org/officeDocument/2006/relationships/slide" Target="/ppt/slides/slide21.xml" Id="R8818bfe930c74db3" /><Relationship Type="http://schemas.openxmlformats.org/officeDocument/2006/relationships/slide" Target="/ppt/slides/slide22.xml" Id="R7ec1280d990743db" /><Relationship Type="http://schemas.openxmlformats.org/officeDocument/2006/relationships/slide" Target="/ppt/slides/slide23.xml" Id="Rc9b74ca1c5de4eca" /><Relationship Type="http://schemas.openxmlformats.org/officeDocument/2006/relationships/slide" Target="/ppt/slides/slide24.xml" Id="R20536db20efc4c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7938a6aa6548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91a307e3df443e" /><Relationship Type="http://schemas.openxmlformats.org/officeDocument/2006/relationships/notesMaster" Target="/ppt/notesMasters/notesMaster1.xml" Id="R7e67729e860645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f220298d714ce3" /><Relationship Type="http://schemas.openxmlformats.org/officeDocument/2006/relationships/notesMaster" Target="/ppt/notesMasters/notesMaster1.xml" Id="R59b34cc1c7734e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5fdcbe8150485b" /><Relationship Type="http://schemas.openxmlformats.org/officeDocument/2006/relationships/notesMaster" Target="/ppt/notesMasters/notesMaster1.xml" Id="R6a8e903c314a4f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a7ec417c3a4e5a" /><Relationship Type="http://schemas.openxmlformats.org/officeDocument/2006/relationships/notesMaster" Target="/ppt/notesMasters/notesMaster1.xml" Id="R3794519e645148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524b81c25c4c9f" /><Relationship Type="http://schemas.openxmlformats.org/officeDocument/2006/relationships/notesMaster" Target="/ppt/notesMasters/notesMaster1.xml" Id="R984d78be137547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711f7713e64fbe" /><Relationship Type="http://schemas.openxmlformats.org/officeDocument/2006/relationships/notesMaster" Target="/ppt/notesMasters/notesMaster1.xml" Id="Rbd1369875d4d42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edf00c0b614855" /><Relationship Type="http://schemas.openxmlformats.org/officeDocument/2006/relationships/notesMaster" Target="/ppt/notesMasters/notesMaster1.xml" Id="Rd2037fdb53a146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325e9bea9c48d7" /><Relationship Type="http://schemas.openxmlformats.org/officeDocument/2006/relationships/notesMaster" Target="/ppt/notesMasters/notesMaster1.xml" Id="R73ca07c179d548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0182cd07d74f2c" /><Relationship Type="http://schemas.openxmlformats.org/officeDocument/2006/relationships/notesMaster" Target="/ppt/notesMasters/notesMaster1.xml" Id="Rc239c7bda8bc43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2337163d3641c8" /><Relationship Type="http://schemas.openxmlformats.org/officeDocument/2006/relationships/notesMaster" Target="/ppt/notesMasters/notesMaster1.xml" Id="R55911297b22745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8567233d6c46dc" /><Relationship Type="http://schemas.openxmlformats.org/officeDocument/2006/relationships/notesMaster" Target="/ppt/notesMasters/notesMaster1.xml" Id="R1fa67896983c451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34b0910fce41b9" /><Relationship Type="http://schemas.openxmlformats.org/officeDocument/2006/relationships/notesMaster" Target="/ppt/notesMasters/notesMaster1.xml" Id="R17322c23ef8542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52b933314b48cd" /><Relationship Type="http://schemas.openxmlformats.org/officeDocument/2006/relationships/notesMaster" Target="/ppt/notesMasters/notesMaster1.xml" Id="R0ba8a858fd2244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7c72442cd64cd2" /><Relationship Type="http://schemas.openxmlformats.org/officeDocument/2006/relationships/notesMaster" Target="/ppt/notesMasters/notesMaster1.xml" Id="R65a6592464f7464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1d5076a2d6a4aef" /><Relationship Type="http://schemas.openxmlformats.org/officeDocument/2006/relationships/notesMaster" Target="/ppt/notesMasters/notesMaster1.xml" Id="R3c4ffb6462dd46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fe145fb8e424716" /><Relationship Type="http://schemas.openxmlformats.org/officeDocument/2006/relationships/notesMaster" Target="/ppt/notesMasters/notesMaster1.xml" Id="Rce7f23882e23436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524d3eb732e47a9" /><Relationship Type="http://schemas.openxmlformats.org/officeDocument/2006/relationships/notesMaster" Target="/ppt/notesMasters/notesMaster1.xml" Id="R736dd9efd09d43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769d6822e042ff" /><Relationship Type="http://schemas.openxmlformats.org/officeDocument/2006/relationships/notesMaster" Target="/ppt/notesMasters/notesMaster1.xml" Id="Rec3e8517ca5f41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7a88ced1bea4d00" /><Relationship Type="http://schemas.openxmlformats.org/officeDocument/2006/relationships/notesMaster" Target="/ppt/notesMasters/notesMaster1.xml" Id="R217090756d5143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f3ff851cc4045f1" /><Relationship Type="http://schemas.openxmlformats.org/officeDocument/2006/relationships/notesMaster" Target="/ppt/notesMasters/notesMaster1.xml" Id="R7057c528299f47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793171b90d14c60" /><Relationship Type="http://schemas.openxmlformats.org/officeDocument/2006/relationships/notesMaster" Target="/ppt/notesMasters/notesMaster1.xml" Id="Re4e79c3be7fe41b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cab0d818ebf421b" /><Relationship Type="http://schemas.openxmlformats.org/officeDocument/2006/relationships/notesMaster" Target="/ppt/notesMasters/notesMaster1.xml" Id="R6615c8d848564fc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0ff2dd1460d44e8" /><Relationship Type="http://schemas.openxmlformats.org/officeDocument/2006/relationships/notesMaster" Target="/ppt/notesMasters/notesMaster1.xml" Id="R88dd970b02e540c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9d35562388943ec" /><Relationship Type="http://schemas.openxmlformats.org/officeDocument/2006/relationships/notesMaster" Target="/ppt/notesMasters/notesMaster1.xml" Id="R7056fa3ab3bc4b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页｜让移动中的连续服务在路侧边缘稳定接续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依据：docs/project/system_mechanism_manuscript_working_draft.md；文献截点 2026-10-11。此稿用于研究汇报。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页｜先看一个问题：车开过路口，服务怎样接着做？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节。RSU 指路侧边缘服务器；任务链具有前后依赖。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页｜要“接着做”，下一站需要三样东西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三项分别对应 DAG predecessor result、兼容模型与可恢复的执行状态。缓存命中不等同于整体完成。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4 页｜相关工作：任务依赖与移动迁移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5 页｜相关工作：预测、模型缓存与移动服务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6 页｜相关工作：模型服务与方法基础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页｜横向对比：我们的研究把五个问题连在一起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●=论文公开研究直接涉及；◐=相邻或部分；—=非核心。本研究一行表示研究问题的覆盖范围，不表示每项效果已由正式实验确认。出处见前 3 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8 页｜我们的工作：把“准备什么、何时准备、在哪里准备”统一考虑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依据论文工作稿的系统模型与方法设计。此页描述研究框架，不作为优越性结论。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9 页｜研究问题：怎样让准备工作真正帮助任务完成？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论文工作稿第 1 节。三问分别对应共享复用、交接准备和控制方法；问题是待检验命题。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页｜方法直觉：先看下一步，再准备下一站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依据论文第 3 节：依赖前沿、目标站资源账本、增量准备、交接后继续。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页｜什么时候提前准备？看三个可观测因素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概念性决策因素：handoff timing、目标端现有资源、增量字节与容量。此页不是实验结果。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12 页｜系统结构：数据、路侧环境与控制方法形成闭环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的系统 Mermaid 图和论文工作稿重绘。NGSIM 与 Alibaba 分别提供轨迹和工作流。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页｜资源模型：共享部分只搬一次，专用部分按需补齐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3 节。base、adapter、workflow state 为不同对象；增量成本按目标站尚未驻留的唯一对象计。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14 页｜控制方法有五种实际选择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对应当前环境的五类 semantic actions。页面采用面向报告的语义名称，不展示代码编号。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15 页｜算法结构：同一份信息，支持三个时间尺度的决策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 docs/project/advisor_report_briefing_20260621.md 与论文第 4 节重绘：7 个 64 维输入块，经 448→128→64 融合，输出 slow/fast/event decisions 和价值估计。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16 页｜奖励设计：鼓励服务推进，也计入资源与时延成本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src/envs/core/vec_workflow_core_env.py:416-577。展示 RewardBreakdown 的简化分组。真实传输字节未直接从 reward 中扣除，应在系统评价中另报。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17 页｜论文中的奖励收敛图（原图）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来源：outputs/sa_ghmappo_reward_visuals_20260716/reward_convergence_selected.png；说明文档：docs/project/sa_ghmappo_reward_convergence_and_advantage_visuals_20260716.md。对应 strict_full_v8_dev_screen_20260621_v2；五个 seed，每个约 96 个训练 episode，展示 12-episode 滑动平均。该图说明训练过程中的奖励变化，属于 dev-screen 训练曲线。后页冻结评估的奖励对照来自另一实验版本，不应将两页数值直接合并解释。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18 页｜实验数据：用真实车辆轨迹和真实任务链驱动仿真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5.1 节。NGSIM 提供 mobility trace；Alibaba 提供 workflow DAG。二者并非同一现场联合观测；服务所需模型按实验设定映射。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19 页｜实验设计：先测机制，再比较决策方法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论文第 5.2/5.3 节。左侧四种机制组合是确认性实验设计，并非当前已完成的正式比较结果。右侧算法比较需使用一致观测、动作和训练预算。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20 页｜冻结评估：综合奖励在两组窗口均排名第一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reviewed_at: 2026-10-11；literature_cutoff: 2026-10-11；target_venue: IEEE TMC；policy_version: tmc_review_policy_v3_20260621；git_commit_at_review: d3e2bae；evidence_level: E2_ARTIFACT_AUDITED（既有冻结算法版本）。</a:t>
            </a:r>
          </a:p>
          <a:p xmlns:a="http://schemas.openxmlformats.org/drawingml/2006/main">
            <a:r>
              <a:t>正式 run: top_journal_v100_urgency_safe_resource_full_20260808/benchmarks/formal_full_stratified/main_results_full_stratified_20260808_183339_526215；原始 benchmark_rows.csv 共 1320 行，11 方法×20 原始窗口×2 工作流×3 seed；配对统计: artifacts/experiments/top_journal_v100_urgency_safe_resource_full_20260808/statistics/formal_full_stratified/paired_statistics.json。</a:t>
            </a:r>
          </a:p>
          <a:p xmlns:a="http://schemas.openxmlformats.org/drawingml/2006/main">
            <a:r>
              <a:t>后续独立 run: top_journal_v100_future_validation_v20_20260809/main_results_full_stratified_20260809_041440_446507；原始 benchmark_rows.csv 共 990 行，11 方法×15 原始窗口×2 工作流×3 seed；配对统计: artifacts/experiments/top_journal_v100_future_validation_v20_20260809/statistics/paired_statistics.json。</a:t>
            </a:r>
          </a:p>
          <a:p xmlns:a="http://schemas.openxmlformats.org/drawingml/2006/main">
            <a:r>
              <a:t>对最强对照“受欢迎程度缓存规则”，正式奖励差 +0.3475，window-outer BCa 95% CI [0.1550,0.60082]；后续独立奖励差 +3.9920，CI [2.077111,8.290975]。两批实验均 reward_positive_offset=0，环境奖励定义一致。页面图示 6 种方法；原始表中共 11 种方法，所提版本在两批均第一。此历史算法线与 2026-09 系统机制工作稿的开发矩阵分开，不合并为同一投稿主表，也不据此声称所有系统指标领先。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21 页｜模型共享示例：连续复用时搬运量更少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来源：artifacts/analysis/mechanism_evidence_closure_20261005_v1/。四种配置均完成72/72请求。数字是机制级资源账本，非实际无线链路吞吐。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22 页｜状态接续示例：保存进度后，只执行剩余步骤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来源：artifacts/analysis/two_node_workflow_reexecution_comparison_20261005_v1/。两节点、同机、单次技术样例；状态包 2,040 B，输出与从头运行一致。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23 页｜总结：把移动交接从“换位置”变成“接着做”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研究框架、既有冻结算法奖励对照与机制示例分别陈述。正式跨 RSU 端到端机制效果仍以相应独立实验为准。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24 页｜主要参考文献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文献截点：2026-10-11。完整 DOI/URL：</a:t>
            </a:r>
          </a:p>
          <a:p xmlns:a="http://schemas.openxmlformats.org/drawingml/2006/main">
            <a:r>
              <a:t>P1 COHCTO · TMC 2025：https://doi.org/10.1109/TMC.2025.3573379</a:t>
            </a:r>
          </a:p>
          <a:p xmlns:a="http://schemas.openxmlformats.org/drawingml/2006/main">
            <a:r>
              <a:t>P2 LDMCO · TMC 2026：https://doi.org/10.1109/TMC.2025.3646450</a:t>
            </a:r>
          </a:p>
          <a:p xmlns:a="http://schemas.openxmlformats.org/drawingml/2006/main">
            <a:r>
              <a:t>P3 Ly-COMA · IET 2025：https://doi.org/10.1049/itr2.70083</a:t>
            </a:r>
          </a:p>
          <a:p xmlns:a="http://schemas.openxmlformats.org/drawingml/2006/main">
            <a:r>
              <a:t>P4 Fan 等 · TVT 2024：https://doi.org/10.1109/TVT.2023.3310520</a:t>
            </a:r>
          </a:p>
          <a:p xmlns:a="http://schemas.openxmlformats.org/drawingml/2006/main">
            <a:r>
              <a:t>P5 MCMA · TMC 2025：https://doi.org/10.1109/TMC.2025.3539945</a:t>
            </a:r>
          </a:p>
          <a:p xmlns:a="http://schemas.openxmlformats.org/drawingml/2006/main">
            <a:r>
              <a:t>P6 MATM · TVT 2026：https://doi.org/10.1109/TVT.2026.3660321</a:t>
            </a:r>
          </a:p>
          <a:p xmlns:a="http://schemas.openxmlformats.org/drawingml/2006/main">
            <a:r>
              <a:t>P7 AWTO · FGCS 2026：https://doi.org/10.1016/j.future.2026.108415</a:t>
            </a:r>
          </a:p>
          <a:p xmlns:a="http://schemas.openxmlformats.org/drawingml/2006/main">
            <a:r>
              <a:t>P8 POLAR · arXiv 2026：https://arxiv.org/abs/2604.16583</a:t>
            </a:r>
          </a:p>
          <a:p xmlns:a="http://schemas.openxmlformats.org/drawingml/2006/main">
            <a:r>
              <a:t>P9 SLoRA · MLSys 2024：https://proceedings.mlsys.org/paper_files/paper/2024/hash/906419cd502575b617cc489a1a696a67-Abstract-Conference.html</a:t>
            </a:r>
          </a:p>
          <a:p xmlns:a="http://schemas.openxmlformats.org/drawingml/2006/main">
            <a:r>
              <a:t>P10 Punica · MLSys 2024：https://proceedings.mlsys.org/paper_files/paper/2024/hash/054de805fcceb78a201f5e9d53c85908-Abstract-Conference.html</a:t>
            </a:r>
          </a:p>
          <a:p xmlns:a="http://schemas.openxmlformats.org/drawingml/2006/main">
            <a:r>
              <a:t>P11 WfCommons · FGCS 2022：https://doi.org/10.1016/j.future.2021.09.043</a:t>
            </a:r>
          </a:p>
          <a:p xmlns:a="http://schemas.openxmlformats.org/drawingml/2006/main">
            <a:r>
              <a:t>P12 RUDDER · NeurIPS 2019：https://papers.neurips.cc/paper_files/paper/2019/hash/16105fb9cc614fc29e1bda00dab60d41-Abstract.html</a:t>
            </a:r>
          </a:p>
          <a:p xmlns:a="http://schemas.openxmlformats.org/drawingml/2006/main">
            <a:r>
              <a:t>P13 MAPPO · NeurIPS 2022：https://arxiv.org/abs/2103.01955</a:t>
            </a:r>
          </a:p>
          <a:p xmlns:a="http://schemas.openxmlformats.org/drawingml/2006/main">
            <a:r>
              <a:t>方法与数值来源：docs/project/system_mechanism_manuscript_working_draft.md；artifacts/analysis/mechanism_evidence_closure_20261005_v1/；artifacts/analysis/two_node_workflow_reexecution_comparison_20261005_v1/；artifacts/experiments/top_journal_v100_urgency_safe_resource_full_20260808/；artifacts/experiments/top_journal_v100_future_validation_v20_20260809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8bd9b215e46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c2936d45e45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72d0da8c5846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376551b0f4e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6a0344d0947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edbc5068442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3F7FF40-F0BD-46E3-97CA-9AC27550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12BB7D7-3062-47F7-8728-752EA66401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8E3F4DA-F4D3-4CE3-9F24-C3392B7682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7D3CF56-9024-4BD6-9C7E-6BEDF683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0B752E4-0A9E-4D9E-BB4E-35B8F4AA1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277D9ED-0990-41D7-9E81-3F777D1A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8C6EDE5-13A1-4F97-B8F7-C69AD6B8C3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AFD8D6D-E244-4060-B8C1-2B90676BB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FE117E0-D6E5-461A-BCC7-AE45BE30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5FCE83E-CC2E-489A-AE4B-61512424A5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344A3A-5B51-4D48-A348-4FEB7A536F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4521444-05F3-4C99-A90D-421A0B7C82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45896F2-DFCD-4399-AC8E-307CBDD0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E572988-6226-425D-8DE4-419D495F79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7992FF4-213D-4DAD-AEBD-F9F58D4259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3d3f133aa14dbe" /><Relationship Type="http://schemas.openxmlformats.org/officeDocument/2006/relationships/slideLayout" Target="/ppt/slideLayouts/slideLayout1.xml" Id="Rc0487e13c6d447b4" /><Relationship Type="http://schemas.openxmlformats.org/officeDocument/2006/relationships/slideLayout" Target="/ppt/slideLayouts/slideLayout2.xml" Id="R5c3fa230824445b1" /><Relationship Type="http://schemas.openxmlformats.org/officeDocument/2006/relationships/slideLayout" Target="/ppt/slideLayouts/slideLayout3.xml" Id="Rf3318ce6a9824a34" /><Relationship Type="http://schemas.openxmlformats.org/officeDocument/2006/relationships/slideLayout" Target="/ppt/slideLayouts/slideLayout4.xml" Id="R3e16e01babc84665" /><Relationship Type="http://schemas.openxmlformats.org/officeDocument/2006/relationships/slideLayout" Target="/ppt/slideLayouts/slideLayout5.xml" Id="Rbd069c0579174a6e" /><Relationship Type="http://schemas.openxmlformats.org/officeDocument/2006/relationships/slideLayout" Target="/ppt/slideLayouts/slideLayout6.xml" Id="R4e7bee26ebb44a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487e13c6d447b4"/>
    <p:sldLayoutId xmlns:r="http://schemas.openxmlformats.org/officeDocument/2006/relationships" id="2147483650" r:id="R5c3fa230824445b1"/>
    <p:sldLayoutId xmlns:r="http://schemas.openxmlformats.org/officeDocument/2006/relationships" id="2147483651" r:id="Rf3318ce6a9824a34"/>
    <p:sldLayoutId xmlns:r="http://schemas.openxmlformats.org/officeDocument/2006/relationships" id="2147483652" r:id="R3e16e01babc84665"/>
    <p:sldLayoutId xmlns:r="http://schemas.openxmlformats.org/officeDocument/2006/relationships" id="2147483653" r:id="Rbd069c0579174a6e"/>
    <p:sldLayoutId xmlns:r="http://schemas.openxmlformats.org/officeDocument/2006/relationships" id="2147483654" r:id="R4e7bee26ebb44a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c99cfde86b4138" /><Relationship Type="http://schemas.openxmlformats.org/officeDocument/2006/relationships/image" Target="/ppt/media/image.png" Id="Rbf9c1f41c99b401e" /><Relationship Type="http://schemas.openxmlformats.org/officeDocument/2006/relationships/notesSlide" Target="/ppt/notesSlides/notesSlide1.xml" Id="R5cbbd732690647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2dab0600f44954" /><Relationship Type="http://schemas.openxmlformats.org/officeDocument/2006/relationships/image" Target="/ppt/media/image2.png" Id="R969c24e4634041a9" /><Relationship Type="http://schemas.openxmlformats.org/officeDocument/2006/relationships/notesSlide" Target="/ppt/notesSlides/notesSlide2.xml" Id="Rc8727f3330264f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29b67d093a4e2a" /><Relationship Type="http://schemas.openxmlformats.org/officeDocument/2006/relationships/image" Target="/ppt/media/image3.png" Id="R64b8d5ebd8134214" /><Relationship Type="http://schemas.openxmlformats.org/officeDocument/2006/relationships/notesSlide" Target="/ppt/notesSlides/notesSlide3.xml" Id="Rf00d59f3618745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8a4d678a0745e4" /><Relationship Type="http://schemas.openxmlformats.org/officeDocument/2006/relationships/image" Target="/ppt/media/image4.png" Id="Rb2a17d3481af4aa1" /><Relationship Type="http://schemas.openxmlformats.org/officeDocument/2006/relationships/notesSlide" Target="/ppt/notesSlides/notesSlide4.xml" Id="R56efb4dd5159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f38313ff7434c" /><Relationship Type="http://schemas.openxmlformats.org/officeDocument/2006/relationships/image" Target="/ppt/media/image5.png" Id="R1b4c571645af4982" /><Relationship Type="http://schemas.openxmlformats.org/officeDocument/2006/relationships/notesSlide" Target="/ppt/notesSlides/notesSlide5.xml" Id="R8682c65a82c948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dcab5d27484a4d" /><Relationship Type="http://schemas.openxmlformats.org/officeDocument/2006/relationships/image" Target="/ppt/media/image6.png" Id="Rebbda28c19e44f76" /><Relationship Type="http://schemas.openxmlformats.org/officeDocument/2006/relationships/notesSlide" Target="/ppt/notesSlides/notesSlide6.xml" Id="R40aa093e166a4f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e7d01d7f854684" /><Relationship Type="http://schemas.openxmlformats.org/officeDocument/2006/relationships/image" Target="/ppt/media/image7.png" Id="R7901b1402ced4b4a" /><Relationship Type="http://schemas.openxmlformats.org/officeDocument/2006/relationships/notesSlide" Target="/ppt/notesSlides/notesSlide7.xml" Id="R6f1fd0906d374e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341207c70c4c76" /><Relationship Type="http://schemas.openxmlformats.org/officeDocument/2006/relationships/image" Target="/ppt/media/image8.png" Id="R5ad8e57dc69845e7" /><Relationship Type="http://schemas.openxmlformats.org/officeDocument/2006/relationships/notesSlide" Target="/ppt/notesSlides/notesSlide8.xml" Id="R6880228bbcbd41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1b81aee3474c3d" /><Relationship Type="http://schemas.openxmlformats.org/officeDocument/2006/relationships/image" Target="/ppt/media/image9.png" Id="Rcf5b248839b849b1" /><Relationship Type="http://schemas.openxmlformats.org/officeDocument/2006/relationships/notesSlide" Target="/ppt/notesSlides/notesSlide9.xml" Id="R0808b7c4c5c644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5cc0adb5574bfc" /><Relationship Type="http://schemas.openxmlformats.org/officeDocument/2006/relationships/image" Target="/ppt/media/image10.png" Id="Rebad18e1bfe34c6c" /><Relationship Type="http://schemas.openxmlformats.org/officeDocument/2006/relationships/notesSlide" Target="/ppt/notesSlides/notesSlide10.xml" Id="R3607b6bc89c44c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d0de0c07b74f16" /><Relationship Type="http://schemas.openxmlformats.org/officeDocument/2006/relationships/image" Target="/ppt/media/image11.png" Id="Ra856a52310db4a67" /><Relationship Type="http://schemas.openxmlformats.org/officeDocument/2006/relationships/notesSlide" Target="/ppt/notesSlides/notesSlide11.xml" Id="R73b800cc9e0846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f09d1bf6d436c" /><Relationship Type="http://schemas.openxmlformats.org/officeDocument/2006/relationships/image" Target="/ppt/media/image12.png" Id="R6988708544da40ab" /><Relationship Type="http://schemas.openxmlformats.org/officeDocument/2006/relationships/notesSlide" Target="/ppt/notesSlides/notesSlide12.xml" Id="Rbdf7af6baf064a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4a94909eef49e6" /><Relationship Type="http://schemas.openxmlformats.org/officeDocument/2006/relationships/image" Target="/ppt/media/image13.png" Id="R80887c3eea894ea1" /><Relationship Type="http://schemas.openxmlformats.org/officeDocument/2006/relationships/notesSlide" Target="/ppt/notesSlides/notesSlide13.xml" Id="Rc4610349f1a94da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675c39d00c424c" /><Relationship Type="http://schemas.openxmlformats.org/officeDocument/2006/relationships/image" Target="/ppt/media/image14.png" Id="R27fb4fe127a6482d" /><Relationship Type="http://schemas.openxmlformats.org/officeDocument/2006/relationships/notesSlide" Target="/ppt/notesSlides/notesSlide14.xml" Id="Rb1fb8145171444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2dc12ef669418a" /><Relationship Type="http://schemas.openxmlformats.org/officeDocument/2006/relationships/image" Target="/ppt/media/image15.png" Id="Rf885846ae1d2476c" /><Relationship Type="http://schemas.openxmlformats.org/officeDocument/2006/relationships/notesSlide" Target="/ppt/notesSlides/notesSlide15.xml" Id="R21e7d52ba4624fc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a00d1ae2fe45e0" /><Relationship Type="http://schemas.openxmlformats.org/officeDocument/2006/relationships/image" Target="/ppt/media/image16.png" Id="R13efa2cf0ac64595" /><Relationship Type="http://schemas.openxmlformats.org/officeDocument/2006/relationships/notesSlide" Target="/ppt/notesSlides/notesSlide16.xml" Id="R1b7d47ab2b804a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7224f67c5b4eb6" /><Relationship Type="http://schemas.openxmlformats.org/officeDocument/2006/relationships/image" Target="/ppt/media/image17.png" Id="Rb1221abe85f84677" /><Relationship Type="http://schemas.openxmlformats.org/officeDocument/2006/relationships/image" Target="/ppt/media/image18.png" Id="R153b7b0e3b9243b7" /><Relationship Type="http://schemas.openxmlformats.org/officeDocument/2006/relationships/notesSlide" Target="/ppt/notesSlides/notesSlide17.xml" Id="Rd803a755bccb469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9528bf4d9e487b" /><Relationship Type="http://schemas.openxmlformats.org/officeDocument/2006/relationships/image" Target="/ppt/media/image19.png" Id="Rdbe9ebfd21644504" /><Relationship Type="http://schemas.openxmlformats.org/officeDocument/2006/relationships/notesSlide" Target="/ppt/notesSlides/notesSlide18.xml" Id="Re056d52f4b294b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94f2fe272a4ec9" /><Relationship Type="http://schemas.openxmlformats.org/officeDocument/2006/relationships/image" Target="/ppt/media/image20.png" Id="R881e3474d030476a" /><Relationship Type="http://schemas.openxmlformats.org/officeDocument/2006/relationships/notesSlide" Target="/ppt/notesSlides/notesSlide19.xml" Id="R27b6c11d54ce4ca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d7a15739a74500" /><Relationship Type="http://schemas.openxmlformats.org/officeDocument/2006/relationships/image" Target="/ppt/media/image21.png" Id="R1fe314251cd842af" /><Relationship Type="http://schemas.openxmlformats.org/officeDocument/2006/relationships/notesSlide" Target="/ppt/notesSlides/notesSlide20.xml" Id="Rfc2bb8a4bf43498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f35be1e15140eb" /><Relationship Type="http://schemas.openxmlformats.org/officeDocument/2006/relationships/image" Target="/ppt/media/image22.png" Id="Re0fefe1e70c640ac" /><Relationship Type="http://schemas.openxmlformats.org/officeDocument/2006/relationships/notesSlide" Target="/ppt/notesSlides/notesSlide21.xml" Id="Rfa8075beca33451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0799c808244791" /><Relationship Type="http://schemas.openxmlformats.org/officeDocument/2006/relationships/image" Target="/ppt/media/image23.png" Id="Ra93d9b33422f4252" /><Relationship Type="http://schemas.openxmlformats.org/officeDocument/2006/relationships/notesSlide" Target="/ppt/notesSlides/notesSlide22.xml" Id="Re89f5ec0260c453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f3ba294ac54d62" /><Relationship Type="http://schemas.openxmlformats.org/officeDocument/2006/relationships/image" Target="/ppt/media/image24.png" Id="R60406bd2b0bc4a4c" /><Relationship Type="http://schemas.openxmlformats.org/officeDocument/2006/relationships/notesSlide" Target="/ppt/notesSlides/notesSlide23.xml" Id="Re4f5fe99077948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0c3f3665f4f73" /><Relationship Type="http://schemas.openxmlformats.org/officeDocument/2006/relationships/image" Target="/ppt/media/image25.png" Id="Ref4f8ab5531e4e64" /><Relationship Type="http://schemas.openxmlformats.org/officeDocument/2006/relationships/notesSlide" Target="/ppt/notesSlides/notesSlide24.xml" Id="R8579b90fe0c247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D9036-AB80-40C6-8897-73D62E95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88A038-52A0-45B8-946A-7A662B1B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c1f41c99b401e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17910-85C5-4067-8626-45E74DAB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广东工业大学 · 学术研究汇报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99ACB-D177-4595-A561-F4D3F68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让移动中的连续服务在路侧边缘稳定接续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D216C-58F6-4C27-8B9E-8EEA95E2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DBCA9-3DE1-45A2-A733-5E06B837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20773-B3AE-4844-831A-414EDC1D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模型复用与执行状态协同准备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A19F1-405B-49EF-BAA3-885EAF49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90900"/>
            <a:ext cx="10382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相关工作 · 系统方法 · 实验与发现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3C2400-79AB-470A-B2EF-9F173E00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95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8D67A-D233-4278-AF2E-4CF9DEC8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1038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Dependency-Aware Preparation for Mobile Edge Workflows</a:t>
            </a:r>
          </a:p>
        </p:txBody>
      </p:sp>
    </p:spTree>
    <p:extLst>
      <p:ext uri="{BB962C8B-B14F-4D97-AF65-F5344CB8AC3E}">
        <p14:creationId xmlns:p14="http://schemas.microsoft.com/office/powerpoint/2010/main" val="14736060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924675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429000" y="30765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95CBB7-FFB9-4847-BFA6-167E23B1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C3AFB-A8C0-4743-B228-1BD9D150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c24e4634041a9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21B6E0-74D9-42F5-A26F-259EFF9B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一分钟理解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1E4AF-B3E4-4059-B47F-CC45918F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先看一个问题：车开过路口，服务怎样接着做？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38721-AA6F-4288-8BD1-EBBAA5A0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66876-F598-4A3A-8D9F-797B5A91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F734E-B949-405C-BAE7-5A08E2C7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2647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完成前一步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5AE93-B84B-45B4-B1E1-97362B94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2352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车辆驶向下一站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1ED69-B222-45AF-BA52-7BF77674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562225"/>
            <a:ext cx="32766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路侧站 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继续下一步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7D7D76-A862-4B75-9472-EB8E6D3D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042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我们关注的不是一次任务放在哪里，而是整条服务链能否连续完成。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7DD9B-51CB-449C-92C9-3FB003A8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路侧站：靠近车辆部署的边缘服务器；连续服务：后一步要使用前一步的结果。</a:t>
            </a:r>
          </a:p>
        </p:txBody>
      </p:sp>
    </p:spTree>
    <p:extLst>
      <p:ext uri="{BB962C8B-B14F-4D97-AF65-F5344CB8AC3E}">
        <p14:creationId xmlns:p14="http://schemas.microsoft.com/office/powerpoint/2010/main" val="2740468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572375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771900" y="33909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011CE-364B-42E2-AFCB-40E4C5E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9D47D-E86D-49E6-93FC-93675173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b8d5ebd813421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7918C-EA91-43B6-AEB5-318E3690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研究背景 · 问题分解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4F0B9-698E-4B62-816F-7674084D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要“接着做”，下一站需要三样东西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6C330-03D0-42E6-9380-28B5E499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E38CA-4653-4796-A000-B3DC52CD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72453-1CA2-40C9-9A61-2A468E86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① 前一步的结果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知道任务做到哪里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61A29-0B7C-43A9-9631-01DF8199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② 可用的模型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具备执行下一步的能力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FFFEC-2EE8-4DED-82D0-15A92A07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428875"/>
            <a:ext cx="2962275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③ 运行时状态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能从断点继续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62254-75C5-4C66-AE99-D475F64E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这三件事必须在同一个交接窗口内相互配合。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68E40-ED9E-430D-B3B0-84B81658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“有先后依赖的工作流”在论文中记为 DAG。</a:t>
            </a:r>
          </a:p>
        </p:txBody>
      </p:sp>
    </p:spTree>
    <p:extLst>
      <p:ext uri="{BB962C8B-B14F-4D97-AF65-F5344CB8AC3E}">
        <p14:creationId xmlns:p14="http://schemas.microsoft.com/office/powerpoint/2010/main" val="768191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780F86-38C5-49CC-9308-62D98F81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BE0DD-A89D-404A-920F-102BF1B1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17d3481af4aa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E037F-C02E-43B0-83E1-E062C15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1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F32A6-BE03-400F-AB3F-166A23F5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相关工作：任务依赖与移动迁移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5C8A2B-0B02-4071-8EA9-15D2D1D4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2D727-D66F-4924-A564-777BEAC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4C26B-1E9E-48E7-8C3B-021D9D67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6458C-ACD2-43A1-BD5F-8DC37BC2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1340C-EC6E-47C3-9607-ABA20E34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49F26-1C3D-4C39-B965-EF32B779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9DF17D-63E8-492A-A18A-95F86DA0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9ABED-F315-4AD7-BAAB-C1A7C3F2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把任务依赖和服务缓存一起纳入卸载。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F03AD-7E65-41D0-8F6D-7E4F4EC2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继续研究交接时，模型组件与执行进度如何一同到位。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CEECCE-67B9-4786-A62E-2B47943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178A17-D41B-4B16-8FCC-F7CF0F33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19556-0CF7-428E-A882-C9B84806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0037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针对有先后顺序的任务，优化数据依赖与执行时机。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10A9B9-A8DC-499F-93CE-93472B4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0037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进一步研究任务跨路侧站后，已完成的进度如何保留。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874723-FB12-45AB-AE28-C85568D0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861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40DD98-2133-4B58-B3EE-AF8C40E7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D19731-A64E-438E-AB16-7E42EE48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9570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把有依赖的子任务与跨边缘迁移放在一起。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127EA-FD49-42D8-97D7-CF527C59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69570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进一步区分共享模型、专用模块与执行状态的准备。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1CD99C-A2E1-43BE-9EF1-4C6FF206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74976C-E1E1-4782-A7B8-05158328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6B9F0-A717-4497-9C98-3A4F0908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91025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利用车辆携带依赖结果，支持无回传链路迁移。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180E4-0114-4FF2-9A55-5F98F72A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391025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进一步研究模型复用与准备开销、完成量的关系。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E7F693-9CDC-4E68-ACF5-7530F69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698124-65A6-4ADC-8611-AC7B6AD9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8FE174-E065-46A8-958B-906E6594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086350"/>
            <a:ext cx="3667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用轨迹预测指导任务迁移和卸载。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EFD0DC-47D7-4D62-9EC9-CA1FEC8A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086350"/>
            <a:ext cx="441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进一步关注整条任务链跨站继续，而不只决定迁往哪里。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2A57B9-D58F-4EAB-B936-B79A22EC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1264806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1A38BC-E1CC-40AF-BF52-0F86CCF0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E3498-8448-4A44-A73F-EC0F3999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c571645af4982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ECF9F-B22A-4BB4-A3F9-2B4B85D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2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33433-89BD-496C-A508-CA1CAC7D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相关工作：预测、模型缓存与移动服务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54115-7727-43FD-88FC-5DDBB5E2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8A39E-9C2A-4030-8B6E-58FC9599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58252-5499-4644-81C3-E9C01D54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7E4DC-E6A6-4C65-9EF8-BAFECE89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8D7DC-6B65-42AB-9DCD-679CF423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F8031-3A95-4184-9064-10BE8C9F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A8D4E-C2FB-49A2-BB8C-52369581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17AB56-B4AE-4DD5-B70E-EBD9F9B6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结合轨迹预测、任务迁移与资源分配。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360D8-ECA9-4692-9201-D152613E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进一步让目标站的模型与后续执行所需状态共同就绪。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01F70-09E8-4E3B-BB29-AE01781C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E5DDE-6E8A-4C7B-B001-E74B7846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87F9F7-2B3F-4504-BC0C-6C8877BA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在边缘集群中联动工作流调度、模型加载与内存。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1C3E63-C6EA-42AC-9CDE-5C58DE2B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进一步处理车辆移动造成的路侧站交接。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3DD83-DA87-4B7B-BE4A-26A06F02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12135-3E2E-4487-8A78-8E1267C4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1D0A89-4D10-4605-9A3D-08D5A3D9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联合管理专用模型模块的缓存与请求路由。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389C49-B3DD-406D-8FB0-877B5CBD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进一步纳入任务先后依赖、车辆移动和中途继续执行。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0A35A-7FA0-402C-B2F3-E9FE49B2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E1E205-2615-43A0-9AEA-BA5D638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0E5828-DF59-4037-86FF-E2C18B57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一份共享模型支持大量专用模块的高效服务。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0F344B-CAE1-4C77-9F0C-B5085430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进一步决定跨站交接前，哪些组件值得提前准备。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5D451-9273-4AC1-9782-5854E67B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2026997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4DFBE3-3B2D-42CC-90EB-9677B2FF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8374E-79BF-4B82-BF18-18F4F111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da28c19e44f76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0086F-46D8-4BFE-8319-4C8B712A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文献对比 3 /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8402C-D4B8-40D8-8137-E765BC36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相关工作：模型服务与方法基础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C6E91-4FE2-46C3-A099-290F674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50F98-DC77-49E6-9D10-4F95D663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79EBE-B86A-47E8-B19B-21C98E0A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代表论文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41F28-8EF8-4F55-8161-2B19C9E5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85950"/>
            <a:ext cx="3695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这篇论文解决了什么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08A5F-420F-4764-B80A-83886B74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1885950"/>
            <a:ext cx="4391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我们进一步研究什么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94443-F521-4DCE-BEFA-091B81CB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87C2A2-B92B-416F-9275-3D392BC3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49B56-3B00-4309-BF86-F4BC9D84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利用共享模型服务多个专用模块请求。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50C9B6-6BB6-492C-830E-5FA2EA49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3050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进一步研究车辆移动时的模块放置与后续任务执行。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56293-70E1-4737-B967-07671E4F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35725-101F-45D4-81C2-347D9724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F7377-E4C1-4D88-BC75-929C9957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623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分析并生成具有真实结构特征的工作流。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A2474-0E5E-40DA-AF21-766DA55E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进一步把工作流结构与车辆轨迹、路侧资源联系起来。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29B0D-C8DB-4B59-A50A-680AA9CA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3A25FE-0038-435E-BBBB-B49D41C1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92829A-2805-4B0B-BB69-9445581D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01955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研究长期任务中如何分配延迟到来的奖励。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CF36B6-82CE-476C-A62D-23366FE2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01955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进一步落到模型准备、交接与传输开销的具体系统问题。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7307D-C6AB-41F0-807C-02CDC26F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0725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031DD-A985-46A1-ADAA-ED5BAC53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23241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BC439-527F-4197-A502-71D7B87F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876800"/>
            <a:ext cx="36671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提供合作式强化学习的基线方法与经验。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DDE77-B4E6-46AA-AFD1-65545F05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876800"/>
            <a:ext cx="4419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进一步建立车辆、路侧站和连续工作流的系统模型。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65523D-BE39-4C2B-BEC6-A55527B8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逐篇对比的是研究对象与问题边界；详细出处见演讲备注。</a:t>
            </a:r>
          </a:p>
        </p:txBody>
      </p:sp>
    </p:spTree>
    <p:extLst>
      <p:ext uri="{BB962C8B-B14F-4D97-AF65-F5344CB8AC3E}">
        <p14:creationId xmlns:p14="http://schemas.microsoft.com/office/powerpoint/2010/main" val="13029040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E0BE1D6-C631-42DD-9F70-CFF89563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CE343-CB18-4AD4-B874-CD973F5D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b1402ced4b4a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B04C1-AA2C-4216-9F89-1C658849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文献定位 · 研究范围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F4EBB-61B6-48F7-804B-0C6A3588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横向对比：我们的研究把五个问题连在一起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3BF1A-2F32-4A67-9F6E-955073DD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8E8A1-014C-4316-BADA-326BB0A9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F96EF-BA0D-415B-BA95-4175B654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29241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论文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27A36-C6EF-472A-8B39-134661D9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24050"/>
            <a:ext cx="15049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任务依赖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9D688-8154-43EB-BB8C-400C0C24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模型复用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26E03-D16B-4C21-83E7-FD12B767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车辆移动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D5F07-25F2-4A6B-8AFC-CBF6EEBF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924050"/>
            <a:ext cx="137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状态续接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7582A-90F8-491C-997C-DFD9B1CB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24050"/>
            <a:ext cx="1714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联合决策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2A609-9B01-4704-9FD0-2DEEEC7D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14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P1 COHCTO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DE2EF1-0EDA-4314-808A-CAC512DB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0E09B-D5EA-4D45-A98C-04FDA796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36CBC5-E21F-49D5-9E18-0E83655F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3F6290-738A-4427-87E1-17189B7C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314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1C775-469C-415A-8D9D-D681A3B8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14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5AB3DD-FD3B-42A3-AB53-6C156D42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04DB43-48FC-4F9F-BB9B-1D6EF32E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P2 LDMCO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629B12-D0EC-4631-888B-4A4F0C5F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47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5B1DDB-AC21-4349-A1EB-7D42BFD9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F3A72F-D670-4205-B2B8-39AB11D6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636789-DB2A-479F-AB67-879D0015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647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6143B-F7C5-4008-8EBA-E36C0EF5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47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DAD25B-5F4F-44E9-B15D-A67566FC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72D15A-3E19-4865-A056-B4C6B24B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P3 Ly-COMA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299DD1-758E-49E2-8B3B-32E7C2D1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813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7C2322-5213-4F24-A285-4E6110EB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E071D9-657A-4692-BA08-1D0AFE21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7F7D63-E2F6-4EBC-BC0B-2D6C174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813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950512-97C3-4D15-BD6A-B70D367D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81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2545A-9AED-486D-8702-60530215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31EC73-91DD-4E3B-99B8-E503FBC4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P4 Fan 迁移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03360C-88DB-4B88-9437-AF87005B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47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71F250-50C1-4516-99C9-CCE9DB70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2DDAA4-90D4-47E1-B11B-FFE7FF8B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7367CF-B615-44FE-87F8-2FBDD78C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3147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B0F066-A4E3-402C-9D2B-EE4FC9B7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147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D59023-AD70-46FE-ADA4-D1483686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63507E-7FEB-4EF6-981A-F2C8A7D2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480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P5 MCMA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386A4B-A1F1-4067-93C0-715BF49C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480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D396A3-2383-4B22-BDCE-2CD89599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BA85E1-6E7C-437C-B6DB-D4984BCA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17CC97-ACB1-4B9B-B82B-AC1A6DF3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6480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95682C-A0C9-4CE6-8824-F1F10D49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480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AB6886-6528-4268-A3B8-F26BC66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528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294A4E-F573-4341-9313-D68DF308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P6 MATM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C8BC67-0104-474E-9740-F3744FC8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814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E446FF-022A-4DE6-9088-278EC087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51703E-88EE-4EED-A46C-F204EA8C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EAD84E-1512-4F97-AAE5-F6167C5D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9814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82736C-14F3-4D6C-BC37-E5CDCA99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814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5976FC-F5AE-46CD-8684-49DD08ED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C22799-69E0-40FA-83ED-651C9343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1482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P7 AWTO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B98BF6-4FFE-4539-B35B-F696A980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1482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10C7A9-6ECA-4CDB-9564-F4319C63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9B76458-E3E4-4A75-9540-5A23DDEF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8D3729-4F3E-4D41-A8DA-EC91BF17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3148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DADF2D6-CD0D-40E4-AC39-ED9CB21C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148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AE80217-4D88-4B73-A914-11D94D3C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BB0CB23-8864-46B1-995F-658EE843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P8 POLAR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A2EC60-761D-48CA-A7E9-9E894902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56BD8D-8E50-4258-B3BF-23E7A16E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4D085E5-09BC-403A-99A4-0D7E6B9D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ABD20B6-7DCA-46EB-A01C-95F2506B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4820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22BA8EA-4765-48C2-9BE5-5242ABBE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482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◐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462C28D-0259-4185-A4A8-F9DB8146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66F55EF-F3F8-487F-AB52-0A79A792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81575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P9/10 SLoRA/Punica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2E7C997-FED3-416D-ACFF-77C5583B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81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C5737CA-D658-4488-8C68-D8E0D90B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D30A955-FDA0-4E05-9A8D-917DB478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60CB75B-78C0-4865-AD98-03A0F872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9815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C944DA9-2CFC-49B5-BFD6-74CA9E30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81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96B5FF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56676F6-21B8-47A9-B6D0-CE396F65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D8A0D44-8336-43D7-9B90-02151B5F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95900"/>
            <a:ext cx="10734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6193">
            <a:solidFill>
              <a:srgbClr val="BDEE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728B9D2-25D4-4EE5-A6F4-3663F0DE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14950"/>
            <a:ext cx="2924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本研究关注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0A42E3-01F6-4FC0-A86F-76927F41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314950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47DC37C-3665-4722-BF26-E40BF276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A4C048F-3BBE-4DF5-95A3-5720A8EA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721315B-4E89-43EA-8B94-01DC2B4D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53149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A36E037-009D-47AC-9F4D-B028CEA6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14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●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D62F147-24C5-44B4-8F9C-9A5C4219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38800"/>
            <a:ext cx="10639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33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● 直接涉及    ◐ 部分相关    — 非核心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3D6AF71-B6CE-4096-AC28-371E0797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五个方面的交集，是本文提出统一准备与调度方法的出发点。</a:t>
            </a:r>
          </a:p>
        </p:txBody>
      </p:sp>
    </p:spTree>
    <p:extLst>
      <p:ext uri="{BB962C8B-B14F-4D97-AF65-F5344CB8AC3E}">
        <p14:creationId xmlns:p14="http://schemas.microsoft.com/office/powerpoint/2010/main" val="8494683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05725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981450" y="33909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D0A07-9203-4ADC-BA49-E3BEFDAC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EFE75-AA0F-4ECD-9948-69EBA29B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8e57dc69845e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7E9A8-46DF-496D-ABD1-7D876707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研究贡献 · 一张图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F5600-0A5B-4852-AC0C-90C658A7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我们的工作：把“准备什么、何时准备、在哪里准备”统一考虑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765DE-7DCB-4673-A90F-5294CADE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AFBF6-4FC7-4AFC-BBC8-8838F88C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53994-97D8-43C3-B0F5-71ECD0B7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准备什么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前一步结果、共享模型、专用模块与运行状态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D2E89-706C-45EF-BEED-5F8DF002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何时准备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根据任务进度与预计交接时间决定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4B5634-B8F2-4D51-9096-95641AF9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86000"/>
            <a:ext cx="32289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在哪里准备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检查下一路侧站已有资源与可用容量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274404-C553-4740-AB7F-D338ED0D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1967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评价时同时看：整条任务链是否完成、等待时间和搬运数据量。</a:t>
            </a:r>
          </a:p>
        </p:txBody>
      </p:sp>
    </p:spTree>
    <p:extLst>
      <p:ext uri="{BB962C8B-B14F-4D97-AF65-F5344CB8AC3E}">
        <p14:creationId xmlns:p14="http://schemas.microsoft.com/office/powerpoint/2010/main" val="8681304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FCDC98-28E8-4E27-8F24-C0747AD1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D7781-2AC0-4329-810D-93E499F8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b248839b849b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93BAC-5A99-4DB6-A47A-7F383939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研究问题 · 三个问题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3197A-1DF8-42DB-B179-20A68DC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研究问题：怎样让准备工作真正帮助任务完成？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98173-135A-4CA0-AAE3-50F9A50E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ABA7F-FEA4-41D6-A4E1-289958E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DB176-1B6C-42C0-87D3-CA104E67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812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A1B36-A97E-48C6-90A6-5A0478F5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383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多个步骤共用一个模型时，能减少多少重复搬运？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91F06-DBF7-4D72-BAF2-EC9493D7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8137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079F2-6F83-4D6C-BEE1-3FA674BF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3852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车辆即将交接时，哪些资源值得提前放到下一站？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6E24F-006F-42A4-BE72-9761CBF5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81525"/>
            <a:ext cx="2276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C7305-F6C3-44BB-9558-CE27508E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638675"/>
            <a:ext cx="7848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面对任务进度与车辆移动，怎样协调长期准备和即时执行？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3AF73-318F-443E-AA52-5EA22C7F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统一的目标：让更多完整工作流按时完成，并控制等待和传输成本。</a:t>
            </a:r>
          </a:p>
        </p:txBody>
      </p:sp>
    </p:spTree>
    <p:extLst>
      <p:ext uri="{BB962C8B-B14F-4D97-AF65-F5344CB8AC3E}">
        <p14:creationId xmlns:p14="http://schemas.microsoft.com/office/powerpoint/2010/main" val="4246884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13447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210300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286125" y="30194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088725-2731-486A-8D96-9C570F01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963E7-5798-436A-8104-FEE6CC0B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d18e1bfe34c6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247FE-79D9-47BE-85CC-406D0E4C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核心机制 · 四步说明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B4E40-3C69-4BEA-A026-B87368DB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方法直觉：先看下一步，再准备下一站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96328E-A20F-48AB-A35E-48A965CE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44057-A422-42ED-9255-15737A8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4612C-ED46-4DDE-AC73-D6EEFF90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看任务进度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下一步需要什么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A1C51-94F1-47C9-BCD1-1AFB5078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看车辆动向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可能到哪一站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7E4DE-30B3-4837-BF53-620324E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81250"/>
            <a:ext cx="25431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看已有资源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只补齐缺少的部分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14B24-A7EB-45B6-A972-1575C71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381250"/>
            <a:ext cx="19240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交接之后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从原进度继续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D8583D-05D2-4A93-B781-AAE773F3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104584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核心思想：下一站准备的是“后续工作真正需要、且当前还没有”的资源。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21C0B-4B13-4421-A709-F137A59A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准备对象包括模型组件，也包括已经完成步骤留下的运行状态。</a:t>
            </a:r>
          </a:p>
        </p:txBody>
      </p:sp>
    </p:spTree>
    <p:extLst>
      <p:ext uri="{BB962C8B-B14F-4D97-AF65-F5344CB8AC3E}">
        <p14:creationId xmlns:p14="http://schemas.microsoft.com/office/powerpoint/2010/main" val="19677001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B5D5C-5141-4CEF-872B-5DE51141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9251F-D6FF-4549-871B-A9EE0786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6a52310db4a6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05BFB-610E-4371-A9A4-A7A12F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策略取舍 · 判断依据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2CA76-A51E-4643-9682-8C2DDC4A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什么时候提前准备？看三个可观测因素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47A197-56F1-4501-95E3-C4EB7E35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D45F6-F42C-4243-BE93-0ADA0E01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90B43-B056-40A0-9392-B48B5E9B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交接时间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车辆还会在本站停留多久？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C387F-F9E1-4EB6-A50E-BC99937C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下一站已有资源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是否已经存着可复用模型？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23513-768D-4A4B-8C8D-B753643D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19350"/>
            <a:ext cx="2952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需要传多少数据、占多少空间？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E20F9-BC6C-41DE-B1EF-29FD3539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95825"/>
            <a:ext cx="10544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据此选择：提前准备、等需求出现再准备，或由车端完成当前步骤。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0A472-BCA4-4D7C-B2B9-C8376ED3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这使“是否提前搬运”成为可计算的决策，而非固定规则。</a:t>
            </a:r>
          </a:p>
        </p:txBody>
      </p:sp>
    </p:spTree>
    <p:extLst>
      <p:ext uri="{BB962C8B-B14F-4D97-AF65-F5344CB8AC3E}">
        <p14:creationId xmlns:p14="http://schemas.microsoft.com/office/powerpoint/2010/main" val="6435521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"/>
          <p:cNvCxnSpPr>
            <a:stCxn xmlns:a="http://schemas.openxmlformats.org/drawingml/2006/main" id="17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10139363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8258175" y="2552700"/>
            <a:ext cx="609600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5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7248525" y="2962275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5610225" y="2552700"/>
            <a:ext cx="628650" cy="666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752725" y="3219450"/>
            <a:ext cx="628650" cy="8048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752725" y="3219450"/>
            <a:ext cx="628650" cy="47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752725" y="2424113"/>
            <a:ext cx="628650" cy="7953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1A0C03-7E6A-4FDB-B6D4-EEF0053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85DCC-D7E1-426D-86C5-3A4634EB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8708544da40ab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165A5-3724-4530-8713-489B52E1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系统层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ED4C9-6500-428C-B485-44EE370A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系统结构：数据、路侧环境与控制方法形成闭环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5C56D-06AD-4742-A7B8-21D4AAC8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0FF8D-9F95-4581-8D31-10F4A320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379D4-1342-488E-AA21-7C780AC7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车辆轨迹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2F077-B0F7-43B7-BFA9-9764B971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146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任务链结构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A71BB-A556-4F39-8D34-D7E6939D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14750"/>
            <a:ext cx="20383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模型资源清单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ECC2F-9363-4D2D-9093-A89369F8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09850"/>
            <a:ext cx="2228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路侧边缘环境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 / 缓存 / 交接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07576-B4E2-422B-9011-73995EA3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43125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 / 车辆 / 站点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9DC90-B104-45E8-A77F-FB5AB60F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81400"/>
            <a:ext cx="2019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依赖 + 资源 + 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3D023B-5CD5-4704-B2B8-B717F71F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143125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协调决策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 / 即时 / 交接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B3C5E-778B-48B2-964D-BDA1EB0E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581400"/>
            <a:ext cx="25431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执行选择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放置、卸载或准备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710D98-0C1A-4D43-8CEB-5C2CB06D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67300"/>
            <a:ext cx="10334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决策回到路侧环境；系统记录整条任务链的完成、等待和传输。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C09D2D-FFDF-4D1C-8615-2D55D589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图由论文方法稿中的系统结构重绘，元素可在 PPT 中编辑。</a:t>
            </a:r>
          </a:p>
        </p:txBody>
      </p:sp>
    </p:spTree>
    <p:extLst>
      <p:ext uri="{BB962C8B-B14F-4D97-AF65-F5344CB8AC3E}">
        <p14:creationId xmlns:p14="http://schemas.microsoft.com/office/powerpoint/2010/main" val="1996282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F2CD0-08E8-44FD-8EFC-EFE30585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831EA-BAA1-467E-97FC-02A8BC29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87c3eea894ea1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19DBE-7AB3-4F08-82D8-DB6B1191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论文模型 · 资源账本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A9ED7-C3DB-4477-8535-915CE45F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资源模型：共享部分只搬一次，专用部分按需补齐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3AC1E-A447-4F78-A62C-3CCF3750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C890B-BD63-47AE-8B7E-D6E79916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B4D9D-9D32-4E61-9442-07CCE0B3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多个步骤可复用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C0AFE-4975-4D58-8398-2F50D6C2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286000"/>
            <a:ext cx="27241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专用模块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为具体步骤补充能力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BD1DA-C235-44C8-BACF-57DE1C70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286000"/>
            <a:ext cx="390525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运行状态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记录已完成步骤和上下文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2991BB-B4E9-48C3-B8E9-40CE0FEC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95775"/>
            <a:ext cx="104298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需搬运的数据 = 下一步所需对象 − 下一站已有对象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1C0B6-4B00-4BAE-89C6-6CBB2A2F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53025"/>
            <a:ext cx="1036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每个对象只计一次，并同时检查模型兼容性与站点容量。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E93BE-A526-46AC-A5E5-039E0DAC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资源账本使“复用”有明确的字节含义。</a:t>
            </a:r>
          </a:p>
        </p:txBody>
      </p:sp>
    </p:spTree>
    <p:extLst>
      <p:ext uri="{BB962C8B-B14F-4D97-AF65-F5344CB8AC3E}">
        <p14:creationId xmlns:p14="http://schemas.microsoft.com/office/powerpoint/2010/main" val="1215530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BEA2A-F5CF-46BC-847A-D35F935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E8DD6-1F42-4B29-9118-222FC756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b4fe127a6482d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67901-66C5-4E31-896A-5C81A642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可执行决策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2F6EF-4571-4150-9D62-B622E031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控制方法有五种实际选择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0EDC2-FF91-4644-B51E-DECB30C5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060A7-0E61-4619-BAA4-6A4837B7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4F4D8-000C-402B-8FF6-1DC102CE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补齐本站模型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13CA8-51F1-4553-AF0E-F94F823B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0478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当前站缺少执行所需模型时，先补齐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DE480D-856E-4F6E-B0FB-278CEBC6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670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B748C-EDA9-4EEF-813A-9AA6FD8A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提前准备下一站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17A48-000D-4AD7-BFF1-C0E18A91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336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根据车辆动向预备可能用到的组件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894C0-1EE2-4040-B29F-540C59A9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3528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BA21B-F0A6-4233-AB9E-D381B28A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交给车端执行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312CE-E8F4-4145-A38A-D7612B34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4194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车辆本地资源承担当前步骤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54337-D247-4645-B551-9A7A550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386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9A8BE8-A066-47E8-8EBC-B25E29D4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在本站直接执行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231B4-A3D3-4596-A1C8-46121129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1052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资源就绪时直接卸载到当前站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0817B-E520-48CF-BDE9-ADB36CDA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24400"/>
            <a:ext cx="1062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5700C-E723-46D2-8838-4B6B4F51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30384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准备交接状态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BAB6EB-6740-4FA6-A8F6-CE2A67DD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7910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让下一站具备继续执行所需的信息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4EAF40-73F6-470E-AF1D-84FC7355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每次选择都受资源容量与可执行条件约束。</a:t>
            </a:r>
          </a:p>
        </p:txBody>
      </p:sp>
    </p:spTree>
    <p:extLst>
      <p:ext uri="{BB962C8B-B14F-4D97-AF65-F5344CB8AC3E}">
        <p14:creationId xmlns:p14="http://schemas.microsoft.com/office/powerpoint/2010/main" val="2718281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/>
          <p:cNvCxnSpPr>
            <a:stCxn xmlns:a="http://schemas.openxmlformats.org/drawingml/2006/main" id="11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6281738" y="3943350"/>
            <a:ext cx="4076700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5" name=""/>
          <p:cNvCxnSpPr>
            <a:stCxn xmlns:a="http://schemas.openxmlformats.org/drawingml/2006/main" id="11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6281738" y="3943350"/>
            <a:ext cx="13477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4781550" y="3943350"/>
            <a:ext cx="1500188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11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 flipH="1">
            <a:off x="1933575" y="3943350"/>
            <a:ext cx="4348163" cy="533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6281738" y="2876550"/>
            <a:ext cx="167163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972050" y="2876550"/>
            <a:ext cx="1309688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8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990725" y="2876550"/>
            <a:ext cx="4291013" cy="3429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CA5BFD-64A3-48BD-A776-CE4927F9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E4907-312D-449E-853B-773DE7B3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5846ae1d2476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DA000-9A37-49C4-9E01-F4EE6CC9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论文结构图 · 算法层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B36A2-1AE6-4A65-B96C-0E77DB9D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算法结构：同一份信息，支持三个时间尺度的决策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ED9BB-3012-463C-A6E9-DFDAE122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10A59-2548-48AE-92E0-05401FDA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9ED8C6-9B58-415F-AA64-58912B5A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进度与先后依赖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9B2F0-4D60-4E7D-93EB-A1B293F3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站点与车辆信息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资源、负载、位置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86396-B96C-4121-BFA2-29C0902B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24955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移动趋势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预测交接与紧迫度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6C727-B2E2-48E0-8AB3-2CA32622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50958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共享信息融合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 组输入 → 统一状态表示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7E710-D2A8-4747-9124-0E53C327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慢决策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模型放置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11B59C-745F-49B9-92C6-622335AA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快决策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当前任务去向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D232BB-31B8-4E36-9125-6FE185F5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交接决策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下一站准备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6475F-8B08-4D2E-B5F6-2CF1DFE0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76750"/>
            <a:ext cx="21431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价值评估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长期收益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91619-803D-4231-A278-F6ABBBAE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一套控制方法同时处理长期资源安排、即时执行和交接事件。</a:t>
            </a:r>
          </a:p>
        </p:txBody>
      </p:sp>
    </p:spTree>
    <p:extLst>
      <p:ext uri="{BB962C8B-B14F-4D97-AF65-F5344CB8AC3E}">
        <p14:creationId xmlns:p14="http://schemas.microsoft.com/office/powerpoint/2010/main" val="4648906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824E0-C957-4877-BA85-FDD28F6C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5A16B-7B37-4E1C-8F14-E7876CA3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efa2cf0ac64595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E18C9-9C61-489B-8B74-43287B30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论文方法 · 训练目标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84DCA-9A32-44F5-B76C-6CE1125E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奖励设计：鼓励服务推进，也计入资源与时延成本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4AAA3-30D5-434B-94BD-1D63A313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706F1-75E2-4C6D-8206-F60D1CB2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41FBB-EED5-44DE-915A-EEC5609B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66925"/>
            <a:ext cx="10591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每步得分 = 基础项 + 服务推进 + 连续执行 + 探索收益 − 等待 − 模型缺失 − 交接成本 − 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D90A5-B9A0-4580-8E64-6967797E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527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56807-4027-43B8-893B-935EF293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获得收益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完成当前步骤、交接后继续执行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D39CBD-75DB-4A8C-A0A2-BE20421E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33775"/>
            <a:ext cx="49720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计入成本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等待时间、模型缺失与资源约束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2BE45-4C84-4ED0-A7B3-0AE3443A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10458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最终评价仍看整条任务链完成情况、时延和实际传输数据量。</a:t>
            </a:r>
          </a:p>
        </p:txBody>
      </p:sp>
    </p:spTree>
    <p:extLst>
      <p:ext uri="{BB962C8B-B14F-4D97-AF65-F5344CB8AC3E}">
        <p14:creationId xmlns:p14="http://schemas.microsoft.com/office/powerpoint/2010/main" val="2721742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C7A662-8DA7-4CE7-A52C-8FAF802F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115E2-DB70-482D-B9D0-6094B16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21abe85f84677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2B15F-BE28-442C-8007-D4867F27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论文原图 · 训练奖励收敛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b7b0e3b9243b7"/>
          <a:stretch xmlns:a="http://schemas.openxmlformats.org/drawingml/2006/main"/>
        </p:blipFill>
        <p:spPr>
          <a:xfrm xmlns:a="http://schemas.openxmlformats.org/drawingml/2006/main">
            <a:off x="799703" y="762000"/>
            <a:ext cx="10592594" cy="5981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5245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5819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733800" y="30956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C23C5F-34F5-46EF-8E80-587E3377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ADC44-B172-462C-9008-89194164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9ebfd2164450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98D09-DA44-4369-9407-D4B44FCE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数据来源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D2276-52E4-4324-A8F3-0C188A30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实验数据：用真实车辆轨迹和真实任务链驱动仿真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127D4-3808-47FC-8512-DE14E8FA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94225-4C0F-44A5-B835-01F80675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ED5007-8285-4740-8AC0-893503BF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NGSIM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车辆位置、速度和移动轨迹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E2E3C-E738-429F-BFFB-C0BB3518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Alibaba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任务链和步骤之间的依赖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F1A4B-4E03-4F3F-8BDA-17B8D1D7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971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每一步所需的模型与状态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08443-60F9-4C79-BF3E-A6D919EA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552950"/>
            <a:ext cx="1057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在可复现的移动场景中，观察任务链、资源和车辆交接如何相互影响。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7DB8C4-AB5E-4A35-95F0-9CD377D4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数据来源分别公开；服务需求通过明确的实验映射构造。</a:t>
            </a:r>
          </a:p>
        </p:txBody>
      </p:sp>
    </p:spTree>
    <p:extLst>
      <p:ext uri="{BB962C8B-B14F-4D97-AF65-F5344CB8AC3E}">
        <p14:creationId xmlns:p14="http://schemas.microsoft.com/office/powerpoint/2010/main" val="14064504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1A653-7DFA-466E-B309-92B64F8B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B796C-145F-48BB-A61C-CFBD4D79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e3474d030476a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6E6EC-7C4A-4F1D-A9A5-8CA190F2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实验设置 · 对照设计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ADD56B-CED7-4F76-91AB-E4A35706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实验设计：先测机制，再比较决策方法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C76AD-B5CE-4A8C-86D6-2E3627BD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AEA21-4E1A-48D7-A99D-498E00A4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D47FD-53D0-474F-AE50-ADE735D9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000250"/>
            <a:ext cx="5000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资源共享 × 状态准备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BA77C-5596-46D4-B959-473F4E7A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088D3-2202-42E2-8661-7C4374B5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8127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按需执行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FEB33-74B6-4A4B-905B-ED066E61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常规放置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D2D4ED-0537-458C-AC42-664A3407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95725"/>
            <a:ext cx="22479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共享模型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提前准备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1D81B-0C5B-474F-A134-D6B5312E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比较“由谁决定何时准备”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86E9C4-F152-4D12-80D3-07031DDF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8127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固定规则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262400-A6A6-416E-ADA1-E6F6EC1A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486150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统一策略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CC2B7-6B09-439E-B5CC-6F0D629A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391025"/>
            <a:ext cx="493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多时间尺度策略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15585-1D34-44B4-A9D3-FFFA776A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算法奖励对照已有冻结结果，见下一页；机制组合按相同指标继续评价。</a:t>
            </a:r>
          </a:p>
        </p:txBody>
      </p:sp>
    </p:spTree>
    <p:extLst>
      <p:ext uri="{BB962C8B-B14F-4D97-AF65-F5344CB8AC3E}">
        <p14:creationId xmlns:p14="http://schemas.microsoft.com/office/powerpoint/2010/main" val="21316753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01AE91-3435-46F4-B817-1B3D6C81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10F27F-F9E4-4C21-BA37-EE6A90FF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314251cd842af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B45F0-233B-45C5-8249-210D55DD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实验结果 · 奖励对比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43700-B850-4F57-86C8-29020397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冻结评估：综合奖励在两组窗口均排名第一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859A7-F2DE-4D03-B378-0D0D8BC7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9D590-001B-48D7-ADD1-32E07C4E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7BA23-6D14-4CA5-BF00-C50A9662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52625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正式评估 · 20 个时间窗口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390C3-F86A-4274-9873-6B948B41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907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2141A-4043-4930-A29B-77674A30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428875"/>
            <a:ext cx="175502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3E7B0-FE33-4390-9C8D-101482D4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90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26.43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6DA78-EBD0-4D5A-878D-774EF0FD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575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缓存规则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CFE301-9C67-49E3-8762-896113E2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895600"/>
            <a:ext cx="173191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FB922-ECD2-4D56-B79E-C7EE20B8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575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26.08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AEBD3-9A99-4679-A287-521B06E4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242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DQN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B22D6C-6CAC-47E6-BFC3-DB478FB9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362325"/>
            <a:ext cx="143443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EF2FF-42D3-4C68-A691-82DD4984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242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21.60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89A9A4-8BDF-446F-8D21-3D7B939B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90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Dueling DQN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B76CF5-8322-404E-897C-786FBF86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829050"/>
            <a:ext cx="115149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DBE30F-17AD-4106-8822-8660439F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9095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17.34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0F55EC-1248-49DC-B0E1-2E49D816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576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交接策略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CC537E-AC64-4B41-A77C-F717F387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95775"/>
            <a:ext cx="74238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89B12A-D1D7-41B1-9132-E7B53588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576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11.18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87947B-2F25-4258-8BFA-1E7A8D43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PPO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172EF8-1F49-44F2-86C1-78EE427A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62500"/>
            <a:ext cx="61641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9A0A3B-4257-4CEF-8818-D878E27D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244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9.28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515E7-77BD-40EB-AADD-5A82EF24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4827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较最佳对照 +0.35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40265-CBD6-4D98-95E0-7EB9D587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72125"/>
            <a:ext cx="5095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95% 区间：+0.16 至 +0.60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7287DF-96EB-44C2-802D-12AAFB50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52625"/>
            <a:ext cx="5095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后续独立验证 · 15 个时间窗口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FA7A22-DE28-4A80-97B2-3C4CB4FE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本方法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E162D0-BF1F-487B-BF1A-A9AFE4A5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28875"/>
            <a:ext cx="221400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5ACC78-5884-4710-A98E-567984DF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3907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33.34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273858-7FD3-4A39-8219-41BB4A36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缓存规则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679134-2187-4CCF-BE9E-9170983D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95600"/>
            <a:ext cx="194892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91F492-29F8-493F-938F-B6562A5D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8575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29.35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B2F8C1-4B74-443A-BDA5-0E038E55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242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DQN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8913FF-6EA0-4D33-9FE8-0C4E9A4B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62325"/>
            <a:ext cx="160934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4DDF0C-A612-4C84-AECE-E6AD7412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32422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24.24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A7351B-4D6A-43F5-958E-576E22E8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90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Dueling DQN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0C4CD7-A84A-491A-852B-091F6491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29050"/>
            <a:ext cx="127221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825A64-67A1-468D-BF04-CBF492E3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79095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19.16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6BFCD9-8540-444D-9685-F85868BE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5767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交接策略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735EFD-1BFB-489A-BA90-5AD0E84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95775"/>
            <a:ext cx="66582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70C4DE-0253-4BBD-8A9E-AE0E330D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4257675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10.03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BFD967-04DF-4A55-A170-8920BA67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244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PPO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133AA3-FD3D-4F60-BBA0-0D68EB30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762500"/>
            <a:ext cx="60884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652B55-0DBD-43DD-B3DD-F1363E06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4724400"/>
            <a:ext cx="971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9.17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9B0145-C6B3-49BA-B88C-9BFE035A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4827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较最佳对照 +3.99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824EEE-B3AC-4467-B755-658C2EF0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572125"/>
            <a:ext cx="5095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95% 区间：+2.08 至 +8.29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CEC8D4-9F1D-44E1-8C82-BC379B01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图示主要对照；原始比较共 11 种方法。本页是既有冻结算法版本的奖励结果。</a:t>
            </a:r>
          </a:p>
        </p:txBody>
      </p:sp>
    </p:spTree>
    <p:extLst>
      <p:ext uri="{BB962C8B-B14F-4D97-AF65-F5344CB8AC3E}">
        <p14:creationId xmlns:p14="http://schemas.microsoft.com/office/powerpoint/2010/main" val="12103318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37C8B-A785-4489-A978-7967FC34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24098-19C3-4DC4-ADA7-767A5866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efe1e70c640a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D5D93-866C-48F1-9592-2B551673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资源复用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55FD9-2E4F-441E-9FFE-F0CDA28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模型共享示例：连续复用时搬运量更少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F8B39-F033-48B5-97D7-24A07CB4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97AE8-9DA7-4ECC-86DC-7B229ECD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EAD2E-1B9F-4FAC-B96C-3C4449CA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90725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四种配置均完成 72 / 72 次请求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7D36C-53F9-43A9-817F-76323ED8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8127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共享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3C3ED-0A15-46AF-B58E-6E7B8017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338917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EEFF"/>
          </a:solidFill>
          <a:ln xmlns:a="http://schemas.openxmlformats.org/drawingml/2006/main" w="0">
            <a:solidFill>
              <a:srgbClr val="BDEE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9E1E7-8308-4D4C-8612-32D550C2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58127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3,264 MiB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16F08-9337-4E52-A290-49F3463B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共享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2E0B4-C8EB-4ACC-B382-8D01956F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8137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3288C-66EE-493D-9472-ACD390DD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3375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7CB2C5-575B-4792-BA0F-9B6FF41E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8622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相同模型连续使用 · 不共享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1F42F8-B974-4005-9B4E-1F66B9DF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33850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04B4B5-69E8-498C-8599-D011A898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086225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A30FB-412C-4DAE-8A4D-E4D30394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3870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交替使用不同模型 · 不共享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0684F-032C-4B17-8AD7-C921A69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86325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DFF"/>
          </a:solidFill>
          <a:ln xmlns:a="http://schemas.openxmlformats.org/drawingml/2006/main" w="0">
            <a:solidFill>
              <a:srgbClr val="E5E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66253-9BB6-406B-AA44-0DBD5228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38700"/>
            <a:ext cx="1314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8,640 MiB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78AD12-BAEB-47C6-A4A6-595CED79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该示例说明：只有后续请求真正复用同一共享部分，资源账本才体现节省。</a:t>
            </a:r>
          </a:p>
        </p:txBody>
      </p:sp>
    </p:spTree>
    <p:extLst>
      <p:ext uri="{BB962C8B-B14F-4D97-AF65-F5344CB8AC3E}">
        <p14:creationId xmlns:p14="http://schemas.microsoft.com/office/powerpoint/2010/main" val="6853235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429500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552825" y="2976563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8098">
            <a:solidFill>
              <a:srgbClr val="E5EDFF"/>
            </a:solidFill>
            <a:prstDash val="solid"/>
            <a:tailEnd type="arrow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4D8D2-29A3-4F48-9426-33F0851D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34A6B-B5C9-4D91-BDE9-DAC69C98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d9b33422f4252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36B3F-C416-488B-9704-46D2E11F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机制演示 · 连续执行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5A10F-04C1-45FA-914A-6174EAED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状态接续示例：保存进度后，只执行剩余步骤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AB5C1-7840-4D56-AC88-3E03C6D7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2F456-269B-4D05-97F8-8A8AAF80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11CF3-D02D-473E-A25E-6D2B4498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完成第一步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保存执行进度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FF5E7-F9A4-4497-AE76-CEA746E8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状态包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2,040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36695D-7802-4FDD-A606-2C98C43E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71725"/>
            <a:ext cx="27527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恢复进度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运行后续步骤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DCD5B-1470-4A55-863A-5294E7E7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从头运行：32.504 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D7440-CF9E-44CF-BDB7-E31F4AF5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48958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接续执行：21.370 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CFE66A-2A6B-4CDA-8586-6E847F44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同机两步样例中，后续步骤输入与输出一致；时间减少 11.134 秒。</a:t>
            </a:r>
          </a:p>
        </p:txBody>
      </p:sp>
    </p:spTree>
    <p:extLst>
      <p:ext uri="{BB962C8B-B14F-4D97-AF65-F5344CB8AC3E}">
        <p14:creationId xmlns:p14="http://schemas.microsoft.com/office/powerpoint/2010/main" val="116978132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EAA6B0-C34D-4ABD-8D57-7B9F1246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7FAF1-0D9C-4503-8FE6-45703BA4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06bd2b0bc4a4c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3FAF5-16A0-4B14-9394-EC1BE114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研究总结 · 四个要点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98297-36C5-43D2-B60B-E507C568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总结：把移动交接从“换位置”变成“接着做”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58D15-287A-41FC-896A-A26B2FB9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4A227-74A2-418B-9941-BBBD7003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55881-33F3-4BE9-B38A-E5449C80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0097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6BD5C-CD8F-4B88-8955-53FAE2A1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478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关注完整任务链跨路侧站的连续完成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4EFE9-EA14-49DE-9D63-3F9CBE8A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860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方法设计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9AB38-77A6-4C32-938A-857604A2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241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共同考虑模型复用、执行状态和车辆交接时机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B8D21-5B0E-41D1-8879-648C251D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7623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BDEE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奖励结果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D31F6-66C0-4E7A-8016-30EA33CF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004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既有冻结算法评估中，两组窗口的综合奖励均居首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A8EA55-68A8-476E-ACE6-71731246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38675"/>
            <a:ext cx="24193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CB4"/>
          </a:solidFill>
          <a:ln xmlns:a="http://schemas.openxmlformats.org/drawingml/2006/main" w="14288">
            <a:solidFill>
              <a:srgbClr val="E5EDFF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机制演示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5D7892-00F4-4937-AE63-E032BF38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76775"/>
            <a:ext cx="7734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资源账本展示共享复用；两步实例展示状态接续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30D6D-3AA0-4FA6-BB8E-036D8BB2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奖励对照与机制演示有各自的实验设置，均在对应页标注。</a:t>
            </a:r>
          </a:p>
        </p:txBody>
      </p:sp>
    </p:spTree>
    <p:extLst>
      <p:ext uri="{BB962C8B-B14F-4D97-AF65-F5344CB8AC3E}">
        <p14:creationId xmlns:p14="http://schemas.microsoft.com/office/powerpoint/2010/main" val="32667954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2048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D9009-E017-4AF2-91C5-4701E06D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4F0F1-15D6-4FF7-A004-449E982C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3825"/>
            <a:ext cx="22002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f8ab5531e4e64"/>
          <a:stretch xmlns:a="http://schemas.openxmlformats.org/drawingml/2006/main"/>
        </p:blipFill>
        <p:spPr>
          <a:xfrm xmlns:a="http://schemas.openxmlformats.org/drawingml/2006/main">
            <a:off x="9536544" y="161925"/>
            <a:ext cx="1910486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D81DD-B99D-4445-AB8F-5CE477C7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参考文献 · 论文来源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A1B1F-956F-41F8-94D7-B8034D62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9150"/>
            <a:ext cx="10668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主要参考文献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695B-B05F-408D-8210-F412CA95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4782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ABBBF-91F1-4FB8-B640-3E6766B0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579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51515-89E7-4494-BD9C-29C85278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移动边缘与任务调度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1AF6A-478C-445D-9359-E7737D52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BDEEFF"/>
                </a:solidFill>
                <a:latin typeface="PingFang SC"/>
                <a:ea typeface="PingFang SC"/>
                <a:cs typeface="PingFang SC"/>
              </a:rPr>
              <a:t>模型服务与方法基础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37330-D4F7-494C-ADB4-119FA747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COHCTO · TMC 2025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D427D-7762-488E-A77A-6F7666E8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LDMCO · TMC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1E0931-55E4-49A0-B25C-CB2BF14F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385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Ly-COMA · IET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89C3F-B6EE-4C23-B929-268E8E7B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Fan 等 · TVT 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59AAD-8524-44DC-8ECE-CEF38E30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MCMA · TMC 2025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251C8-4C1C-467C-A3ED-427E63DC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MATM · TVT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3EC73-A6DE-4478-BB84-E9C594A7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29225"/>
            <a:ext cx="50196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AWTO · FGCS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B21F1-A074-468C-8316-A67CE62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5431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POLAR · arXiv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0CEC57-F0A4-4495-ABC3-E1757C59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384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SLoRA · MLSys 2024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91819E-0D67-4D28-911B-392358F5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337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Punica · MLSys 2024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EBD57-32F8-4F2C-A031-19921650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0290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WfCommons · FGCS 2022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0AF5C4-22BB-414C-A5E6-72ED0D91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243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RUDDER · NeurIPS 2019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BB08F-9E65-4F16-88B3-425266FA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50196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MAPPO · NeurIPS 2022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1F521-06CC-4753-9C32-D0BA345F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E5EDFF"/>
                </a:solidFill>
                <a:latin typeface="PingFang SC"/>
                <a:ea typeface="PingFang SC"/>
                <a:cs typeface="PingFang SC"/>
              </a:rPr>
              <a:t>逐篇研究内容与本文对应问题见第 4—7 页。</a:t>
            </a:r>
          </a:p>
        </p:txBody>
      </p:sp>
    </p:spTree>
    <p:extLst>
      <p:ext uri="{BB962C8B-B14F-4D97-AF65-F5344CB8AC3E}">
        <p14:creationId xmlns:p14="http://schemas.microsoft.com/office/powerpoint/2010/main" val="580505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2026-10-11T09:29:50.7360000Z</dcterms:created>
  <dcterms:modified xsi:type="dcterms:W3CDTF">2026-10-11T09:29:50.7360000Z</dcterms:modified>
</coreProperties>
</file>