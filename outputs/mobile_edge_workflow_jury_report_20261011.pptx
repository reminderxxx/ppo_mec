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2814d065d74080" /><Relationship Type="http://schemas.openxmlformats.org/officeDocument/2006/relationships/extended-properties" Target="/docProps/app.xml" Id="Rfaade5f99405451e" /><Relationship Type="http://schemas.openxmlformats.org/officeDocument/2006/relationships/officeDocument" Target="/ppt/presentation.xml" Id="R24d9f93625db4d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70010e3adf4a5c"/>
  </p:sldMasterIdLst>
  <p:notesMasterIdLst>
    <p:notesMasterId xmlns:r="http://schemas.openxmlformats.org/officeDocument/2006/relationships" r:id="R58bdac1218b14156"/>
  </p:notesMasterIdLst>
  <p:sldIdLst>
    <p:sldId xmlns:r="http://schemas.openxmlformats.org/officeDocument/2006/relationships" id="256" r:id="R049333b53e0e4815"/>
    <p:sldId xmlns:r="http://schemas.openxmlformats.org/officeDocument/2006/relationships" id="257" r:id="Rfd7ad1fcccbf47d6"/>
    <p:sldId xmlns:r="http://schemas.openxmlformats.org/officeDocument/2006/relationships" id="258" r:id="Rbb7e5e3577e04c60"/>
    <p:sldId xmlns:r="http://schemas.openxmlformats.org/officeDocument/2006/relationships" id="259" r:id="Rf600e9fd74f040bd"/>
    <p:sldId xmlns:r="http://schemas.openxmlformats.org/officeDocument/2006/relationships" id="260" r:id="R6bbe35b364cc4d90"/>
    <p:sldId xmlns:r="http://schemas.openxmlformats.org/officeDocument/2006/relationships" id="261" r:id="R70541890349440d2"/>
    <p:sldId xmlns:r="http://schemas.openxmlformats.org/officeDocument/2006/relationships" id="262" r:id="Rfca703bf74a84d5e"/>
    <p:sldId xmlns:r="http://schemas.openxmlformats.org/officeDocument/2006/relationships" id="263" r:id="Rd9b668c54f144783"/>
    <p:sldId xmlns:r="http://schemas.openxmlformats.org/officeDocument/2006/relationships" id="264" r:id="R8777a8d818684243"/>
    <p:sldId xmlns:r="http://schemas.openxmlformats.org/officeDocument/2006/relationships" id="265" r:id="Rf0d2e467a45c4cb4"/>
    <p:sldId xmlns:r="http://schemas.openxmlformats.org/officeDocument/2006/relationships" id="266" r:id="R1290112a4da84a48"/>
    <p:sldId xmlns:r="http://schemas.openxmlformats.org/officeDocument/2006/relationships" id="267" r:id="R58c10f58b6ea4087"/>
    <p:sldId xmlns:r="http://schemas.openxmlformats.org/officeDocument/2006/relationships" id="268" r:id="R61159026b70c4658"/>
    <p:sldId xmlns:r="http://schemas.openxmlformats.org/officeDocument/2006/relationships" id="269" r:id="Rf675074f30cf4fc7"/>
    <p:sldId xmlns:r="http://schemas.openxmlformats.org/officeDocument/2006/relationships" id="270" r:id="R6c1ca46b998f4c6c"/>
    <p:sldId xmlns:r="http://schemas.openxmlformats.org/officeDocument/2006/relationships" id="271" r:id="R493bbe83cca746b9"/>
    <p:sldId xmlns:r="http://schemas.openxmlformats.org/officeDocument/2006/relationships" id="272" r:id="R034bff6b66f14494"/>
    <p:sldId xmlns:r="http://schemas.openxmlformats.org/officeDocument/2006/relationships" id="273" r:id="Re1f26c85dc974ae0"/>
    <p:sldId xmlns:r="http://schemas.openxmlformats.org/officeDocument/2006/relationships" id="274" r:id="R84a3fbbc5c994741"/>
    <p:sldId xmlns:r="http://schemas.openxmlformats.org/officeDocument/2006/relationships" id="275" r:id="R74f89f87da6f4211"/>
    <p:sldId xmlns:r="http://schemas.openxmlformats.org/officeDocument/2006/relationships" id="276" r:id="R1e11ab1fb5284a0b"/>
    <p:sldId xmlns:r="http://schemas.openxmlformats.org/officeDocument/2006/relationships" id="277" r:id="R53d9177cd71e4945"/>
    <p:sldId xmlns:r="http://schemas.openxmlformats.org/officeDocument/2006/relationships" id="278" r:id="Rafb60d000b3240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393ef486a14de9" /><Relationship Type="http://schemas.openxmlformats.org/officeDocument/2006/relationships/slideMaster" Target="/ppt/slideMasters/slideMaster1.xml" Id="R7270010e3adf4a5c" /><Relationship Type="http://schemas.openxmlformats.org/officeDocument/2006/relationships/notesMaster" Target="/ppt/notesMasters/notesMaster1.xml" Id="R58bdac1218b14156" /><Relationship Type="http://schemas.openxmlformats.org/officeDocument/2006/relationships/presProps" Target="/ppt/presProps.xml" Id="R53344b19417f48cd" /><Relationship Type="http://schemas.openxmlformats.org/officeDocument/2006/relationships/tableStyles" Target="/ppt/tableStyles.xml" Id="Rf348bee430e84a02" /><Relationship Type="http://schemas.openxmlformats.org/officeDocument/2006/relationships/slide" Target="/ppt/slides/slide1.xml" Id="R049333b53e0e4815" /><Relationship Type="http://schemas.openxmlformats.org/officeDocument/2006/relationships/slide" Target="/ppt/slides/slide2.xml" Id="Rfd7ad1fcccbf47d6" /><Relationship Type="http://schemas.openxmlformats.org/officeDocument/2006/relationships/slide" Target="/ppt/slides/slide3.xml" Id="Rbb7e5e3577e04c60" /><Relationship Type="http://schemas.openxmlformats.org/officeDocument/2006/relationships/slide" Target="/ppt/slides/slide4.xml" Id="Rf600e9fd74f040bd" /><Relationship Type="http://schemas.openxmlformats.org/officeDocument/2006/relationships/slide" Target="/ppt/slides/slide5.xml" Id="R6bbe35b364cc4d90" /><Relationship Type="http://schemas.openxmlformats.org/officeDocument/2006/relationships/slide" Target="/ppt/slides/slide6.xml" Id="R70541890349440d2" /><Relationship Type="http://schemas.openxmlformats.org/officeDocument/2006/relationships/slide" Target="/ppt/slides/slide7.xml" Id="Rfca703bf74a84d5e" /><Relationship Type="http://schemas.openxmlformats.org/officeDocument/2006/relationships/slide" Target="/ppt/slides/slide8.xml" Id="Rd9b668c54f144783" /><Relationship Type="http://schemas.openxmlformats.org/officeDocument/2006/relationships/slide" Target="/ppt/slides/slide9.xml" Id="R8777a8d818684243" /><Relationship Type="http://schemas.openxmlformats.org/officeDocument/2006/relationships/slide" Target="/ppt/slides/slide10.xml" Id="Rf0d2e467a45c4cb4" /><Relationship Type="http://schemas.openxmlformats.org/officeDocument/2006/relationships/slide" Target="/ppt/slides/slide11.xml" Id="R1290112a4da84a48" /><Relationship Type="http://schemas.openxmlformats.org/officeDocument/2006/relationships/slide" Target="/ppt/slides/slide12.xml" Id="R58c10f58b6ea4087" /><Relationship Type="http://schemas.openxmlformats.org/officeDocument/2006/relationships/slide" Target="/ppt/slides/slide13.xml" Id="R61159026b70c4658" /><Relationship Type="http://schemas.openxmlformats.org/officeDocument/2006/relationships/slide" Target="/ppt/slides/slide14.xml" Id="Rf675074f30cf4fc7" /><Relationship Type="http://schemas.openxmlformats.org/officeDocument/2006/relationships/slide" Target="/ppt/slides/slide15.xml" Id="R6c1ca46b998f4c6c" /><Relationship Type="http://schemas.openxmlformats.org/officeDocument/2006/relationships/slide" Target="/ppt/slides/slide16.xml" Id="R493bbe83cca746b9" /><Relationship Type="http://schemas.openxmlformats.org/officeDocument/2006/relationships/slide" Target="/ppt/slides/slide17.xml" Id="R034bff6b66f14494" /><Relationship Type="http://schemas.openxmlformats.org/officeDocument/2006/relationships/slide" Target="/ppt/slides/slide18.xml" Id="Re1f26c85dc974ae0" /><Relationship Type="http://schemas.openxmlformats.org/officeDocument/2006/relationships/slide" Target="/ppt/slides/slide19.xml" Id="R84a3fbbc5c994741" /><Relationship Type="http://schemas.openxmlformats.org/officeDocument/2006/relationships/slide" Target="/ppt/slides/slide20.xml" Id="R74f89f87da6f4211" /><Relationship Type="http://schemas.openxmlformats.org/officeDocument/2006/relationships/slide" Target="/ppt/slides/slide21.xml" Id="R1e11ab1fb5284a0b" /><Relationship Type="http://schemas.openxmlformats.org/officeDocument/2006/relationships/slide" Target="/ppt/slides/slide22.xml" Id="R53d9177cd71e4945" /><Relationship Type="http://schemas.openxmlformats.org/officeDocument/2006/relationships/slide" Target="/ppt/slides/slide23.xml" Id="Rafb60d000b3240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abfcb3827544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767750bb644f2d" /><Relationship Type="http://schemas.openxmlformats.org/officeDocument/2006/relationships/notesMaster" Target="/ppt/notesMasters/notesMaster1.xml" Id="R7140d3bf026c45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54b68985c04dc4" /><Relationship Type="http://schemas.openxmlformats.org/officeDocument/2006/relationships/notesMaster" Target="/ppt/notesMasters/notesMaster1.xml" Id="Re6cc51ac871845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9cc985e7994ff2" /><Relationship Type="http://schemas.openxmlformats.org/officeDocument/2006/relationships/notesMaster" Target="/ppt/notesMasters/notesMaster1.xml" Id="R01d095fc406e45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81b1d717f143ed" /><Relationship Type="http://schemas.openxmlformats.org/officeDocument/2006/relationships/notesMaster" Target="/ppt/notesMasters/notesMaster1.xml" Id="R287f1be0de5547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9f5ca94c584720" /><Relationship Type="http://schemas.openxmlformats.org/officeDocument/2006/relationships/notesMaster" Target="/ppt/notesMasters/notesMaster1.xml" Id="R034f0b69f31b42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a8ad83f8124bbf" /><Relationship Type="http://schemas.openxmlformats.org/officeDocument/2006/relationships/notesMaster" Target="/ppt/notesMasters/notesMaster1.xml" Id="Rf133b702cc6b42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4bfe6f1d2944d0" /><Relationship Type="http://schemas.openxmlformats.org/officeDocument/2006/relationships/notesMaster" Target="/ppt/notesMasters/notesMaster1.xml" Id="Rb6290213fe7f4c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a5a969a4794c7c" /><Relationship Type="http://schemas.openxmlformats.org/officeDocument/2006/relationships/notesMaster" Target="/ppt/notesMasters/notesMaster1.xml" Id="Rcfd85c1bcff141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5e2816c2874d35" /><Relationship Type="http://schemas.openxmlformats.org/officeDocument/2006/relationships/notesMaster" Target="/ppt/notesMasters/notesMaster1.xml" Id="R6d3a5583e65446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5e61c936fa4f03" /><Relationship Type="http://schemas.openxmlformats.org/officeDocument/2006/relationships/notesMaster" Target="/ppt/notesMasters/notesMaster1.xml" Id="Rc7e98b4741384c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5019e6ef6f45ba" /><Relationship Type="http://schemas.openxmlformats.org/officeDocument/2006/relationships/notesMaster" Target="/ppt/notesMasters/notesMaster1.xml" Id="R1e1ebbfdd85244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be4f44903f4c86" /><Relationship Type="http://schemas.openxmlformats.org/officeDocument/2006/relationships/notesMaster" Target="/ppt/notesMasters/notesMaster1.xml" Id="R0be381913fcc4e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02b8f8cf6d4390" /><Relationship Type="http://schemas.openxmlformats.org/officeDocument/2006/relationships/notesMaster" Target="/ppt/notesMasters/notesMaster1.xml" Id="R453c8a4dd83042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4248889de64acb" /><Relationship Type="http://schemas.openxmlformats.org/officeDocument/2006/relationships/notesMaster" Target="/ppt/notesMasters/notesMaster1.xml" Id="R9de30976a99b4f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579536277a44b2" /><Relationship Type="http://schemas.openxmlformats.org/officeDocument/2006/relationships/notesMaster" Target="/ppt/notesMasters/notesMaster1.xml" Id="Rc51350028de34c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14018b012804dae" /><Relationship Type="http://schemas.openxmlformats.org/officeDocument/2006/relationships/notesMaster" Target="/ppt/notesMasters/notesMaster1.xml" Id="R7adfe081870243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25b55f2e554923" /><Relationship Type="http://schemas.openxmlformats.org/officeDocument/2006/relationships/notesMaster" Target="/ppt/notesMasters/notesMaster1.xml" Id="Rb29c341fd5d844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0b283f37c646c6" /><Relationship Type="http://schemas.openxmlformats.org/officeDocument/2006/relationships/notesMaster" Target="/ppt/notesMasters/notesMaster1.xml" Id="R397d282d84354b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391ee0ebd0040b7" /><Relationship Type="http://schemas.openxmlformats.org/officeDocument/2006/relationships/notesMaster" Target="/ppt/notesMasters/notesMaster1.xml" Id="R8291492397904b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d100ce64114c70" /><Relationship Type="http://schemas.openxmlformats.org/officeDocument/2006/relationships/notesMaster" Target="/ppt/notesMasters/notesMaster1.xml" Id="R85a9a05a214e42f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02a90c3775f486f" /><Relationship Type="http://schemas.openxmlformats.org/officeDocument/2006/relationships/notesMaster" Target="/ppt/notesMasters/notesMaster1.xml" Id="R39abaef681634ee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8203e498d814fd1" /><Relationship Type="http://schemas.openxmlformats.org/officeDocument/2006/relationships/notesMaster" Target="/ppt/notesMasters/notesMaster1.xml" Id="Rf34b663879df4b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c99e59ddfc748ef" /><Relationship Type="http://schemas.openxmlformats.org/officeDocument/2006/relationships/notesMaster" Target="/ppt/notesMasters/notesMaster1.xml" Id="Rec7dfe71a01847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页｜让移动中的连续服务在路侧边缘稳定接续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依据：docs/project/system_mechanism_manuscript_working_draft.md；文献截点 2026-10-11。此稿用于研究汇报。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页｜先看一个问题：车开过路口，服务怎样接着做？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论文工作稿第 1 节。RSU 指路侧边缘服务器；任务链具有前后依赖。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页｜要“接着做”，下一站需要三样东西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三项分别对应 DAG predecessor result、兼容模型与可恢复的执行状态。缓存命中不等同于整体完成。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页｜相关工作：任务依赖与移动迁移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 COHCTO · TMC 2025：https://doi.org/10.1109/TMC.2025.3573379</a:t>
            </a:r>
          </a:p>
          <a:p xmlns:a="http://schemas.openxmlformats.org/drawingml/2006/main">
            <a:r>
              <a:t>P2 LDMCO · TMC 2026：https://doi.org/10.1109/TMC.2025.3646450</a:t>
            </a:r>
          </a:p>
          <a:p xmlns:a="http://schemas.openxmlformats.org/drawingml/2006/main">
            <a:r>
              <a:t>P3 Ly-COMA · IET 2025：https://doi.org/10.1049/itr2.70083</a:t>
            </a:r>
          </a:p>
          <a:p xmlns:a="http://schemas.openxmlformats.org/drawingml/2006/main">
            <a:r>
              <a:t>P4 Fan 等 · TVT 2024：https://doi.org/10.1109/TVT.2023.3310520</a:t>
            </a:r>
          </a:p>
          <a:p xmlns:a="http://schemas.openxmlformats.org/drawingml/2006/main">
            <a:r>
              <a:t>P5 MCMA · TMC 2025：https://doi.org/10.1109/TMC.2025.3539945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页｜相关工作：预测、模型缓存与移动服务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P6 MATM · TVT 2026：https://doi.org/10.1109/TVT.2026.3660321</a:t>
            </a:r>
          </a:p>
          <a:p xmlns:a="http://schemas.openxmlformats.org/drawingml/2006/main">
            <a:r>
              <a:t>P7 AWTO · FGCS 2026：https://doi.org/10.1016/j.future.2026.108415</a:t>
            </a:r>
          </a:p>
          <a:p xmlns:a="http://schemas.openxmlformats.org/drawingml/2006/main">
            <a:r>
              <a:t>P8 POLAR · arXiv 2026：https://arxiv.org/abs/2604.16583</a:t>
            </a:r>
          </a:p>
          <a:p xmlns:a="http://schemas.openxmlformats.org/drawingml/2006/main">
            <a:r>
              <a:t>P9 SLoRA · MLSys 2024：https://proceedings.mlsys.org/paper_files/paper/2024/hash/906419cd502575b617cc489a1a696a67-Abstract-Conference.html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页｜相关工作：模型服务与方法基础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P10 Punica · MLSys 2024：https://proceedings.mlsys.org/paper_files/paper/2024/hash/054de805fcceb78a201f5e9d53c85908-Abstract-Conference.html</a:t>
            </a:r>
          </a:p>
          <a:p xmlns:a="http://schemas.openxmlformats.org/drawingml/2006/main">
            <a:r>
              <a:t>P11 WfCommons · FGCS 2022：https://doi.org/10.1016/j.future.2021.09.043</a:t>
            </a:r>
          </a:p>
          <a:p xmlns:a="http://schemas.openxmlformats.org/drawingml/2006/main">
            <a:r>
              <a:t>P12 RUDDER · NeurIPS 2019：https://papers.neurips.cc/paper_files/paper/2019/hash/16105fb9cc614fc29e1bda00dab60d41-Abstract.html</a:t>
            </a:r>
          </a:p>
          <a:p xmlns:a="http://schemas.openxmlformats.org/drawingml/2006/main">
            <a:r>
              <a:t>P13 MAPPO · NeurIPS 2022：https://arxiv.org/abs/2103.01955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页｜横向对比：我们的研究把五个问题连在一起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●=论文公开研究直接涉及；◐=相邻或部分；—=非核心。本研究一行表示研究问题的覆盖范围，不表示每项效果已由正式实验确认。出处见前 3 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页｜我们的工作：把“准备什么、何时准备、在哪里准备”统一考虑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依据论文工作稿的系统模型与方法设计。此页描述研究框架，不作为优越性结论。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页｜研究问题：怎样让准备工作真正帮助任务完成？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论文工作稿第 1 节。三问分别对应共享复用、交接准备和控制方法；问题是待检验命题。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页｜方法直觉：先看下一步，再准备下一站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依据论文第 3 节：依赖前沿、目标站资源账本、增量准备、交接后继续。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页｜什么时候提前准备？看三个可观测因素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概念性决策因素：handoff timing、目标端现有资源、增量字节与容量。此页不是实验结果。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页｜系统结构：数据、路侧环境与控制方法形成闭环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 docs/project/advisor_report_briefing_20260621.md 的系统 Mermaid 图和论文工作稿重绘。NGSIM 与 Alibaba 分别提供轨迹和工作流。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页｜资源模型：共享部分只搬一次，专用部分按需补齐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论文第 3 节。base、adapter、workflow state 为不同对象；增量成本按目标站尚未驻留的唯一对象计。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页｜控制方法有五种实际选择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对应当前环境的五类 semantic actions。页面采用面向报告的语义名称，不展示代码编号。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页｜算法结构：同一份信息，支持三个时间尺度的决策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 docs/project/advisor_report_briefing_20260621.md 与论文第 4 节重绘：7 个 64 维输入块，经 448→128→64 融合，输出 slow/fast/event decisions 和价值估计。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页｜奖励设计：鼓励服务推进，也计入资源与时延成本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src/envs/core/vec_workflow_core_env.py:416-577。展示 RewardBreakdown 的简化分组。真实传输字节未直接从 reward 中扣除，应在系统评价中另报。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页｜实验数据：用真实车辆轨迹和真实任务链驱动仿真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论文第 5.1 节。NGSIM 提供 mobility trace；Alibaba 提供 workflow DAG。二者并非同一现场联合观测；服务所需模型按实验设定映射。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页｜实验设计：先测机制，再比较决策方法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论文第 5.2/5.3 节。左侧四种机制组合是确认性实验设计，并非当前已完成的正式比较结果。右侧算法比较需使用一致观测、动作和训练预算。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页｜冻结评估：综合奖励在两组窗口均排名第一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reviewed_at: 2026-10-11；literature_cutoff: 2026-10-11；target_venue: IEEE TMC；policy_version: tmc_review_policy_v3_20260621；git_commit_at_review: d3e2bae；evidence_level: E2_ARTIFACT_AUDITED（既有冻结算法版本）。</a:t>
            </a:r>
          </a:p>
          <a:p xmlns:a="http://schemas.openxmlformats.org/drawingml/2006/main">
            <a:r>
              <a:t>正式 run: top_journal_v100_urgency_safe_resource_full_20260808/benchmarks/formal_full_stratified/main_results_full_stratified_20260808_183339_526215；原始 benchmark_rows.csv 共 1320 行，11 方法×20 原始窗口×2 工作流×3 seed；配对统计: artifacts/experiments/top_journal_v100_urgency_safe_resource_full_20260808/statistics/formal_full_stratified/paired_statistics.json。</a:t>
            </a:r>
          </a:p>
          <a:p xmlns:a="http://schemas.openxmlformats.org/drawingml/2006/main">
            <a:r>
              <a:t>后续独立 run: top_journal_v100_future_validation_v20_20260809/main_results_full_stratified_20260809_041440_446507；原始 benchmark_rows.csv 共 990 行，11 方法×15 原始窗口×2 工作流×3 seed；配对统计: artifacts/experiments/top_journal_v100_future_validation_v20_20260809/statistics/paired_statistics.json。</a:t>
            </a:r>
          </a:p>
          <a:p xmlns:a="http://schemas.openxmlformats.org/drawingml/2006/main">
            <a:r>
              <a:t>对最强对照“受欢迎程度缓存规则”，正式奖励差 +0.3475，window-outer BCa 95% CI [0.1550,0.60082]；后续独立奖励差 +3.9920，CI [2.077111,8.290975]。两批实验均 reward_positive_offset=0，环境奖励定义一致。页面图示 6 种方法；原始表中共 11 种方法，所提版本在两批均第一。此历史算法线与 2026-09 系统机制工作稿的开发矩阵分开，不合并为同一投稿主表，也不据此声称所有系统指标领先。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页｜模型共享示例：连续复用时搬运量更少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来源：artifacts/analysis/mechanism_evidence_closure_20261005_v1/。四种配置均完成72/72请求。数字是机制级资源账本，非实际无线链路吞吐。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页｜状态接续示例：保存进度后，只执行剩余步骤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来源：artifacts/analysis/two_node_workflow_reexecution_comparison_20261005_v1/。两节点、同机、单次技术样例；状态包 2,040 B，输出与从头运行一致。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22 页｜总结：把移动交接从“换位置”变成“接着做”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研究框架、既有冻结算法奖励对照与机制示例分别陈述。正式跨 RSU 端到端机制效果仍以相应独立实验为准。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23 页｜主要参考文献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文献截点：2026-10-11。完整 DOI/URL：</a:t>
            </a:r>
          </a:p>
          <a:p xmlns:a="http://schemas.openxmlformats.org/drawingml/2006/main">
            <a:r>
              <a:t>P1 COHCTO · TMC 2025：https://doi.org/10.1109/TMC.2025.3573379</a:t>
            </a:r>
          </a:p>
          <a:p xmlns:a="http://schemas.openxmlformats.org/drawingml/2006/main">
            <a:r>
              <a:t>P2 LDMCO · TMC 2026：https://doi.org/10.1109/TMC.2025.3646450</a:t>
            </a:r>
          </a:p>
          <a:p xmlns:a="http://schemas.openxmlformats.org/drawingml/2006/main">
            <a:r>
              <a:t>P3 Ly-COMA · IET 2025：https://doi.org/10.1049/itr2.70083</a:t>
            </a:r>
          </a:p>
          <a:p xmlns:a="http://schemas.openxmlformats.org/drawingml/2006/main">
            <a:r>
              <a:t>P4 Fan 等 · TVT 2024：https://doi.org/10.1109/TVT.2023.3310520</a:t>
            </a:r>
          </a:p>
          <a:p xmlns:a="http://schemas.openxmlformats.org/drawingml/2006/main">
            <a:r>
              <a:t>P5 MCMA · TMC 2025：https://doi.org/10.1109/TMC.2025.3539945</a:t>
            </a:r>
          </a:p>
          <a:p xmlns:a="http://schemas.openxmlformats.org/drawingml/2006/main">
            <a:r>
              <a:t>P6 MATM · TVT 2026：https://doi.org/10.1109/TVT.2026.3660321</a:t>
            </a:r>
          </a:p>
          <a:p xmlns:a="http://schemas.openxmlformats.org/drawingml/2006/main">
            <a:r>
              <a:t>P7 AWTO · FGCS 2026：https://doi.org/10.1016/j.future.2026.108415</a:t>
            </a:r>
          </a:p>
          <a:p xmlns:a="http://schemas.openxmlformats.org/drawingml/2006/main">
            <a:r>
              <a:t>P8 POLAR · arXiv 2026：https://arxiv.org/abs/2604.16583</a:t>
            </a:r>
          </a:p>
          <a:p xmlns:a="http://schemas.openxmlformats.org/drawingml/2006/main">
            <a:r>
              <a:t>P9 SLoRA · MLSys 2024：https://proceedings.mlsys.org/paper_files/paper/2024/hash/906419cd502575b617cc489a1a696a67-Abstract-Conference.html</a:t>
            </a:r>
          </a:p>
          <a:p xmlns:a="http://schemas.openxmlformats.org/drawingml/2006/main">
            <a:r>
              <a:t>P10 Punica · MLSys 2024：https://proceedings.mlsys.org/paper_files/paper/2024/hash/054de805fcceb78a201f5e9d53c85908-Abstract-Conference.html</a:t>
            </a:r>
          </a:p>
          <a:p xmlns:a="http://schemas.openxmlformats.org/drawingml/2006/main">
            <a:r>
              <a:t>P11 WfCommons · FGCS 2022：https://doi.org/10.1016/j.future.2021.09.043</a:t>
            </a:r>
          </a:p>
          <a:p xmlns:a="http://schemas.openxmlformats.org/drawingml/2006/main">
            <a:r>
              <a:t>P12 RUDDER · NeurIPS 2019：https://papers.neurips.cc/paper_files/paper/2019/hash/16105fb9cc614fc29e1bda00dab60d41-Abstract.html</a:t>
            </a:r>
          </a:p>
          <a:p xmlns:a="http://schemas.openxmlformats.org/drawingml/2006/main">
            <a:r>
              <a:t>P13 MAPPO · NeurIPS 2022：https://arxiv.org/abs/2103.01955</a:t>
            </a:r>
          </a:p>
          <a:p xmlns:a="http://schemas.openxmlformats.org/drawingml/2006/main">
            <a:r>
              <a:t>方法与数值来源：docs/project/system_mechanism_manuscript_working_draft.md；artifacts/analysis/mechanism_evidence_closure_20261005_v1/；artifacts/analysis/two_node_workflow_reexecution_comparison_20261005_v1/；artifacts/experiments/top_journal_v100_urgency_safe_resource_full_20260808/；artifacts/experiments/top_journal_v100_future_validation_v20_20260809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9b520187945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e1e9e05a549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7cdfe73ad43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fa208fd16e4d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be9ed5b5f4c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ad628cf6647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D03C661-53E4-4C3C-AAEC-0CCF33F6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88CFF9-04D2-48A9-A136-85FD77FB0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0F13228-8A2B-4A3C-9B39-29741B4CAE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4E81D45-355E-4BA2-8ED9-342788F8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2E4426-DBEF-4A27-AB9D-035831055D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D5CC644-79C9-4BEE-8FDE-6F647130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AE2E52-F62D-45FE-B768-037F9172E1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6F0EBB3-BACF-4C51-B1A8-35A4D2D933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216544F-9D0B-4B1C-9C66-EF40BDCC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912A9A-EC8D-4D16-9D52-334ED3EFDF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09AD23-0504-45EE-BFA1-32E5B9097A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0355CD-E00C-41C6-9FB0-2FE68E231A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4D50D5E-89DE-4D00-8393-39808D4C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3CCFF2-3B0F-402E-8F3A-68781150A1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2DB290-A509-4CFC-B0A8-3F2323EE36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4315923e944412" /><Relationship Type="http://schemas.openxmlformats.org/officeDocument/2006/relationships/slideLayout" Target="/ppt/slideLayouts/slideLayout1.xml" Id="R72fa03ce11c2411d" /><Relationship Type="http://schemas.openxmlformats.org/officeDocument/2006/relationships/slideLayout" Target="/ppt/slideLayouts/slideLayout2.xml" Id="Racf50f746a1b4575" /><Relationship Type="http://schemas.openxmlformats.org/officeDocument/2006/relationships/slideLayout" Target="/ppt/slideLayouts/slideLayout3.xml" Id="Rd90419d61f7f4eb6" /><Relationship Type="http://schemas.openxmlformats.org/officeDocument/2006/relationships/slideLayout" Target="/ppt/slideLayouts/slideLayout4.xml" Id="R97cc578f1f224457" /><Relationship Type="http://schemas.openxmlformats.org/officeDocument/2006/relationships/slideLayout" Target="/ppt/slideLayouts/slideLayout5.xml" Id="Ra3a0ed8edde143b8" /><Relationship Type="http://schemas.openxmlformats.org/officeDocument/2006/relationships/slideLayout" Target="/ppt/slideLayouts/slideLayout6.xml" Id="Rcae2c45391f64c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fa03ce11c2411d"/>
    <p:sldLayoutId xmlns:r="http://schemas.openxmlformats.org/officeDocument/2006/relationships" id="2147483650" r:id="Racf50f746a1b4575"/>
    <p:sldLayoutId xmlns:r="http://schemas.openxmlformats.org/officeDocument/2006/relationships" id="2147483651" r:id="Rd90419d61f7f4eb6"/>
    <p:sldLayoutId xmlns:r="http://schemas.openxmlformats.org/officeDocument/2006/relationships" id="2147483652" r:id="R97cc578f1f224457"/>
    <p:sldLayoutId xmlns:r="http://schemas.openxmlformats.org/officeDocument/2006/relationships" id="2147483653" r:id="Ra3a0ed8edde143b8"/>
    <p:sldLayoutId xmlns:r="http://schemas.openxmlformats.org/officeDocument/2006/relationships" id="2147483654" r:id="Rcae2c45391f64c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8312042fa4b03" /><Relationship Type="http://schemas.openxmlformats.org/officeDocument/2006/relationships/image" Target="/ppt/media/image.png" Id="Rfdcf7f72e55e48cd" /><Relationship Type="http://schemas.openxmlformats.org/officeDocument/2006/relationships/notesSlide" Target="/ppt/notesSlides/notesSlide1.xml" Id="Red02d5e7f3fe46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0c0dcac85d4666" /><Relationship Type="http://schemas.openxmlformats.org/officeDocument/2006/relationships/image" Target="/ppt/media/image2.png" Id="R17905a5772424514" /><Relationship Type="http://schemas.openxmlformats.org/officeDocument/2006/relationships/notesSlide" Target="/ppt/notesSlides/notesSlide2.xml" Id="R50c44cb8fb844a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7fb5b37db8441c" /><Relationship Type="http://schemas.openxmlformats.org/officeDocument/2006/relationships/image" Target="/ppt/media/image3.png" Id="Rb0fe6bb166f345fa" /><Relationship Type="http://schemas.openxmlformats.org/officeDocument/2006/relationships/notesSlide" Target="/ppt/notesSlides/notesSlide3.xml" Id="R9421e7c47f1c40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6c2fed91b4e06" /><Relationship Type="http://schemas.openxmlformats.org/officeDocument/2006/relationships/image" Target="/ppt/media/image4.png" Id="Rf7fbd1494fb44512" /><Relationship Type="http://schemas.openxmlformats.org/officeDocument/2006/relationships/notesSlide" Target="/ppt/notesSlides/notesSlide4.xml" Id="Rd8ea8c653c5646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84ba5ab2414ae8" /><Relationship Type="http://schemas.openxmlformats.org/officeDocument/2006/relationships/image" Target="/ppt/media/image5.png" Id="Ra519b4cb2b944f66" /><Relationship Type="http://schemas.openxmlformats.org/officeDocument/2006/relationships/notesSlide" Target="/ppt/notesSlides/notesSlide5.xml" Id="Ra430ef84f43946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01df6cc2845c1" /><Relationship Type="http://schemas.openxmlformats.org/officeDocument/2006/relationships/image" Target="/ppt/media/image6.png" Id="R8c006e2a7a9f4ae8" /><Relationship Type="http://schemas.openxmlformats.org/officeDocument/2006/relationships/notesSlide" Target="/ppt/notesSlides/notesSlide6.xml" Id="Rd9b53b9d07f948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56ec51a1b24f86" /><Relationship Type="http://schemas.openxmlformats.org/officeDocument/2006/relationships/image" Target="/ppt/media/image7.png" Id="Reba77d6dc20e4fa1" /><Relationship Type="http://schemas.openxmlformats.org/officeDocument/2006/relationships/notesSlide" Target="/ppt/notesSlides/notesSlide7.xml" Id="R1f8c0154119841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ce1fc072c43a9" /><Relationship Type="http://schemas.openxmlformats.org/officeDocument/2006/relationships/image" Target="/ppt/media/image8.png" Id="Rb8f3a5cd843a4a96" /><Relationship Type="http://schemas.openxmlformats.org/officeDocument/2006/relationships/notesSlide" Target="/ppt/notesSlides/notesSlide8.xml" Id="Red9996fd225e4f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9091957a104780" /><Relationship Type="http://schemas.openxmlformats.org/officeDocument/2006/relationships/image" Target="/ppt/media/image9.png" Id="R89ae019da7b7436e" /><Relationship Type="http://schemas.openxmlformats.org/officeDocument/2006/relationships/notesSlide" Target="/ppt/notesSlides/notesSlide9.xml" Id="Rfe947d98302d4f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feaa6bbfa40c7" /><Relationship Type="http://schemas.openxmlformats.org/officeDocument/2006/relationships/image" Target="/ppt/media/image10.png" Id="R991ae04b89b844fe" /><Relationship Type="http://schemas.openxmlformats.org/officeDocument/2006/relationships/notesSlide" Target="/ppt/notesSlides/notesSlide10.xml" Id="Rc39c874ef57948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75297a498649c7" /><Relationship Type="http://schemas.openxmlformats.org/officeDocument/2006/relationships/image" Target="/ppt/media/image11.png" Id="R21b1fdb0f7024941" /><Relationship Type="http://schemas.openxmlformats.org/officeDocument/2006/relationships/notesSlide" Target="/ppt/notesSlides/notesSlide11.xml" Id="Rdba8403dec964f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ce4bb58d84eb3" /><Relationship Type="http://schemas.openxmlformats.org/officeDocument/2006/relationships/image" Target="/ppt/media/image12.png" Id="Ra5afb9972dc44d8f" /><Relationship Type="http://schemas.openxmlformats.org/officeDocument/2006/relationships/notesSlide" Target="/ppt/notesSlides/notesSlide12.xml" Id="R93b11535cddb46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2a7068910e49ba" /><Relationship Type="http://schemas.openxmlformats.org/officeDocument/2006/relationships/image" Target="/ppt/media/image13.png" Id="R09a845d6853249fb" /><Relationship Type="http://schemas.openxmlformats.org/officeDocument/2006/relationships/notesSlide" Target="/ppt/notesSlides/notesSlide13.xml" Id="R5a3d7d2b8e224f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be84c8868949da" /><Relationship Type="http://schemas.openxmlformats.org/officeDocument/2006/relationships/image" Target="/ppt/media/image14.png" Id="R59144fcc270c4ec8" /><Relationship Type="http://schemas.openxmlformats.org/officeDocument/2006/relationships/notesSlide" Target="/ppt/notesSlides/notesSlide14.xml" Id="R8b5fd243999248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feb8dcf7d44e2" /><Relationship Type="http://schemas.openxmlformats.org/officeDocument/2006/relationships/image" Target="/ppt/media/image15.png" Id="R73c29abe824a4677" /><Relationship Type="http://schemas.openxmlformats.org/officeDocument/2006/relationships/notesSlide" Target="/ppt/notesSlides/notesSlide15.xml" Id="Raa812bec7ec940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cb83a3b7f243f0" /><Relationship Type="http://schemas.openxmlformats.org/officeDocument/2006/relationships/image" Target="/ppt/media/image16.png" Id="R63d7b17c09e34598" /><Relationship Type="http://schemas.openxmlformats.org/officeDocument/2006/relationships/notesSlide" Target="/ppt/notesSlides/notesSlide16.xml" Id="R09e3e1c3e9b04b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d463361f544169" /><Relationship Type="http://schemas.openxmlformats.org/officeDocument/2006/relationships/image" Target="/ppt/media/image17.png" Id="R542b6d924a9d4e3e" /><Relationship Type="http://schemas.openxmlformats.org/officeDocument/2006/relationships/notesSlide" Target="/ppt/notesSlides/notesSlide17.xml" Id="Racc301c44fd04f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4990e291084b13" /><Relationship Type="http://schemas.openxmlformats.org/officeDocument/2006/relationships/image" Target="/ppt/media/image18.png" Id="R8bbe0aa1d02c4cd8" /><Relationship Type="http://schemas.openxmlformats.org/officeDocument/2006/relationships/notesSlide" Target="/ppt/notesSlides/notesSlide18.xml" Id="Rcfabcd59a6cf487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87977c8a9e457f" /><Relationship Type="http://schemas.openxmlformats.org/officeDocument/2006/relationships/image" Target="/ppt/media/image19.png" Id="R1b268df926574580" /><Relationship Type="http://schemas.openxmlformats.org/officeDocument/2006/relationships/notesSlide" Target="/ppt/notesSlides/notesSlide19.xml" Id="R08b7c570bd3a4b3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b775b8b8cc4213" /><Relationship Type="http://schemas.openxmlformats.org/officeDocument/2006/relationships/image" Target="/ppt/media/image20.png" Id="R1cc65295d4854a46" /><Relationship Type="http://schemas.openxmlformats.org/officeDocument/2006/relationships/notesSlide" Target="/ppt/notesSlides/notesSlide20.xml" Id="R0fd0032593a84f4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7dd52afd9c427c" /><Relationship Type="http://schemas.openxmlformats.org/officeDocument/2006/relationships/image" Target="/ppt/media/image21.png" Id="R0f4927f4c68c4056" /><Relationship Type="http://schemas.openxmlformats.org/officeDocument/2006/relationships/notesSlide" Target="/ppt/notesSlides/notesSlide21.xml" Id="Ra2a66847f896470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4e62ab6f004ec0" /><Relationship Type="http://schemas.openxmlformats.org/officeDocument/2006/relationships/image" Target="/ppt/media/image22.png" Id="Rbd801f8d95e34beb" /><Relationship Type="http://schemas.openxmlformats.org/officeDocument/2006/relationships/notesSlide" Target="/ppt/notesSlides/notesSlide22.xml" Id="R15230f9fff6f47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efe88273d04512" /><Relationship Type="http://schemas.openxmlformats.org/officeDocument/2006/relationships/image" Target="/ppt/media/image23.png" Id="Rd88c495131c446ed" /><Relationship Type="http://schemas.openxmlformats.org/officeDocument/2006/relationships/notesSlide" Target="/ppt/notesSlides/notesSlide23.xml" Id="R476fbf24c9234c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70465-186C-4E89-AC4E-175B26EE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51A78-29A5-4E7D-A5FD-82B3F231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f7f72e55e48cd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B7D38-985D-4278-A10E-8DF55717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广东工业大学 · 学术研究汇报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E95A1-821A-4DB9-8F87-1FDFC165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让移动中的连续服务在路侧边缘稳定接续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77CC1-EA7F-4B94-9CB7-1780E9F9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80CC6-57BD-429C-B3F5-A512A90D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DF21E-2C60-4525-AE48-60225349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模型复用与执行状态协同准备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F83E6-EE0B-4567-87DD-F9ECBE7B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90900"/>
            <a:ext cx="10382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研究背景 · 相关工作 · 系统方法 · 实验与发现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ECB90-C779-4A21-AD73-D98F65DE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0B77D-C82E-4207-AD90-C2CC79DB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Dependency-Aware Preparation for Mobile Edge Workflows</a:t>
            </a:r>
          </a:p>
        </p:txBody>
      </p:sp>
    </p:spTree>
    <p:extLst>
      <p:ext uri="{BB962C8B-B14F-4D97-AF65-F5344CB8AC3E}">
        <p14:creationId xmlns:p14="http://schemas.microsoft.com/office/powerpoint/2010/main" val="1116718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924675" y="30765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29000" y="30765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476A2-B014-424B-B615-E1FA4FFF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6D980-8399-40B7-9516-7B853615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05a5772424514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A1667-ED9E-41FC-B5DB-58A7D61C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研究背景 · 一分钟理解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42D5D-0C45-4C90-89E8-0DBB4BA8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先看一个问题：车开过路口，服务怎样接着做？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55CA5-3B1F-4964-AFA2-98DF3317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883F0-A067-43C4-BE09-CAABDC23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BF675-2F1E-47DA-B926-D61700F5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2647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路侧站 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完成前一步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23C59-6C54-47AB-B31B-41ABF163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62225"/>
            <a:ext cx="2352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车辆驶向下一站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E8C40-7259-47B6-B319-65EC6DB5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562225"/>
            <a:ext cx="3276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路侧站 B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继续下一步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E82A5-3F23-4164-BFB2-E8415952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0429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我们关注的不是一次任务放在哪里，而是整条服务链能否连续完成。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340A0-D032-41B9-B79A-002AF362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路侧站：靠近车辆部署的边缘服务器；连续服务：后一步要使用前一步的结果。</a:t>
            </a:r>
          </a:p>
        </p:txBody>
      </p:sp>
    </p:spTree>
    <p:extLst>
      <p:ext uri="{BB962C8B-B14F-4D97-AF65-F5344CB8AC3E}">
        <p14:creationId xmlns:p14="http://schemas.microsoft.com/office/powerpoint/2010/main" val="12169415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72375" y="339090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71900" y="339090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974C7-320B-4154-B54E-6FAFB26C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A74BD-FAC0-498A-8A2B-EB1F34E6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e6bb166f345fa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5EFE7-9FB7-4FA8-8DB0-C23E7D8D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研究背景 · 问题分解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0C74F-9B8B-4B60-87DB-08C97FE2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要“接着做”，下一站需要三样东西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E02F7-68B0-4697-AFEF-B7004CA7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72740-60D8-489C-8183-63828B97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E8F32-6AC0-4B18-B25B-8083C11F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8875"/>
            <a:ext cx="29622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① 前一步的结果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知道任务做到哪里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19D2E-DE2D-4B54-A350-D7B4B816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28875"/>
            <a:ext cx="29622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② 可用的模型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具备执行下一步的能力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046F1-D39B-4CA8-BF4A-6775AFA8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428875"/>
            <a:ext cx="29622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③ 运行时状态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能从断点继续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CDB62B-A5B8-4E9B-AFB0-9108D867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00625"/>
            <a:ext cx="1057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这三件事必须在同一个交接窗口内相互配合。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EE072-E377-4E31-8985-F8D3C67A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“有先后依赖的工作流”在论文中记为 DAG。</a:t>
            </a:r>
          </a:p>
        </p:txBody>
      </p:sp>
    </p:spTree>
    <p:extLst>
      <p:ext uri="{BB962C8B-B14F-4D97-AF65-F5344CB8AC3E}">
        <p14:creationId xmlns:p14="http://schemas.microsoft.com/office/powerpoint/2010/main" val="1382861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7FA7B2-E9C2-4B6F-8083-8C038F04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ACDBE-CD1F-4F82-AA0C-B1FECFF6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bd1494fb44512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F610C-8677-4A4E-8922-122B57B1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文献对比 1 /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8A65E-D4C1-4358-86A4-448A3656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相关工作：任务依赖与移动迁移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5B601-6441-4747-AB1A-76140EFA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AE877-8A8D-49B3-943D-6C86F6C5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24704-67B9-4E24-BA42-DB017FEE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代表论文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56B34-299F-4BE7-8C06-C35687AF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8595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这篇论文解决了什么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0E3D9-423D-4E6D-8F88-D61CF695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885950"/>
            <a:ext cx="4391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我们进一步研究什么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1AF7F-8EDB-4114-9542-A1436C2A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16E2B-4437-4DA0-8374-32FEACD5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COHCTO · TMC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1D7B1-7A46-496A-A2D6-4557D490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05050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把任务依赖和服务缓存一起纳入卸载。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ADF0E-279A-46F1-A25D-CAD9B094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0505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继续研究交接时，模型组件与执行进度如何一同到位。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B88C9-1BC9-49A5-9892-CFD17E72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A3880-63F9-4264-AF62-520080E9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LDMCO · TMC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012B2-A87F-4D79-841C-1D344F28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00375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针对有先后顺序的任务，优化数据依赖与执行时机。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A0AD9-7ECB-4AB7-A293-DB7C6A80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0375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进一步研究任务跨路侧站后，已完成的进度如何保留。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053E91-9B7B-4C90-A85C-676B9AA9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5B458-73BE-4F98-BF04-1A542208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Ly-COMA · IET 2025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6B72ED-A400-4811-865C-3FB0D8B6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95700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把有依赖的子任务与跨边缘迁移放在一起。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A7991D-50D7-44AF-B0BE-2F0A607D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69570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进一步区分共享模型、专用模块与执行状态的准备。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7E959-9C50-4A25-A536-3AC077BF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0EF794-0D27-4291-83B5-5A10FE0E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91025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Fan 等 · TVT 2024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1B2BFA-A3B5-4E17-9ED9-71A0D4F6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91025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利用车辆携带依赖结果，支持无回传链路迁移。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BE23EA-6764-40A2-A2DC-8DCB45B5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91025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进一步研究模型复用与准备开销、完成量的关系。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26C664-0633-4FB8-AF7C-07B13452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EE3874-A993-4E53-A31E-E68A4168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MCMA · TMC 2025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9CD19-B07E-4E20-939C-0BFC949F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86350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用轨迹预测指导任务迁移和卸载。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93755B-4948-4992-82FC-66485C3A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08635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进一步关注整条任务链跨站继续，而不只决定迁往哪里。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61134F-0160-4B8C-9A89-53A7D4A0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逐篇对比的是研究对象与问题边界；详细出处见演讲备注。</a:t>
            </a:r>
          </a:p>
        </p:txBody>
      </p:sp>
    </p:spTree>
    <p:extLst>
      <p:ext uri="{BB962C8B-B14F-4D97-AF65-F5344CB8AC3E}">
        <p14:creationId xmlns:p14="http://schemas.microsoft.com/office/powerpoint/2010/main" val="7881885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97D52A-8511-468C-86F5-2626C011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A38A3-6558-4715-9462-958FDF5E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9b4cb2b944f6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0CF1D-7E9A-4835-86C4-747BAAC3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文献对比 2 /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8575A-9C41-4D71-9F06-C85B24F1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相关工作：预测、模型缓存与移动服务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411C9-2AB4-4F0D-8FC8-6D14EF46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A6F4E-8B46-4D61-8B46-0401B735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C99CF-43BF-49BE-89EE-0A136478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代表论文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9A94F-D167-4ACF-AFE0-445B1ACD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8595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这篇论文解决了什么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B9388-9A8C-4DF9-9365-6729F9C4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885950"/>
            <a:ext cx="4391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我们进一步研究什么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11595-C37B-474A-8FDD-CC7F9C8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4026C-41BD-4FC1-AF51-35F1188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MATM · TVT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2EB8A-4E2B-45A3-8A3D-37E78985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0505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结合轨迹预测、任务迁移与资源分配。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09C80-7B1E-488F-A701-76692BD2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0505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进一步让目标站的模型与后续执行所需状态共同就绪。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74385-B6F8-4E45-BE78-ABDE5246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CAD0B-C9C7-4D99-9BA0-68EC0617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AWTO · FGCS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47A91-D1B6-4CAC-B382-619E0EB3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6230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在边缘集群中联动工作流调度、模型加载与内存。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CBB9A-BDD7-44D0-A3D3-5207A53B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16230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进一步处理车辆移动造成的路侧站交接。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38F1A-DC8D-4E3D-ABDD-07C63AA4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C4D92-081D-47EB-B84F-DF902FE9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POLAR · arXiv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D5968F-932D-4283-954E-4FC9A46D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01955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联合管理专用模型模块的缓存与请求路由。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B57748-3E46-45C5-BA49-50D61C77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1955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进一步纳入任务先后依赖、车辆移动和中途继续执行。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A2B686-AF9E-4AD4-A40B-AA2446F2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9E4625-AD4A-4E97-9DC8-78E4C4CF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SLoRA · MLSys 2024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FACEDA-2CB2-472D-8318-4D861381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7680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一份共享模型支持大量专用模块的高效服务。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141656-B8AE-4FFD-B046-D8465554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87680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进一步决定跨站交接前，哪些组件值得提前准备。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FE8CDA-D9EF-43D7-B038-0C37BCB4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逐篇对比的是研究对象与问题边界；详细出处见演讲备注。</a:t>
            </a:r>
          </a:p>
        </p:txBody>
      </p:sp>
    </p:spTree>
    <p:extLst>
      <p:ext uri="{BB962C8B-B14F-4D97-AF65-F5344CB8AC3E}">
        <p14:creationId xmlns:p14="http://schemas.microsoft.com/office/powerpoint/2010/main" val="674773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AF87F2-389C-4F34-88FA-2A7B575F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58463-90A6-4C4D-BF52-8D6E34CC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06e2a7a9f4ae8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E3A51-1650-4AD9-A2BD-99BFF455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文献对比 3 /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79BDF-5E4A-4C06-98B1-51887F26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相关工作：模型服务与方法基础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FEE5D-F9C1-49E5-B25F-FAB44CB2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85328-9465-456A-9AFB-0215BDF3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7F3FD-EFFD-4851-837B-6A876C13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代表论文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B58EA-B8A0-42E1-89FE-5D4ED572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8595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这篇论文解决了什么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182BC-55CF-4E55-B8CB-25823C51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885950"/>
            <a:ext cx="4391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我们进一步研究什么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7DE76-51EE-40AF-BF93-C136B92F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4E091-98ED-4E18-B602-1496CD6B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Punica · MLSys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5A349-50F9-495A-B17C-CD6F972A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0505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利用共享模型服务多个专用模块请求。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7CF63-DAEB-48C3-AE63-512F1D42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0505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进一步研究车辆移动时的模块放置与后续任务执行。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593CD-7DA2-420F-BB71-0581ABA3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43687-874E-43A3-8AC5-93167B76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WfCommons · FGCS 2022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6FF5E-E4EA-42B7-94AB-6C6E1966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6230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分析并生成具有真实结构特征的工作流。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85917B-FD1A-4BF1-87EB-51308E6F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16230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进一步把工作流结构与车辆轨迹、路侧资源联系起来。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DF2AE-85B1-456E-9AB7-EE768EF0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4B252-ED84-4A04-9037-6781004D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RUDDER · NeurIPS 2019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43417-EA8D-4A0B-A594-2FBC98B5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01955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研究长期任务中如何分配延迟到来的奖励。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A0A47-6744-4064-9F7C-AB3ABC34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1955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进一步落到模型准备、交接与传输开销的具体系统问题。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BA0A1-9C7A-41A4-8036-8B2841BE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7D519F-5F05-4798-A8A8-A7977B5A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MAPPO · NeurIPS 2022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8CFB37-8FD9-4ED5-B758-40072F11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7680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提供合作式强化学习的基线方法与经验。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7AFA91-B2E8-4D99-B6FD-2B641411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87680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进一步建立车辆、路侧站和连续工作流的系统模型。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EA3257-FBD5-4DAE-A574-3F371960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逐篇对比的是研究对象与问题边界；详细出处见演讲备注。</a:t>
            </a:r>
          </a:p>
        </p:txBody>
      </p:sp>
    </p:spTree>
    <p:extLst>
      <p:ext uri="{BB962C8B-B14F-4D97-AF65-F5344CB8AC3E}">
        <p14:creationId xmlns:p14="http://schemas.microsoft.com/office/powerpoint/2010/main" val="19002570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E57D528-10EC-40A7-965B-8D523E29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3F0A5-B1A2-4720-8A38-DD9127D1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77d6dc20e4fa1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7CA46-F016-4055-9694-7F17DA83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文献定位 · 研究范围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B21D2-0384-4EFF-9849-51DF0070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横向对比：我们的研究把五个问题连在一起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1B75B-6A79-4DA6-9363-A2081450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B4A67-B56E-463D-A1B4-A61A86C8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23D48-F4E9-4DB0-8F2B-B07FC516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2924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论文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1C5E5-B64C-4336-9105-A148868D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24050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任务依赖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F73D1-BAC0-4D57-A755-41161391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924050"/>
            <a:ext cx="137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模型复用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35873-1BA4-42DE-B250-68FA7DF7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24050"/>
            <a:ext cx="137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车辆移动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99750-2DAB-418E-8614-8B8729B8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924050"/>
            <a:ext cx="137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状态续接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CF6CF-01AD-488E-823B-0A44B919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240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联合决策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2FB93-FF9C-4D53-8FE4-7D4C3BC3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P1 COHCTO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2DF4E-98CF-44CF-83C5-0B8EA7A6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145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D2791-7680-4FE4-91CD-277A0467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314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D97F4-D6C3-4B09-BC00-0585C8A6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14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038F2F-FA4C-4F8D-91DE-91D88C9F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314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61C7B-FB69-41D8-ABDB-0AF8CBB7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14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5C025-75F8-4942-B940-CD7FA347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C9255-6CB1-4286-9B98-E73DE070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P2 LDMCO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97F51-2EB7-411F-8798-7679A445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47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6231EF-A9C2-4837-8B23-34645C34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52547-46A9-4A2F-96BE-77755CC6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089244-024E-44B6-8479-25AF2EA2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0FC519-B37F-4256-939F-99B45C4C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47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BFBDA-9BD7-473E-B8F8-4F704CF5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5A2CB3-1399-43AB-9A62-CF697F91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P3 Ly-COMA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3082F4-C759-4A34-BED0-2FDE6B61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813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2230E4-B2DF-4457-9AF4-F37BA199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813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645E63-65A1-4A48-AD99-856934AD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813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276D3A-4362-4AF7-A770-F5E4473A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813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6F5A1C-4093-4E58-BE87-1ADD5B4C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813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C9F0C5-AF9E-4130-8815-2E7ABC63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46C762-D723-4BCC-8677-63FFDF01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P4 Fan 迁移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29131A-7E60-4214-83E5-C7A3DD48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147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4735BD-4439-4174-96AA-BD7915C3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147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5D19E4-900A-438C-AFB5-50A955B7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147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BD47AA-E5E2-4B9B-A9CF-FFBAC095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147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830CF1-E5F0-4180-9C81-EC75681A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14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5680F5-D4E3-4A58-A8A7-9D9D578C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643853-E004-45EC-826E-7CA41AD9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P5 MCMA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A9F77A-CFA9-42D6-8484-6ACA4BB3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480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E00D41-04D9-4DD7-8C6B-1CEC698F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480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00270D-106D-4C40-B536-58C89BB8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480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192B95-7A94-4A09-9C58-EAA6C1EA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6480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393240-44BF-4673-A2F3-FE25D7FA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480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43E5D7-2B34-46E9-9B1C-E2CBFCA2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EDF09B-A6B5-42CB-9A92-04621368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P6 MATM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013883-7CAD-44D1-941C-4208A96D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814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188A84-25C5-4620-9CF5-DFDF8E0E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9814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A753F2-E855-47D4-865F-EBF620D7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814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C660E7-20DF-4B12-AAD3-E578DF17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9814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EF4B688-84F6-45D2-9DD1-FA409246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81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0CBA93-AB02-4FDA-8A98-A9BBD400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EBF487-C591-4B46-B920-79318EBF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P7 AWTO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13CA03-9519-489F-B23F-18BEA017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148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C248BD-8852-4031-B12C-08D15D8D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3148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0CFDEF-ED39-4893-9197-5192E721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148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D86999-0FE5-4DEE-8317-F0973339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3148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3F1408-D053-4513-A8D0-98C4C769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148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42351D-D5FE-4EF4-89CB-D5AE52FF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10D354-0D3E-47DE-A2AD-4191991F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P8 POLAR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82F54DF-E897-4B38-8840-C5C1207B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482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57A801-7322-4B70-BEDF-122B1F76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482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005EDE2-C259-43A6-9321-851E8F86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482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CC33FFA-542A-41F2-B473-362922DE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6482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1F9A00F-4C52-4FB9-B43D-14D68794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48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31F3C1A-DCFC-4AFA-8E6E-88454BD5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68CE22-46DF-4643-AE3A-9D0FDBD0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P9/10 SLoRA/Punica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A5269C3-AAE2-48A0-81AD-B6BE9D2C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815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935F5D3-CAFF-4FA6-9D40-1C8634B2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981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28D262-C121-415D-ABBA-1A11F26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81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6934398-CDFA-44C3-BB30-03E84F7A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981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3AF3946-ECC3-488A-9718-DC1CEC26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81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7A15238-C5CD-4319-BCED-A34B9DB4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16358C2-BB90-4729-AB3A-BBE34E79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95900"/>
            <a:ext cx="10734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6193">
            <a:solidFill>
              <a:srgbClr val="BDEE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FCE8DBE-B7B2-40EA-9B61-874CA933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本研究关注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632DD1-CBBC-491A-9085-DE3FD418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314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F1F43A8-E4D8-423F-A417-636E5EE6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314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941E330-9B94-469E-855F-696216C1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14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33CC009-1828-4CC1-A8D5-E0514E8E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314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3DF3230-1756-4A14-A641-A4B2DC8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314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25A8C1-8EB2-44F6-B909-7F253F06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63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● 直接涉及    ◐ 部分相关    — 非核心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5332480-F26E-497E-917D-6F43DC7D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五个方面的交集，是本文提出统一准备与调度方法的出发点。</a:t>
            </a:r>
          </a:p>
        </p:txBody>
      </p:sp>
    </p:spTree>
    <p:extLst>
      <p:ext uri="{BB962C8B-B14F-4D97-AF65-F5344CB8AC3E}">
        <p14:creationId xmlns:p14="http://schemas.microsoft.com/office/powerpoint/2010/main" val="1125001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705725" y="33909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981450" y="33909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CB9F5-8745-4D66-AF65-A3340A82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A34D8-E5F5-4EAD-A1AC-AA2A94C7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3a5cd843a4a9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61A89-CE48-4B6F-A2AB-A71EA607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研究贡献 · 一张图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457E0-D95E-4BFD-B865-8030DAB8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74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我们的工作：把“准备什么、何时准备、在哪里准备”统一考虑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D3C6A-DD29-4A2B-8BFF-FCED958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07126-C6EA-4CF0-BDC3-B6FF7B9B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9EF13-D2E8-4D89-90F9-62B2F667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86000"/>
            <a:ext cx="322897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准备什么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前一步结果、共享模型、专用模块与运行状态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F7BE2-412C-4AE3-B554-2434054C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22897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何时准备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根据任务进度与预计交接时间决定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F7020-C561-4BAD-A9A1-5C0C3C1B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86000"/>
            <a:ext cx="322897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在哪里准备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检查下一路侧站已有资源与可用容量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B331E-8AAC-4E43-AC5E-6F5D76B2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评价时同时看：整条任务链是否完成、等待时间和搬运数据量。</a:t>
            </a:r>
          </a:p>
        </p:txBody>
      </p:sp>
    </p:spTree>
    <p:extLst>
      <p:ext uri="{BB962C8B-B14F-4D97-AF65-F5344CB8AC3E}">
        <p14:creationId xmlns:p14="http://schemas.microsoft.com/office/powerpoint/2010/main" val="8615431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6A59A-62F3-40B6-BD49-CBCC8DC7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B8D12-E7B8-4761-AE72-F5D0F7D1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e019da7b7436e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1BE82-5D7F-4D34-9473-7BBDAEC8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研究问题 · 三个问题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08F78-D969-4B69-AB0B-2DC18B2B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研究问题：怎样让准备工作真正帮助任务完成？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0E68C-DFDA-4CC5-8EB8-06D5BCF8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7D833-3D42-4A4B-8175-9A6F60B1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F78F1-2E19-45EF-BBF0-49128DB5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81225"/>
            <a:ext cx="2276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6567F-0893-41C5-A0C0-1D3C55C2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38375"/>
            <a:ext cx="7848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多个步骤共用一个模型时，能减少多少重复搬运？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CD7DC-FF8C-432D-97E6-735B2E28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81375"/>
            <a:ext cx="2276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36E83-8209-48F1-84E5-3F38D032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38525"/>
            <a:ext cx="7848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车辆即将交接时，哪些资源值得提前放到下一站？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9F053-239D-43C3-8264-A35AD5E2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81525"/>
            <a:ext cx="22764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2AB17-7B31-4B70-8090-D91B2DC5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38675"/>
            <a:ext cx="7848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面对任务进度与车辆移动，怎样协调长期准备和即时执行？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90A42-90C0-4F68-88EF-4A8FA187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统一的目标：让更多完整工作流按时完成，并控制等待和传输成本。</a:t>
            </a:r>
          </a:p>
        </p:txBody>
      </p:sp>
    </p:spTree>
    <p:extLst>
      <p:ext uri="{BB962C8B-B14F-4D97-AF65-F5344CB8AC3E}">
        <p14:creationId xmlns:p14="http://schemas.microsoft.com/office/powerpoint/2010/main" val="14239970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134475" y="30194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210300" y="30194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86125" y="30194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2FEB5-EBED-40D5-A42C-A182337B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A62FC-9C00-463C-B4E0-7D0BDADD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ae04b89b844fe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A3CD1-AEA8-4234-9E6C-E59250B8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核心机制 · 四步说明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1AE77-C4CE-451E-9F7D-8B28DC5F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方法直觉：先看下一步，再准备下一站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7850D-A932-40F7-8806-EC897A78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63218-FBE1-4EC1-9C5C-47FA9402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6BD8B-24B0-4947-AC0E-1DA44FA7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5431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看任务进度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下一步需要什么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C85C4-5113-4F0C-AC6E-CC79885B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5431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看车辆动向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可能到哪一站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FA68C-C499-485D-81EA-72195784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25431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看已有资源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只补齐缺少的部分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87243-D4DA-4831-8900-C99CB1A5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81250"/>
            <a:ext cx="19240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交接之后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从原进度继续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155BC-B043-478C-B3B0-8E26BBBD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1045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核心思想：下一站准备的是“后续工作真正需要、且当前还没有”的资源。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C78BC-28FD-4E07-9A1E-C780D871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准备对象包括模型组件，也包括已经完成步骤留下的运行状态。</a:t>
            </a:r>
          </a:p>
        </p:txBody>
      </p:sp>
    </p:spTree>
    <p:extLst>
      <p:ext uri="{BB962C8B-B14F-4D97-AF65-F5344CB8AC3E}">
        <p14:creationId xmlns:p14="http://schemas.microsoft.com/office/powerpoint/2010/main" val="3216242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67F84-9F39-4812-8E7F-2E1DF26D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330A3-E9DC-45D9-A3CA-8E6DAEEA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1fdb0f7024941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001B1-A294-45DE-8412-B415BD67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策略取舍 · 判断依据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5950D-6317-4389-9CD4-65C889DD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什么时候提前准备？看三个可观测因素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761F2-910A-4CBD-8752-6700BB6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BB785-EB78-435F-A69F-DCA0C03D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8BE76-D5F6-43C3-BD48-9B94258C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交接时间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车辆还会在本站停留多久？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1D812-8C86-43D4-ADBF-BEE654E9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下一站已有资源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是否已经存着可复用模型？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B1991-791C-4C5A-A47F-22307E0F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准备成本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需要传多少数据、占多少空间？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6319A-602F-4DB2-BB04-9E7E696E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95825"/>
            <a:ext cx="105441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据此选择：提前准备、等需求出现再准备，或由车端完成当前步骤。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90000-C8D5-4B91-A171-6706887A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这使“是否提前搬运”成为可计算的决策，而非固定规则。</a:t>
            </a:r>
          </a:p>
        </p:txBody>
      </p:sp>
    </p:spTree>
    <p:extLst>
      <p:ext uri="{BB962C8B-B14F-4D97-AF65-F5344CB8AC3E}">
        <p14:creationId xmlns:p14="http://schemas.microsoft.com/office/powerpoint/2010/main" val="15504658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0139363" y="29622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258175" y="2552700"/>
            <a:ext cx="609600" cy="1438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7248525" y="29622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5610225" y="2552700"/>
            <a:ext cx="62865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752725" y="3219450"/>
            <a:ext cx="628650" cy="804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752725" y="3219450"/>
            <a:ext cx="628650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752725" y="2424113"/>
            <a:ext cx="628650" cy="7953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5D0DBC-2836-4E05-85C7-88016751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817A7-1E91-4D2A-9680-91F34BC0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fb9972dc44d8f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B7645-FF14-42D7-B189-814FAE08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论文结构图 · 系统层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8DE54-B0F2-49C6-BC5E-BC6B76D4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系统结构：数据、路侧环境与控制方法形成闭环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9D501-7893-4568-930D-48A55B6C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0F3DC-E199-4639-8A8E-8C263331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67B0C-ADE6-4CCA-B3AF-FF9F5E2A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2038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车辆轨迹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4BD10-45DF-4E81-826F-185EACBC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2038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任务链结构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88CCE-5C98-49D4-A2F5-2EFE1479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2038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模型资源清单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55F23-D4B0-4653-BF7E-903F5D53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09850"/>
            <a:ext cx="22288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路侧边缘环境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站点 / 缓存 / 交接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BD948-7A19-4F1F-8F0F-1AF3924A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2019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当前信息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 / 车辆 / 站点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E2A2D-3DE7-4DB8-942A-AE2DDD9E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81400"/>
            <a:ext cx="2019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信息融合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依赖 + 资源 + 预测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C236A-2219-4948-BAF1-4FEC569E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143125"/>
            <a:ext cx="25431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协调决策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长期 / 即时 / 交接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A09DA-7608-4CEA-8081-CB4B5FC5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581400"/>
            <a:ext cx="25431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执行选择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放置、卸载或准备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BAF96E-338C-4EC8-BF7E-D643E2EB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67300"/>
            <a:ext cx="10334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决策回到路侧环境；系统记录整条任务链的完成、等待和传输。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A8C530-098F-4CBB-96C4-27AA4C5F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图由论文方法稿中的系统结构重绘，元素可在 PPT 中编辑。</a:t>
            </a:r>
          </a:p>
        </p:txBody>
      </p:sp>
    </p:spTree>
    <p:extLst>
      <p:ext uri="{BB962C8B-B14F-4D97-AF65-F5344CB8AC3E}">
        <p14:creationId xmlns:p14="http://schemas.microsoft.com/office/powerpoint/2010/main" val="19100655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22282-CAE8-420E-93F0-ED5FDD40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0DBA9-3D45-4765-800D-F5776DB9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845d6853249fb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04E49-5174-45D7-9B31-798661CB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论文模型 · 资源账本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BAD2B-820E-4866-835A-E90DA448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资源模型：共享部分只搬一次，专用部分按需补齐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518F9-2D38-4C20-A378-0C2CB60A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34099-E74E-47D4-8DC8-94D4C1A7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119D8-F62E-4548-917E-1FA7BA01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86000"/>
            <a:ext cx="27241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共享模型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多个步骤可复用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C42BD-3666-4EE8-9180-F3CD9244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286000"/>
            <a:ext cx="27241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专用模块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为具体步骤补充能力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2FA9F-1C8C-47C7-BFE3-A5BF7C69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86000"/>
            <a:ext cx="39052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运行状态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记录已完成步骤和上下文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740EC-CDEE-408F-8275-6B921B59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104298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需搬运的数据 = 下一步所需对象 − 下一站已有对象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FFA22-CD09-4B6A-A866-605D5A95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53025"/>
            <a:ext cx="10363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每个对象只计一次，并同时检查模型兼容性与站点容量。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CF81A-22DF-4949-9220-CC3FC6C1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资源账本使“复用”有明确的字节含义。</a:t>
            </a:r>
          </a:p>
        </p:txBody>
      </p:sp>
    </p:spTree>
    <p:extLst>
      <p:ext uri="{BB962C8B-B14F-4D97-AF65-F5344CB8AC3E}">
        <p14:creationId xmlns:p14="http://schemas.microsoft.com/office/powerpoint/2010/main" val="9753055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300ED2-44B5-4D86-9B51-B531D9C1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E01A9-D6D3-4AEF-A258-871885F6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44fcc270c4ec8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8FF7C-70CA-40AF-ACA3-88282DB5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论文方法 · 可执行决策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DFB08-A749-487B-A6C8-9E0DF8B5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控制方法有五种实际选择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7DBFF-F5B9-4A2B-9E04-85E458EB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69817-0944-485E-AA1F-8C489310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3F78A-9621-4CB0-B1F0-AE09F135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038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补齐本站模型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EE3A8-ACD4-451D-AA22-408C6544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478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当前站缺少执行所需模型时，先补齐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E0A8E-15CE-4B22-BE3D-FF5F8907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670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85D51-8D37-4D3B-AA08-16BA1128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3038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提前准备下一站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B3613-B42D-4888-B161-479D4B3D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336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根据车辆动向预备可能用到的组件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3DE44-8B89-4B06-A432-357697B0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528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FFB8D-9865-4C9E-8998-76E718E5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3038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交给车端执行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7B62D-A162-41A5-872A-7B85BBF3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4194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车辆本地资源承担当前步骤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47D40-7C1A-4643-A6BA-9D01C53F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38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A907F-4715-4744-B9B9-0C643BA9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05275"/>
            <a:ext cx="3038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在本站直接执行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26ED4-B06A-4297-9605-D249681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052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资源就绪时直接卸载到当前站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78BCC-4768-4829-9F12-D7D29CF9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244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9B5CB-419A-40A3-9842-66C94FC9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3038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准备交接状态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93AF7-481F-4B16-AECA-F501D991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7910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让下一站具备继续执行所需的信息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D57D3-06A6-49CE-8585-DBCFCB26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每次选择都受资源容量与可执行条件约束。</a:t>
            </a:r>
          </a:p>
        </p:txBody>
      </p:sp>
    </p:spTree>
    <p:extLst>
      <p:ext uri="{BB962C8B-B14F-4D97-AF65-F5344CB8AC3E}">
        <p14:creationId xmlns:p14="http://schemas.microsoft.com/office/powerpoint/2010/main" val="17708611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/>
          <p:cNvCxnSpPr>
            <a:stCxn xmlns:a="http://schemas.openxmlformats.org/drawingml/2006/main" id="11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281738" y="3943350"/>
            <a:ext cx="4076700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281738" y="3943350"/>
            <a:ext cx="1347788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4781550" y="3943350"/>
            <a:ext cx="1500188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11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1933575" y="3943350"/>
            <a:ext cx="4348163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6281738" y="2876550"/>
            <a:ext cx="1671638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972050" y="2876550"/>
            <a:ext cx="1309688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990725" y="2876550"/>
            <a:ext cx="4291013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E4ED90-9F39-484B-B842-5F8118C3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7E410-D980-46B3-A4FA-0A20454C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29abe824a4677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8E67C-1C04-49B9-9916-279BD20D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论文结构图 · 算法层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7BC65-7C91-4D3C-8E0A-6EA57276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算法结构：同一份信息，支持三个时间尺度的决策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83652-9D58-48D4-A50C-0483F240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D6070-59A9-4939-B2FF-44C8464B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DFDAB-38C2-4AB0-953C-D0F90EE1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4955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任务链信息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进度与先后依赖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E1CC2-B2EF-48A8-BCAF-749389C3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047875"/>
            <a:ext cx="24955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站点与车辆信息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资源、负载、位置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FDA9F-B81A-4F83-969B-CA6E7D73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47875"/>
            <a:ext cx="24955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移动趋势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预测交接与紧迫度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121BA-BAE7-4C8E-B0C2-4FE08DFA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19450"/>
            <a:ext cx="5095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共享信息融合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 组输入 → 统一状态表示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6E5F4-C0A4-402D-A015-17AA78D8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慢决策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模型放置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A4E08-BEDB-470C-8329-A42739FD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767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快决策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当前任务去向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5F547-0ACD-4133-AD10-B2FDEEED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238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交接决策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下一站准备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43596-A114-4463-B1A4-551864EB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0"/>
            <a:ext cx="2143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价值评估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长期收益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CEF8FA-9456-45A4-B418-1C658869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一套控制方法同时处理长期资源安排、即时执行和交接事件。</a:t>
            </a:r>
          </a:p>
        </p:txBody>
      </p:sp>
    </p:spTree>
    <p:extLst>
      <p:ext uri="{BB962C8B-B14F-4D97-AF65-F5344CB8AC3E}">
        <p14:creationId xmlns:p14="http://schemas.microsoft.com/office/powerpoint/2010/main" val="21132793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BF3CF-57F3-4900-8990-C4D88620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B3E27-8090-495C-AB67-E18357F0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7b17c09e34598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A2DDA-DA7B-4012-84DE-048FABE2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论文方法 · 训练目标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F4C30-D94E-40FB-BB77-B57186F3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奖励设计：鼓励服务推进，也计入资源与时延成本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CD577-81D8-47F1-8911-7A2FF556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84275-76B5-4B6B-B317-D99B7E2C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6D19D-60E1-4CAB-8D0F-F3F193E2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66925"/>
            <a:ext cx="10591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每步得分 = 基础项 + 服务推进 + 连续执行 + 探索收益 − 等待 − 模型缺失 − 交接成本 − 约束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47385-479D-4A26-9AF5-55FC6D16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70A85-DF55-4FEB-858B-7CBBA65F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49720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获得收益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完成当前步骤、交接后继续执行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4BCFA-24ED-4C8E-B2C5-8A8FBD38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33775"/>
            <a:ext cx="49720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计入成本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等待时间、模型缺失与资源约束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C6695-45F3-4BC3-AF20-B4190A9F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458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最终评价仍看整条任务链完成情况、时延和实际传输数据量。</a:t>
            </a:r>
          </a:p>
        </p:txBody>
      </p:sp>
    </p:spTree>
    <p:extLst>
      <p:ext uri="{BB962C8B-B14F-4D97-AF65-F5344CB8AC3E}">
        <p14:creationId xmlns:p14="http://schemas.microsoft.com/office/powerpoint/2010/main" val="5904843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81900" y="30956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33800" y="30956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C5BA8-985C-407F-A74D-23EB0BF2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52464-6CAF-49EA-8E8F-A6313416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b6d924a9d4e3e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1856E-CCAA-4A98-8B0E-562E73AE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实验设置 · 数据来源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07A7B-AA2C-4EF8-82FA-6D4BAA35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实验数据：用真实车辆轨迹和真实任务链驱动仿真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4F6E2-6D76-4654-9B39-75843EAF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4DFCC-1E7D-4147-BD3E-7387E59F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DC2BC-D6C1-4F35-8C37-10F2E11F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971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NGSIM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车辆位置、速度和移动轨迹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9DDFB-BC17-42FB-8092-02C6237A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62200"/>
            <a:ext cx="2971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Alibaba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任务链和步骤之间的依赖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08810-34EE-4172-9632-BB1DFD98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971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实验设定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每一步所需的模型与状态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DE0D9-5ECE-4A1A-896C-B7FBC89D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52950"/>
            <a:ext cx="1057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在可复现的移动场景中，观察任务链、资源和车辆交接如何相互影响。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11965-5810-4623-88D4-C6E2D27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数据来源分别公开；服务需求通过明确的实验映射构造。</a:t>
            </a:r>
          </a:p>
        </p:txBody>
      </p:sp>
    </p:spTree>
    <p:extLst>
      <p:ext uri="{BB962C8B-B14F-4D97-AF65-F5344CB8AC3E}">
        <p14:creationId xmlns:p14="http://schemas.microsoft.com/office/powerpoint/2010/main" val="16125785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0A4C1-1C34-4277-B7F5-DD9C6D25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CDD66-BBC4-4418-B961-08AF6B20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e0aa1d02c4cd8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22751-10BE-4DB0-A83A-A4950B54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实验设置 · 对照设计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C3EBD-80C5-4DD7-BEB0-961D6FC4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实验设计：先测机制，再比较决策方法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DF7F0-76B6-4AE9-81F3-84632305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69904-3AF2-406B-AF82-95A15247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A63B9-3995-4F24-A783-33586FD3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00250"/>
            <a:ext cx="500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资源共享 × 状态准备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4F694-B9F5-4714-9686-450571FD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81275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常规放置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按需执行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4DEEF-32D6-46B4-90AB-2A38E410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81275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共享模型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按需执行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8A98D-18B3-4D29-BC5F-428C4658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常规放置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提前准备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A726C-8D7A-4C87-9C43-979C7969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95725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共享模型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提前准备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B6903-B59B-48BB-AA5A-D9F59952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比较“由谁决定何时准备”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2AFD3-606E-4A0F-B84C-A0C37147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81275"/>
            <a:ext cx="493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固定规则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14E0C-9308-423E-B96A-0DD1DD15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86150"/>
            <a:ext cx="493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351C0-BD39-4408-A9DF-20E40D1B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493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多时间尺度策略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A1ED6-7701-4062-A49C-40D897DD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算法奖励对照已有冻结结果，见下一页；机制组合按相同指标继续评价。</a:t>
            </a:r>
          </a:p>
        </p:txBody>
      </p:sp>
    </p:spTree>
    <p:extLst>
      <p:ext uri="{BB962C8B-B14F-4D97-AF65-F5344CB8AC3E}">
        <p14:creationId xmlns:p14="http://schemas.microsoft.com/office/powerpoint/2010/main" val="18567005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663DC1-B4AC-4A69-AEFA-D2990F38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A0E78-C674-41F5-A609-7B5D2675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68df926574580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79DCB-7052-4640-8EDC-C17042CA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实验结果 · 奖励对比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75B39-E066-4AD4-81B1-91FAAD56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冻结评估：综合奖励在两组窗口均排名第一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9DDBA-67AA-42CE-89D5-499991F6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05671-4DCA-4CAD-B4D1-06A4B35B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FED0B-F475-46B9-9966-34987701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526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正式评估 · 20 个时间窗口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6362D-7CA6-4652-9E9E-218D83CF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90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5E5C8-FFB2-4E57-9F81-6BD763CA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428875"/>
            <a:ext cx="175502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EFF"/>
          </a:solidFill>
          <a:ln xmlns:a="http://schemas.openxmlformats.org/drawingml/2006/main" w="0">
            <a:solidFill>
              <a:srgbClr val="BDEE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AB153-5DC3-4FAF-A50D-71D7B718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907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26.43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ADD24-BE09-45BD-ADE0-AD30DEC8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575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缓存规则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DE088-B6E3-4B7C-AF56-4B451ACD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895600"/>
            <a:ext cx="1731919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D39CE-71D6-498B-826F-FFE5DAE3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575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26.08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56D553-5E70-4D00-87FF-0846051C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242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DQN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37F47-CD19-40E4-981D-4725F940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362325"/>
            <a:ext cx="143443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73B7C-2C2B-4ACE-A429-70D6A092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2422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21.60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47773E-3A66-4DC3-98D1-EC191A54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909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Dueling DQN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36413-61BC-469E-A337-5A971870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829050"/>
            <a:ext cx="1151492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A2E5D-DEF4-45C1-9E77-E788F214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9095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17.34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5E4882-EE32-4059-8F5F-8B0F9793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576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交接策略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15CBBB-FD2B-447C-AB65-397497EB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295775"/>
            <a:ext cx="74238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F59AA1-7215-4EA8-9DF3-579FD890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576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11.18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EED804-67C0-478D-95BC-AF275E77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244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F0CB07-C050-461D-9949-B6323873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762500"/>
            <a:ext cx="61641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588E9C-CDE0-44D8-9EEE-10CB7E1C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244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9.28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ED9A7E-3B3E-416C-B5CE-969DB789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482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较最佳对照 +0.35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A51DC8-E428-4E2E-BDC9-AA701192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57212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95% 区间：+0.16 至 +0.60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50288D-11A2-4C03-BE2A-C3186DBF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后续独立验证 · 15 个时间窗口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8FE8EF-1E4A-4985-95FB-3414EBD1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907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本方法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33D399-7032-43A7-BABE-D608094E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28875"/>
            <a:ext cx="221400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EFF"/>
          </a:solidFill>
          <a:ln xmlns:a="http://schemas.openxmlformats.org/drawingml/2006/main" w="0">
            <a:solidFill>
              <a:srgbClr val="BDEE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D668AC-FC69-40C3-8687-B4703B82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3907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33.34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41FF2C-C9CE-453C-AB89-A364852A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缓存规则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37A0EE-4164-455B-A6BF-CF674AA4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95600"/>
            <a:ext cx="194892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FCE222-E47D-4DB8-AE31-82187F23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8575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29.35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596443-0D80-49E5-8FF4-7BD6E0C1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2422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DQN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66E0A5-EE19-4E81-9E61-352F701E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62325"/>
            <a:ext cx="16093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F35C71-D99C-4700-8390-456D0C5F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32422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24.24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5B9580-FAF2-483F-AE4C-D5380C5B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Dueling DQN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E29140-975B-4D47-8981-B8CCEA4A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1272212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E61143-739D-4004-80B1-C3D1FDD0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79095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19.16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5C4B75-11CF-4571-A94C-414E4AA1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576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交接策略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80F7AC-B20D-4DEA-BD12-FC835335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95775"/>
            <a:ext cx="665821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8E02D1-F0B9-48F3-BA90-AC6046AF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2576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10.03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C52871-4019-4911-8175-43227A1B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244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PPO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979CDD-E2F3-402F-A50B-F9E82104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62500"/>
            <a:ext cx="60884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722B0E-830F-4E55-92F0-027AF4AF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7244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9.17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ED33D0-E315-46D1-BE86-E9CC236C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4827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较最佳对照 +3.99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AC7A23-9A25-4A80-A1F2-81FF9FE4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7212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95% 区间：+2.08 至 +8.29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9E0D22-D671-4612-89E5-ED3AE7EE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图示主要对照；原始比较共 11 种方法。本页是既有冻结算法版本的奖励结果。</a:t>
            </a:r>
          </a:p>
        </p:txBody>
      </p:sp>
    </p:spTree>
    <p:extLst>
      <p:ext uri="{BB962C8B-B14F-4D97-AF65-F5344CB8AC3E}">
        <p14:creationId xmlns:p14="http://schemas.microsoft.com/office/powerpoint/2010/main" val="1431777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30B300-BA3C-4DD6-8F2E-95591750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08F6F-1D9B-4103-B111-AB41D3C5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65295d4854a4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AD3DF-8C69-48D0-BDFE-2EAFCD91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机制演示 · 资源复用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A9678-15EC-408F-99A7-88CFA2C6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模型共享示例：连续复用时搬运量更少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98254-3B96-4DF4-B7CD-47236AFC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54E83-4699-41E8-944E-B6142811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B7FDD-43D2-408E-B219-A319608B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907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四种配置均完成 72 / 72 次请求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75EF0-050A-4CCD-ABCE-FF4606E1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8127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相同模型连续使用 · 共享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57DF9-192A-4F77-B679-01894C00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2338917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EFF"/>
          </a:solidFill>
          <a:ln xmlns:a="http://schemas.openxmlformats.org/drawingml/2006/main" w="0">
            <a:solidFill>
              <a:srgbClr val="BDEE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B9AAF-3157-4971-BDD8-077A9915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81275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3,264 MiB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1B7A6-709A-40F0-956D-17457215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交替使用不同模型 · 共享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7A7B5-0EEB-4718-9A15-4A00FA92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C40C6-CE76-426F-95AE-CE0A858B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3337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8,640 MiB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45A0B-8CE3-4805-8ECA-75A486FA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862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相同模型连续使用 · 不共享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62FC3-402F-4B9F-96BB-4E31CFA9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3385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77174-0862-4B01-ACDF-2494E9EC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086225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8,640 MiB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48FDA-1D30-4FF8-A21B-4A64BC37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387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交替使用不同模型 · 不共享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3CB44-D1E1-4C1E-9C9B-5123BE81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8632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8AC541-F3B1-4D6B-9B6C-1443426F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387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8,640 MiB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0F0B0-EADD-4C00-A9FF-FADC911F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该示例说明：只有后续请求真正复用同一共享部分，资源账本才体现节省。</a:t>
            </a:r>
          </a:p>
        </p:txBody>
      </p:sp>
    </p:spTree>
    <p:extLst>
      <p:ext uri="{BB962C8B-B14F-4D97-AF65-F5344CB8AC3E}">
        <p14:creationId xmlns:p14="http://schemas.microsoft.com/office/powerpoint/2010/main" val="1899153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29500" y="2976563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52825" y="2976563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BBF6D-DE08-45D2-BF09-817F4E61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BF557-F10F-49B2-8C72-931E442A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927f4c68c405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8E2C1-97CE-48C1-B018-FB93A587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机制演示 · 连续执行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BEC1C-F848-4BB2-B9B3-655ED2F2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状态接续示例：保存进度后，只执行剩余步骤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6C342-2F30-41DE-A606-D7430C17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070B0-2E99-4029-8D88-17C0C1EA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B37F4-645F-4893-B391-76AE4330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1725"/>
            <a:ext cx="27527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完成第一步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保存执行进度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2E540-3501-4B2A-82DD-0296EC16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71725"/>
            <a:ext cx="27527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状态包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2,040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26CC1-4D20-44D0-9620-E83B940F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71725"/>
            <a:ext cx="27527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恢复进度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运行后续步骤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D0329-A84D-44A9-96E2-DE773154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4895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从头运行：32.504 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BACE1-9D6F-4927-B561-1C81476E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19600"/>
            <a:ext cx="4895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接续执行：21.370 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B81C8-4430-4D1F-8DED-0FF15B35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同机两步样例中，后续步骤输入与输出一致；时间减少 11.134 秒。</a:t>
            </a:r>
          </a:p>
        </p:txBody>
      </p:sp>
    </p:spTree>
    <p:extLst>
      <p:ext uri="{BB962C8B-B14F-4D97-AF65-F5344CB8AC3E}">
        <p14:creationId xmlns:p14="http://schemas.microsoft.com/office/powerpoint/2010/main" val="7440469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993D8-B2C8-4243-B609-0B236355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0CDB8-A289-4704-B42D-A4701F8D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01f8d95e34beb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1DF22-BCDB-47A4-90CC-5CF6AEC4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研究总结 · 四个要点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D0F3C-CF76-404F-94A0-DCE34746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总结：把移动交接从“换位置”变成“接着做”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3B902-083F-4CC2-932F-D58BFE09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A7ABA-FB56-4DC7-AC54-355D9EB3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A8B39-8992-4AEC-897C-EFA4C1A1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09775"/>
            <a:ext cx="2419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3BE38-5EAF-42BC-A737-027CA486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47875"/>
            <a:ext cx="773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关注完整任务链跨路侧站的连续完成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2DC77-0469-4358-9523-8429FB63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86075"/>
            <a:ext cx="2419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2E0D5-7F9F-4C0E-856F-7390BEDF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24175"/>
            <a:ext cx="773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共同考虑模型复用、执行状态和车辆交接时机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68FA2-1EFA-4C9E-AFDE-1B722956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62375"/>
            <a:ext cx="2419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奖励结果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BCCC1-7ECE-4E1D-AAF4-26C87DA4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00475"/>
            <a:ext cx="773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既有冻结算法评估中，两组窗口的综合奖励均居首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9C2AE-7690-4518-973C-65AC99E0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38675"/>
            <a:ext cx="24193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机制演示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5639A-8B32-4493-8527-4E19D104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76775"/>
            <a:ext cx="773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资源账本展示共享复用；两步实例展示状态接续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66018-4A2E-4939-8266-0A6BDC07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奖励对照与机制演示有各自的实验设置，均在对应页标注。</a:t>
            </a:r>
          </a:p>
        </p:txBody>
      </p:sp>
    </p:spTree>
    <p:extLst>
      <p:ext uri="{BB962C8B-B14F-4D97-AF65-F5344CB8AC3E}">
        <p14:creationId xmlns:p14="http://schemas.microsoft.com/office/powerpoint/2010/main" val="5043843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1EA80F-5FED-4D09-8DCA-0F7A83D7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AA674-7B8C-4D86-BB3C-3079FA30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c495131c446ed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7D0D3-A173-4464-B92C-8B63B9FD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参考文献 · 论文来源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C52C7-65C1-4BB7-8859-89827ADC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主要参考文献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BF01D-2C38-43FA-BACF-7336BABC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14ECC-D6CC-4461-8FE1-5C04D8CA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BB510-EA56-4993-A403-E39B03F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移动边缘与任务调度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45996-CE45-49BA-989A-3D3E3047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00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模型服务与方法基础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42F67-1B5E-4FBE-A2ED-2476F777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COHCTO · TMC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3566E-2918-4151-BC6F-866E2D64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LDMCO · TMC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94F6A-984F-438E-8E39-861193BF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38525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Ly-COMA · IET 2025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2A9A3-8FA2-4F6F-9303-2D218014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Fan 等 · TVT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483FE-B933-44BB-AA00-3AC044FF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MCMA · TMC 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8E2DF-44CC-494A-8867-168FDE8C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MATM · TVT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F1760-21E7-437F-91C5-45C6B6B2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29225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AWTO · FGCS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D930A-9DD4-46FA-BFD7-C057557E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431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POLAR · arXiv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83E76-CFE3-4F62-ABFE-78A0DDD4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384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SLoRA · MLSys 2024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4F396-49E8-4FFB-8D04-A3F3F8FD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337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Punica · MLSys 2024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D5A2B-D01B-4D4C-8227-3A626B12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290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WfCommons · FGCS 2022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7DE0A-B006-4313-8AB8-C4293A20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5243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RUDDER · NeurIPS 2019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DC3B6-F292-46C5-93AE-AEDC65D6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19675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MAPPO · NeurIPS 2022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5832D-A7E7-4F57-83A9-2A3977A6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逐篇研究内容与本文对应问题见第 4—7 页。</a:t>
            </a:r>
          </a:p>
        </p:txBody>
      </p:sp>
    </p:spTree>
    <p:extLst>
      <p:ext uri="{BB962C8B-B14F-4D97-AF65-F5344CB8AC3E}">
        <p14:creationId xmlns:p14="http://schemas.microsoft.com/office/powerpoint/2010/main" val="1245952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2026-10-11T05:50:20.8650000Z</dcterms:created>
  <dcterms:modified xsi:type="dcterms:W3CDTF">2026-10-11T05:50:20.8650000Z</dcterms:modified>
</coreProperties>
</file>