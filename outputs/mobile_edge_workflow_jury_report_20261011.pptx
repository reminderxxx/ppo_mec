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b9e59ddb5e54017" /><Relationship Type="http://schemas.openxmlformats.org/officeDocument/2006/relationships/extended-properties" Target="/docProps/app.xml" Id="Rb8099554d3674016" /><Relationship Type="http://schemas.openxmlformats.org/officeDocument/2006/relationships/officeDocument" Target="/ppt/presentation.xml" Id="Rb2571c5b74a44a9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2318efd455d4e41"/>
  </p:sldMasterIdLst>
  <p:notesMasterIdLst>
    <p:notesMasterId xmlns:r="http://schemas.openxmlformats.org/officeDocument/2006/relationships" r:id="R48fd87c437f94589"/>
  </p:notesMasterIdLst>
  <p:sldIdLst>
    <p:sldId xmlns:r="http://schemas.openxmlformats.org/officeDocument/2006/relationships" id="256" r:id="Rb4b904c662f245a5"/>
    <p:sldId xmlns:r="http://schemas.openxmlformats.org/officeDocument/2006/relationships" id="257" r:id="R73980d2892384666"/>
    <p:sldId xmlns:r="http://schemas.openxmlformats.org/officeDocument/2006/relationships" id="258" r:id="R766cfe9b50b94345"/>
    <p:sldId xmlns:r="http://schemas.openxmlformats.org/officeDocument/2006/relationships" id="259" r:id="R884ab45326e54f50"/>
    <p:sldId xmlns:r="http://schemas.openxmlformats.org/officeDocument/2006/relationships" id="260" r:id="Re4db5d133df64bab"/>
    <p:sldId xmlns:r="http://schemas.openxmlformats.org/officeDocument/2006/relationships" id="261" r:id="R0b43ef19b87e47a0"/>
    <p:sldId xmlns:r="http://schemas.openxmlformats.org/officeDocument/2006/relationships" id="262" r:id="Rac9926514b9a4edf"/>
    <p:sldId xmlns:r="http://schemas.openxmlformats.org/officeDocument/2006/relationships" id="263" r:id="R17beb00b54e645e6"/>
    <p:sldId xmlns:r="http://schemas.openxmlformats.org/officeDocument/2006/relationships" id="264" r:id="R72a632371aa045d9"/>
    <p:sldId xmlns:r="http://schemas.openxmlformats.org/officeDocument/2006/relationships" id="265" r:id="R1b661ea74e5e4307"/>
    <p:sldId xmlns:r="http://schemas.openxmlformats.org/officeDocument/2006/relationships" id="266" r:id="Rd5d996144f7842a9"/>
    <p:sldId xmlns:r="http://schemas.openxmlformats.org/officeDocument/2006/relationships" id="267" r:id="Rf0a702cd47fa4a9b"/>
    <p:sldId xmlns:r="http://schemas.openxmlformats.org/officeDocument/2006/relationships" id="268" r:id="R4ef531fe609f48c3"/>
    <p:sldId xmlns:r="http://schemas.openxmlformats.org/officeDocument/2006/relationships" id="269" r:id="Rf159bde678e94336"/>
    <p:sldId xmlns:r="http://schemas.openxmlformats.org/officeDocument/2006/relationships" id="270" r:id="R74e2281e9a7b47a1"/>
    <p:sldId xmlns:r="http://schemas.openxmlformats.org/officeDocument/2006/relationships" id="271" r:id="R080db3fe2cc440ec"/>
    <p:sldId xmlns:r="http://schemas.openxmlformats.org/officeDocument/2006/relationships" id="272" r:id="R554c699b8e534396"/>
    <p:sldId xmlns:r="http://schemas.openxmlformats.org/officeDocument/2006/relationships" id="273" r:id="Ra5fd5e05992f4264"/>
    <p:sldId xmlns:r="http://schemas.openxmlformats.org/officeDocument/2006/relationships" id="274" r:id="R2dc77ac1ea6d4036"/>
    <p:sldId xmlns:r="http://schemas.openxmlformats.org/officeDocument/2006/relationships" id="275" r:id="R07fdf51671de4bf1"/>
    <p:sldId xmlns:r="http://schemas.openxmlformats.org/officeDocument/2006/relationships" id="276" r:id="Re036259febd44faa"/>
    <p:sldId xmlns:r="http://schemas.openxmlformats.org/officeDocument/2006/relationships" id="277" r:id="R024b9a8bf25b4ccd"/>
    <p:sldId xmlns:r="http://schemas.openxmlformats.org/officeDocument/2006/relationships" id="278" r:id="Rd596ede2ff6c4ec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cea0f061dae4ae3" /><Relationship Type="http://schemas.openxmlformats.org/officeDocument/2006/relationships/slideMaster" Target="/ppt/slideMasters/slideMaster1.xml" Id="R42318efd455d4e41" /><Relationship Type="http://schemas.openxmlformats.org/officeDocument/2006/relationships/notesMaster" Target="/ppt/notesMasters/notesMaster1.xml" Id="R48fd87c437f94589" /><Relationship Type="http://schemas.openxmlformats.org/officeDocument/2006/relationships/presProps" Target="/ppt/presProps.xml" Id="R3209ab7a96724709" /><Relationship Type="http://schemas.openxmlformats.org/officeDocument/2006/relationships/tableStyles" Target="/ppt/tableStyles.xml" Id="R84a23d81d0f34a3b" /><Relationship Type="http://schemas.openxmlformats.org/officeDocument/2006/relationships/slide" Target="/ppt/slides/slide1.xml" Id="Rb4b904c662f245a5" /><Relationship Type="http://schemas.openxmlformats.org/officeDocument/2006/relationships/slide" Target="/ppt/slides/slide2.xml" Id="R73980d2892384666" /><Relationship Type="http://schemas.openxmlformats.org/officeDocument/2006/relationships/slide" Target="/ppt/slides/slide3.xml" Id="R766cfe9b50b94345" /><Relationship Type="http://schemas.openxmlformats.org/officeDocument/2006/relationships/slide" Target="/ppt/slides/slide4.xml" Id="R884ab45326e54f50" /><Relationship Type="http://schemas.openxmlformats.org/officeDocument/2006/relationships/slide" Target="/ppt/slides/slide5.xml" Id="Re4db5d133df64bab" /><Relationship Type="http://schemas.openxmlformats.org/officeDocument/2006/relationships/slide" Target="/ppt/slides/slide6.xml" Id="R0b43ef19b87e47a0" /><Relationship Type="http://schemas.openxmlformats.org/officeDocument/2006/relationships/slide" Target="/ppt/slides/slide7.xml" Id="Rac9926514b9a4edf" /><Relationship Type="http://schemas.openxmlformats.org/officeDocument/2006/relationships/slide" Target="/ppt/slides/slide8.xml" Id="R17beb00b54e645e6" /><Relationship Type="http://schemas.openxmlformats.org/officeDocument/2006/relationships/slide" Target="/ppt/slides/slide9.xml" Id="R72a632371aa045d9" /><Relationship Type="http://schemas.openxmlformats.org/officeDocument/2006/relationships/slide" Target="/ppt/slides/slide10.xml" Id="R1b661ea74e5e4307" /><Relationship Type="http://schemas.openxmlformats.org/officeDocument/2006/relationships/slide" Target="/ppt/slides/slide11.xml" Id="Rd5d996144f7842a9" /><Relationship Type="http://schemas.openxmlformats.org/officeDocument/2006/relationships/slide" Target="/ppt/slides/slide12.xml" Id="Rf0a702cd47fa4a9b" /><Relationship Type="http://schemas.openxmlformats.org/officeDocument/2006/relationships/slide" Target="/ppt/slides/slide13.xml" Id="R4ef531fe609f48c3" /><Relationship Type="http://schemas.openxmlformats.org/officeDocument/2006/relationships/slide" Target="/ppt/slides/slide14.xml" Id="Rf159bde678e94336" /><Relationship Type="http://schemas.openxmlformats.org/officeDocument/2006/relationships/slide" Target="/ppt/slides/slide15.xml" Id="R74e2281e9a7b47a1" /><Relationship Type="http://schemas.openxmlformats.org/officeDocument/2006/relationships/slide" Target="/ppt/slides/slide16.xml" Id="R080db3fe2cc440ec" /><Relationship Type="http://schemas.openxmlformats.org/officeDocument/2006/relationships/slide" Target="/ppt/slides/slide17.xml" Id="R554c699b8e534396" /><Relationship Type="http://schemas.openxmlformats.org/officeDocument/2006/relationships/slide" Target="/ppt/slides/slide18.xml" Id="Ra5fd5e05992f4264" /><Relationship Type="http://schemas.openxmlformats.org/officeDocument/2006/relationships/slide" Target="/ppt/slides/slide19.xml" Id="R2dc77ac1ea6d4036" /><Relationship Type="http://schemas.openxmlformats.org/officeDocument/2006/relationships/slide" Target="/ppt/slides/slide20.xml" Id="R07fdf51671de4bf1" /><Relationship Type="http://schemas.openxmlformats.org/officeDocument/2006/relationships/slide" Target="/ppt/slides/slide21.xml" Id="Re036259febd44faa" /><Relationship Type="http://schemas.openxmlformats.org/officeDocument/2006/relationships/slide" Target="/ppt/slides/slide22.xml" Id="R024b9a8bf25b4ccd" /><Relationship Type="http://schemas.openxmlformats.org/officeDocument/2006/relationships/slide" Target="/ppt/slides/slide23.xml" Id="Rd596ede2ff6c4ec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ff7cfcfa2644fc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684a20bd5ed4037" /><Relationship Type="http://schemas.openxmlformats.org/officeDocument/2006/relationships/notesMaster" Target="/ppt/notesMasters/notesMaster1.xml" Id="R7d77486a47f8427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872cb0f3f3d47c8" /><Relationship Type="http://schemas.openxmlformats.org/officeDocument/2006/relationships/notesMaster" Target="/ppt/notesMasters/notesMaster1.xml" Id="Re1459661be07426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4f7697f5a0b4b81" /><Relationship Type="http://schemas.openxmlformats.org/officeDocument/2006/relationships/notesMaster" Target="/ppt/notesMasters/notesMaster1.xml" Id="Rc2b46b71272249c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f380bd5bf0149fc" /><Relationship Type="http://schemas.openxmlformats.org/officeDocument/2006/relationships/notesMaster" Target="/ppt/notesMasters/notesMaster1.xml" Id="R7f653af96be8425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2b3506465b342cb" /><Relationship Type="http://schemas.openxmlformats.org/officeDocument/2006/relationships/notesMaster" Target="/ppt/notesMasters/notesMaster1.xml" Id="R6923a807619a4de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46a881957654b8e" /><Relationship Type="http://schemas.openxmlformats.org/officeDocument/2006/relationships/notesMaster" Target="/ppt/notesMasters/notesMaster1.xml" Id="R4c571500654948b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596e2d86cd849a3" /><Relationship Type="http://schemas.openxmlformats.org/officeDocument/2006/relationships/notesMaster" Target="/ppt/notesMasters/notesMaster1.xml" Id="R1869f6ecb6a14f1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4c02d840f0c4f85" /><Relationship Type="http://schemas.openxmlformats.org/officeDocument/2006/relationships/notesMaster" Target="/ppt/notesMasters/notesMaster1.xml" Id="R192784879819421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c8cf59f22d54ba8" /><Relationship Type="http://schemas.openxmlformats.org/officeDocument/2006/relationships/notesMaster" Target="/ppt/notesMasters/notesMaster1.xml" Id="R99d2b6ee37c44ce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9c7043237b74b0b" /><Relationship Type="http://schemas.openxmlformats.org/officeDocument/2006/relationships/notesMaster" Target="/ppt/notesMasters/notesMaster1.xml" Id="R754c32b1ee04473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8c6c20c8d2647fb" /><Relationship Type="http://schemas.openxmlformats.org/officeDocument/2006/relationships/notesMaster" Target="/ppt/notesMasters/notesMaster1.xml" Id="Rbf9200c40716456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04b4b20c9024dbc" /><Relationship Type="http://schemas.openxmlformats.org/officeDocument/2006/relationships/notesMaster" Target="/ppt/notesMasters/notesMaster1.xml" Id="R184019c31cf9443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d4d022023c649cc" /><Relationship Type="http://schemas.openxmlformats.org/officeDocument/2006/relationships/notesMaster" Target="/ppt/notesMasters/notesMaster1.xml" Id="R3b9ffe5047eb452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a71e492f91b4a21" /><Relationship Type="http://schemas.openxmlformats.org/officeDocument/2006/relationships/notesMaster" Target="/ppt/notesMasters/notesMaster1.xml" Id="Re36e05b675734a8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8df63d0f7684c2b" /><Relationship Type="http://schemas.openxmlformats.org/officeDocument/2006/relationships/notesMaster" Target="/ppt/notesMasters/notesMaster1.xml" Id="Rd411e3cf58f5459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ecaab4ea5d64537" /><Relationship Type="http://schemas.openxmlformats.org/officeDocument/2006/relationships/notesMaster" Target="/ppt/notesMasters/notesMaster1.xml" Id="R181a4abdbbc84e1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cc4ad141ed24864" /><Relationship Type="http://schemas.openxmlformats.org/officeDocument/2006/relationships/notesMaster" Target="/ppt/notesMasters/notesMaster1.xml" Id="R2fa1964f69df402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a2b82daba6948d0" /><Relationship Type="http://schemas.openxmlformats.org/officeDocument/2006/relationships/notesMaster" Target="/ppt/notesMasters/notesMaster1.xml" Id="Rc37bdaa6a5a643e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39960277cf541cb" /><Relationship Type="http://schemas.openxmlformats.org/officeDocument/2006/relationships/notesMaster" Target="/ppt/notesMasters/notesMaster1.xml" Id="Rf74486026dce4f9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094ac045fd942ed" /><Relationship Type="http://schemas.openxmlformats.org/officeDocument/2006/relationships/notesMaster" Target="/ppt/notesMasters/notesMaster1.xml" Id="R23a96298adaf484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451c8418e784275" /><Relationship Type="http://schemas.openxmlformats.org/officeDocument/2006/relationships/notesMaster" Target="/ppt/notesMasters/notesMaster1.xml" Id="Rcf1a6e84cef4414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87284007d5f457f" /><Relationship Type="http://schemas.openxmlformats.org/officeDocument/2006/relationships/notesMaster" Target="/ppt/notesMasters/notesMaster1.xml" Id="Re10803964980403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ee59547ad324eda" /><Relationship Type="http://schemas.openxmlformats.org/officeDocument/2006/relationships/notesMaster" Target="/ppt/notesMasters/notesMaster1.xml" Id="R82187a2eb6a5423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 页｜让移动中的连续服务在路侧边缘稳定接续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依据：docs/project/system_mechanism_manuscript_working_draft.md；文献截点 2026-10-11。此稿用于研究汇报。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2 页｜先看一个问题：车开过路口，服务怎样接着做？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论文工作稿第 1 节。RSU 指路侧边缘服务器；任务链具有前后依赖。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3 页｜要“接着做”，下一站需要三样东西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三项分别对应 DAG predecessor result、兼容模型与可恢复的执行状态。缓存命中不等同于整体完成。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4 页｜相关工作：任务依赖与移动迁移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P1 COHCTO · TMC 2025：https://doi.org/10.1109/TMC.2025.3573379</a:t>
            </a:r>
          </a:p>
          <a:p xmlns:a="http://schemas.openxmlformats.org/drawingml/2006/main">
            <a:r>
              <a:t>P2 LDMCO · TMC 2026：https://doi.org/10.1109/TMC.2025.3646450</a:t>
            </a:r>
          </a:p>
          <a:p xmlns:a="http://schemas.openxmlformats.org/drawingml/2006/main">
            <a:r>
              <a:t>P3 Ly-COMA · IET 2025：https://doi.org/10.1049/itr2.70083</a:t>
            </a:r>
          </a:p>
          <a:p xmlns:a="http://schemas.openxmlformats.org/drawingml/2006/main">
            <a:r>
              <a:t>P4 Fan 等 · TVT 2024：https://doi.org/10.1109/TVT.2023.3310520</a:t>
            </a:r>
          </a:p>
          <a:p xmlns:a="http://schemas.openxmlformats.org/drawingml/2006/main">
            <a:r>
              <a:t>P5 MCMA · TMC 2025：https://doi.org/10.1109/TMC.2025.3539945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5 页｜相关工作：预测、模型缓存与移动服务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P6 MATM · TVT 2026：https://doi.org/10.1109/TVT.2026.3660321</a:t>
            </a:r>
          </a:p>
          <a:p xmlns:a="http://schemas.openxmlformats.org/drawingml/2006/main">
            <a:r>
              <a:t>P7 AWTO · FGCS 2026：https://doi.org/10.1016/j.future.2026.108415</a:t>
            </a:r>
          </a:p>
          <a:p xmlns:a="http://schemas.openxmlformats.org/drawingml/2006/main">
            <a:r>
              <a:t>P8 POLAR · arXiv 2026：https://arxiv.org/abs/2604.16583</a:t>
            </a:r>
          </a:p>
          <a:p xmlns:a="http://schemas.openxmlformats.org/drawingml/2006/main">
            <a:r>
              <a:t>P9 SLoRA · MLSys 2024：https://proceedings.mlsys.org/paper_files/paper/2024/hash/906419cd502575b617cc489a1a696a67-Abstract-Conference.html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6 页｜相关工作：模型服务与方法基础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P10 Punica · MLSys 2024：https://proceedings.mlsys.org/paper_files/paper/2024/hash/054de805fcceb78a201f5e9d53c85908-Abstract-Conference.html</a:t>
            </a:r>
          </a:p>
          <a:p xmlns:a="http://schemas.openxmlformats.org/drawingml/2006/main">
            <a:r>
              <a:t>P11 WfCommons · FGCS 2022：https://doi.org/10.1016/j.future.2021.09.043</a:t>
            </a:r>
          </a:p>
          <a:p xmlns:a="http://schemas.openxmlformats.org/drawingml/2006/main">
            <a:r>
              <a:t>P12 RUDDER · NeurIPS 2019：https://papers.neurips.cc/paper_files/paper/2019/hash/16105fb9cc614fc29e1bda00dab60d41-Abstract.html</a:t>
            </a:r>
          </a:p>
          <a:p xmlns:a="http://schemas.openxmlformats.org/drawingml/2006/main">
            <a:r>
              <a:t>P13 MAPPO · NeurIPS 2022：https://arxiv.org/abs/2103.01955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7 页｜横向对比：我们的研究把五个问题连在一起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●=论文公开研究直接涉及；◐=相邻或部分；—=非核心。本研究一行表示研究问题的覆盖范围，不表示每项效果已由正式实验确认。出处见前 3 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8 页｜我们的工作：把“准备什么、何时准备、在哪里准备”统一考虑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依据论文工作稿的系统模型与方法设计。此页描述研究框架，不作为优越性结论。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9 页｜研究问题：怎样让准备工作真正帮助任务完成？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论文工作稿第 1 节。三问分别对应共享复用、交接准备和控制方法；问题是待检验命题。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10 页｜方法直觉：先看下一步，再准备下一站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依据论文第 3 节：依赖前沿、目标站资源账本、增量准备、交接后继续。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11 页｜什么时候提前准备？看三个可观测因素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概念性决策因素：handoff timing、目标端现有资源、增量字节与容量。此页不是实验结果。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12 页｜系统结构：数据、路侧环境与控制方法形成闭环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按 docs/project/advisor_report_briefing_20260621.md 的系统 Mermaid 图和论文工作稿重绘。NGSIM 与 Alibaba 分别提供轨迹和工作流。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13 页｜资源模型：共享部分只搬一次，专用部分按需补齐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论文第 3 节。base、adapter、workflow state 为不同对象；增量成本按目标站尚未驻留的唯一对象计。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14 页｜控制方法有五种实际选择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对应当前环境的五类 semantic actions。页面采用面向报告的语义名称，不展示代码编号。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15 页｜算法结构：同一份信息，支持三个时间尺度的决策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按 docs/project/advisor_report_briefing_20260621.md 与论文第 4 节重绘：7 个 64 维输入块，经 448→128→64 融合，输出 slow/fast/event decisions 和价值估计。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16 页｜奖励设计：鼓励服务推进，也计入资源与时延成本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src/envs/core/vec_workflow_core_env.py:416-577。展示 RewardBreakdown 的简化分组。真实传输字节未直接从 reward 中扣除，应在系统评价中另报。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17 页｜实验数据：用真实车辆轨迹和真实任务链驱动仿真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论文第 5.1 节。NGSIM 提供 mobility trace；Alibaba 提供 workflow DAG。二者并非同一现场联合观测；服务所需模型按实验设定映射。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18 页｜实验设计：先测机制，再比较决策方法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论文第 5.2/5.3 节。左侧四种机制组合是确认性实验设计，并非当前已完成的正式比较结果。右侧算法比较需使用一致观测、动作和训练预算。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19 页｜冻结评估：综合奖励在两组窗口均排名第一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reviewed_at: 2026-10-11；literature_cutoff: 2026-10-11；target_venue: IEEE TMC；policy_version: tmc_review_policy_v3_20260621；git_commit_at_review: d3e2bae；evidence_level: E2_ARTIFACT_AUDITED（既有冻结算法版本）。</a:t>
            </a:r>
          </a:p>
          <a:p xmlns:a="http://schemas.openxmlformats.org/drawingml/2006/main">
            <a:r>
              <a:t>正式 run: top_journal_v100_urgency_safe_resource_full_20260808/benchmarks/formal_full_stratified/main_results_full_stratified_20260808_183339_526215；原始 benchmark_rows.csv 共 1320 行，11 方法×20 原始窗口×2 工作流×3 seed；配对统计: artifacts/experiments/top_journal_v100_urgency_safe_resource_full_20260808/statistics/formal_full_stratified/paired_statistics.json。</a:t>
            </a:r>
          </a:p>
          <a:p xmlns:a="http://schemas.openxmlformats.org/drawingml/2006/main">
            <a:r>
              <a:t>后续独立 run: top_journal_v100_future_validation_v20_20260809/main_results_full_stratified_20260809_041440_446507；原始 benchmark_rows.csv 共 990 行，11 方法×15 原始窗口×2 工作流×3 seed；配对统计: artifacts/experiments/top_journal_v100_future_validation_v20_20260809/statistics/paired_statistics.json。</a:t>
            </a:r>
          </a:p>
          <a:p xmlns:a="http://schemas.openxmlformats.org/drawingml/2006/main">
            <a:r>
              <a:t>对最强对照“受欢迎程度缓存规则”，正式奖励差 +0.3475，window-outer BCa 95% CI [0.1550,0.60082]；后续独立奖励差 +3.9920，CI [2.077111,8.290975]。两批实验均 reward_positive_offset=0，环境奖励定义一致。页面图示 6 种方法；原始表中共 11 种方法，所提版本在两批均第一。此历史算法线与 2026-09 系统机制工作稿的开发矩阵分开，不合并为同一投稿主表，也不据此声称所有系统指标领先。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20 页｜模型共享示例：连续复用时搬运量更少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来源：artifacts/analysis/mechanism_evidence_closure_20261005_v1/。四种配置均完成72/72请求。数字是机制级资源账本，非实际无线链路吞吐。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21 页｜状态接续示例：保存进度后，只执行剩余步骤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来源：artifacts/analysis/two_node_workflow_reexecution_comparison_20261005_v1/。两节点、同机、单次技术样例；状态包 2,040 B，输出与从头运行一致。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22 页｜总结：把移动交接从“换位置”变成“接着做”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研究框架、既有冻结算法奖励对照与机制示例分别陈述。正式跨 RSU 端到端机制效果仍以相应独立实验为准。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23 页｜主要参考文献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文献截点：2026-10-11。完整 DOI/URL：</a:t>
            </a:r>
          </a:p>
          <a:p xmlns:a="http://schemas.openxmlformats.org/drawingml/2006/main">
            <a:r>
              <a:t>P1 COHCTO · TMC 2025：https://doi.org/10.1109/TMC.2025.3573379</a:t>
            </a:r>
          </a:p>
          <a:p xmlns:a="http://schemas.openxmlformats.org/drawingml/2006/main">
            <a:r>
              <a:t>P2 LDMCO · TMC 2026：https://doi.org/10.1109/TMC.2025.3646450</a:t>
            </a:r>
          </a:p>
          <a:p xmlns:a="http://schemas.openxmlformats.org/drawingml/2006/main">
            <a:r>
              <a:t>P3 Ly-COMA · IET 2025：https://doi.org/10.1049/itr2.70083</a:t>
            </a:r>
          </a:p>
          <a:p xmlns:a="http://schemas.openxmlformats.org/drawingml/2006/main">
            <a:r>
              <a:t>P4 Fan 等 · TVT 2024：https://doi.org/10.1109/TVT.2023.3310520</a:t>
            </a:r>
          </a:p>
          <a:p xmlns:a="http://schemas.openxmlformats.org/drawingml/2006/main">
            <a:r>
              <a:t>P5 MCMA · TMC 2025：https://doi.org/10.1109/TMC.2025.3539945</a:t>
            </a:r>
          </a:p>
          <a:p xmlns:a="http://schemas.openxmlformats.org/drawingml/2006/main">
            <a:r>
              <a:t>P6 MATM · TVT 2026：https://doi.org/10.1109/TVT.2026.3660321</a:t>
            </a:r>
          </a:p>
          <a:p xmlns:a="http://schemas.openxmlformats.org/drawingml/2006/main">
            <a:r>
              <a:t>P7 AWTO · FGCS 2026：https://doi.org/10.1016/j.future.2026.108415</a:t>
            </a:r>
          </a:p>
          <a:p xmlns:a="http://schemas.openxmlformats.org/drawingml/2006/main">
            <a:r>
              <a:t>P8 POLAR · arXiv 2026：https://arxiv.org/abs/2604.16583</a:t>
            </a:r>
          </a:p>
          <a:p xmlns:a="http://schemas.openxmlformats.org/drawingml/2006/main">
            <a:r>
              <a:t>P9 SLoRA · MLSys 2024：https://proceedings.mlsys.org/paper_files/paper/2024/hash/906419cd502575b617cc489a1a696a67-Abstract-Conference.html</a:t>
            </a:r>
          </a:p>
          <a:p xmlns:a="http://schemas.openxmlformats.org/drawingml/2006/main">
            <a:r>
              <a:t>P10 Punica · MLSys 2024：https://proceedings.mlsys.org/paper_files/paper/2024/hash/054de805fcceb78a201f5e9d53c85908-Abstract-Conference.html</a:t>
            </a:r>
          </a:p>
          <a:p xmlns:a="http://schemas.openxmlformats.org/drawingml/2006/main">
            <a:r>
              <a:t>P11 WfCommons · FGCS 2022：https://doi.org/10.1016/j.future.2021.09.043</a:t>
            </a:r>
          </a:p>
          <a:p xmlns:a="http://schemas.openxmlformats.org/drawingml/2006/main">
            <a:r>
              <a:t>P12 RUDDER · NeurIPS 2019：https://papers.neurips.cc/paper_files/paper/2019/hash/16105fb9cc614fc29e1bda00dab60d41-Abstract.html</a:t>
            </a:r>
          </a:p>
          <a:p xmlns:a="http://schemas.openxmlformats.org/drawingml/2006/main">
            <a:r>
              <a:t>P13 MAPPO · NeurIPS 2022：https://arxiv.org/abs/2103.01955</a:t>
            </a:r>
          </a:p>
          <a:p xmlns:a="http://schemas.openxmlformats.org/drawingml/2006/main">
            <a:r>
              <a:t>方法与数值来源：docs/project/system_mechanism_manuscript_working_draft.md；artifacts/analysis/mechanism_evidence_closure_20261005_v1/；artifacts/analysis/two_node_workflow_reexecution_comparison_20261005_v1/；artifacts/experiments/top_journal_v100_urgency_safe_resource_full_20260808/；artifacts/experiments/top_journal_v100_future_validation_v20_20260809/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a2d733037a451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3aa3626bb44a5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fd7d6a51f94a3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f8b08015684fc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53a53591b6442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631f2e1e40440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812325E6-0D25-420D-B068-169B1C320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6A9CAAD-7E2F-4F0A-8517-221CF9D1B8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5B880A64-7465-4989-AF6A-061906815D9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0BAB88A8-1387-4FD2-BBB4-D93B5BA9A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7192511-E28B-4248-BE07-60EA621C41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84BBC28C-6F86-4756-9F63-13DDB84C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36F2312-3327-4D92-9535-A71EB19622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425195BB-6725-4E12-8E1E-451F76D2D81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1DCFEC24-A825-4712-AEB2-CC2B87184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B5335C2-387B-4A1A-8144-C20A6EDC84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719D258-A147-47E9-B69B-58D4A8B8404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948F71F-BDBB-42DA-B497-87A41B07180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0E9CFDB2-D499-4437-9669-2B3347580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041DA5D-0028-4BFB-AE6E-7C1AF54071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D4F5ED0-8E92-4CD5-B2BA-72411F73879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b0438e6eb5a4eb9" /><Relationship Type="http://schemas.openxmlformats.org/officeDocument/2006/relationships/slideLayout" Target="/ppt/slideLayouts/slideLayout1.xml" Id="R7b0ea29f75654589" /><Relationship Type="http://schemas.openxmlformats.org/officeDocument/2006/relationships/slideLayout" Target="/ppt/slideLayouts/slideLayout2.xml" Id="Re9c920892e4b4977" /><Relationship Type="http://schemas.openxmlformats.org/officeDocument/2006/relationships/slideLayout" Target="/ppt/slideLayouts/slideLayout3.xml" Id="R0e3aed5c143e4eb2" /><Relationship Type="http://schemas.openxmlformats.org/officeDocument/2006/relationships/slideLayout" Target="/ppt/slideLayouts/slideLayout4.xml" Id="Rbdd0b817d6974bca" /><Relationship Type="http://schemas.openxmlformats.org/officeDocument/2006/relationships/slideLayout" Target="/ppt/slideLayouts/slideLayout5.xml" Id="R82e407ccd8db40d7" /><Relationship Type="http://schemas.openxmlformats.org/officeDocument/2006/relationships/slideLayout" Target="/ppt/slideLayouts/slideLayout6.xml" Id="Raafba181260b4a1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b0ea29f75654589"/>
    <p:sldLayoutId xmlns:r="http://schemas.openxmlformats.org/officeDocument/2006/relationships" id="2147483650" r:id="Re9c920892e4b4977"/>
    <p:sldLayoutId xmlns:r="http://schemas.openxmlformats.org/officeDocument/2006/relationships" id="2147483651" r:id="R0e3aed5c143e4eb2"/>
    <p:sldLayoutId xmlns:r="http://schemas.openxmlformats.org/officeDocument/2006/relationships" id="2147483652" r:id="Rbdd0b817d6974bca"/>
    <p:sldLayoutId xmlns:r="http://schemas.openxmlformats.org/officeDocument/2006/relationships" id="2147483653" r:id="R82e407ccd8db40d7"/>
    <p:sldLayoutId xmlns:r="http://schemas.openxmlformats.org/officeDocument/2006/relationships" id="2147483654" r:id="Raafba181260b4a1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d0e184168e4e02" /><Relationship Type="http://schemas.openxmlformats.org/officeDocument/2006/relationships/image" Target="/ppt/media/image.png" Id="R254417f8f8b24363" /><Relationship Type="http://schemas.openxmlformats.org/officeDocument/2006/relationships/notesSlide" Target="/ppt/notesSlides/notesSlide1.xml" Id="Rf649ddc207a74f9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0267accd054a8b" /><Relationship Type="http://schemas.openxmlformats.org/officeDocument/2006/relationships/image" Target="/ppt/media/image2.png" Id="Rf737d78375564a4f" /><Relationship Type="http://schemas.openxmlformats.org/officeDocument/2006/relationships/notesSlide" Target="/ppt/notesSlides/notesSlide2.xml" Id="Re7fa5e7c4c71468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d7a4fd7b894648" /><Relationship Type="http://schemas.openxmlformats.org/officeDocument/2006/relationships/image" Target="/ppt/media/image3.png" Id="R9a052d484c124556" /><Relationship Type="http://schemas.openxmlformats.org/officeDocument/2006/relationships/notesSlide" Target="/ppt/notesSlides/notesSlide3.xml" Id="R1c218d510c924cc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2ba6e160f54ef8" /><Relationship Type="http://schemas.openxmlformats.org/officeDocument/2006/relationships/image" Target="/ppt/media/image4.png" Id="R7f03f03f18064974" /><Relationship Type="http://schemas.openxmlformats.org/officeDocument/2006/relationships/notesSlide" Target="/ppt/notesSlides/notesSlide4.xml" Id="R2a2d9716702945c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4a0e2ac4654e79" /><Relationship Type="http://schemas.openxmlformats.org/officeDocument/2006/relationships/image" Target="/ppt/media/image5.png" Id="Rbc093b2607ee4dc4" /><Relationship Type="http://schemas.openxmlformats.org/officeDocument/2006/relationships/notesSlide" Target="/ppt/notesSlides/notesSlide5.xml" Id="R1ca781a58c4d4a0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1f2d12a00d4f32" /><Relationship Type="http://schemas.openxmlformats.org/officeDocument/2006/relationships/image" Target="/ppt/media/image6.png" Id="Rd61682aae69b4420" /><Relationship Type="http://schemas.openxmlformats.org/officeDocument/2006/relationships/notesSlide" Target="/ppt/notesSlides/notesSlide6.xml" Id="Rc31f550ed8c84d1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6ce88bbfb2495e" /><Relationship Type="http://schemas.openxmlformats.org/officeDocument/2006/relationships/image" Target="/ppt/media/image7.png" Id="R17c0a6eb04e5453b" /><Relationship Type="http://schemas.openxmlformats.org/officeDocument/2006/relationships/notesSlide" Target="/ppt/notesSlides/notesSlide7.xml" Id="R31458b7a972447e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626121301a42c5" /><Relationship Type="http://schemas.openxmlformats.org/officeDocument/2006/relationships/image" Target="/ppt/media/image8.png" Id="R058136e60a4b4847" /><Relationship Type="http://schemas.openxmlformats.org/officeDocument/2006/relationships/notesSlide" Target="/ppt/notesSlides/notesSlide8.xml" Id="R6c59acd21e884df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5e48983bc394e4f" /><Relationship Type="http://schemas.openxmlformats.org/officeDocument/2006/relationships/image" Target="/ppt/media/image9.png" Id="Rbc95f374cf964bb1" /><Relationship Type="http://schemas.openxmlformats.org/officeDocument/2006/relationships/notesSlide" Target="/ppt/notesSlides/notesSlide9.xml" Id="R86900f4bd42846b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a7ee79727a4c1a" /><Relationship Type="http://schemas.openxmlformats.org/officeDocument/2006/relationships/image" Target="/ppt/media/image10.png" Id="R32027407a9c4441d" /><Relationship Type="http://schemas.openxmlformats.org/officeDocument/2006/relationships/notesSlide" Target="/ppt/notesSlides/notesSlide10.xml" Id="R57574b5e868749a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08d61e820b4d16" /><Relationship Type="http://schemas.openxmlformats.org/officeDocument/2006/relationships/image" Target="/ppt/media/image11.png" Id="Rbfafb58d5af849a3" /><Relationship Type="http://schemas.openxmlformats.org/officeDocument/2006/relationships/notesSlide" Target="/ppt/notesSlides/notesSlide11.xml" Id="Rad6b1f33cae5446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bc110fb5a64438b" /><Relationship Type="http://schemas.openxmlformats.org/officeDocument/2006/relationships/image" Target="/ppt/media/image12.png" Id="Radd03e1f9fdc4fcb" /><Relationship Type="http://schemas.openxmlformats.org/officeDocument/2006/relationships/notesSlide" Target="/ppt/notesSlides/notesSlide12.xml" Id="R3d02125c52b647d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09edbca1214379" /><Relationship Type="http://schemas.openxmlformats.org/officeDocument/2006/relationships/image" Target="/ppt/media/image13.png" Id="Rb41b11194d654581" /><Relationship Type="http://schemas.openxmlformats.org/officeDocument/2006/relationships/notesSlide" Target="/ppt/notesSlides/notesSlide13.xml" Id="R9ecbcb1bb6c54b7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06043967514aab" /><Relationship Type="http://schemas.openxmlformats.org/officeDocument/2006/relationships/image" Target="/ppt/media/image14.png" Id="Rbcdb7be8cd5a4bb4" /><Relationship Type="http://schemas.openxmlformats.org/officeDocument/2006/relationships/notesSlide" Target="/ppt/notesSlides/notesSlide14.xml" Id="Rb12165abe8fc48f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d60278bf604c5a" /><Relationship Type="http://schemas.openxmlformats.org/officeDocument/2006/relationships/image" Target="/ppt/media/image15.png" Id="R08eb821d1a5f4aa9" /><Relationship Type="http://schemas.openxmlformats.org/officeDocument/2006/relationships/notesSlide" Target="/ppt/notesSlides/notesSlide15.xml" Id="R5c9704eb8a9a42a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75fbacd7604093" /><Relationship Type="http://schemas.openxmlformats.org/officeDocument/2006/relationships/image" Target="/ppt/media/image16.png" Id="R24fb31f013184e96" /><Relationship Type="http://schemas.openxmlformats.org/officeDocument/2006/relationships/notesSlide" Target="/ppt/notesSlides/notesSlide16.xml" Id="R110402c8e8fc491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8149b15609c49e7" /><Relationship Type="http://schemas.openxmlformats.org/officeDocument/2006/relationships/image" Target="/ppt/media/image17.png" Id="R15c339f7576e43eb" /><Relationship Type="http://schemas.openxmlformats.org/officeDocument/2006/relationships/notesSlide" Target="/ppt/notesSlides/notesSlide17.xml" Id="R4f8fc5bb5d09411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ca335ce600465e" /><Relationship Type="http://schemas.openxmlformats.org/officeDocument/2006/relationships/image" Target="/ppt/media/image18.png" Id="Rf510a0fe0de6467a" /><Relationship Type="http://schemas.openxmlformats.org/officeDocument/2006/relationships/notesSlide" Target="/ppt/notesSlides/notesSlide18.xml" Id="R1107c4ffc2f44f3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1b041492cf4c14" /><Relationship Type="http://schemas.openxmlformats.org/officeDocument/2006/relationships/image" Target="/ppt/media/image19.png" Id="R262450c9121745e7" /><Relationship Type="http://schemas.openxmlformats.org/officeDocument/2006/relationships/notesSlide" Target="/ppt/notesSlides/notesSlide19.xml" Id="Rad3be0170c6c4e8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be762090eed4449" /><Relationship Type="http://schemas.openxmlformats.org/officeDocument/2006/relationships/image" Target="/ppt/media/image20.png" Id="Rac58ebf361124b49" /><Relationship Type="http://schemas.openxmlformats.org/officeDocument/2006/relationships/notesSlide" Target="/ppt/notesSlides/notesSlide20.xml" Id="R355dc657adef438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39ac1e1df249be" /><Relationship Type="http://schemas.openxmlformats.org/officeDocument/2006/relationships/image" Target="/ppt/media/image21.png" Id="R0e02c2b67d064ee0" /><Relationship Type="http://schemas.openxmlformats.org/officeDocument/2006/relationships/notesSlide" Target="/ppt/notesSlides/notesSlide21.xml" Id="R07878b1b81b447f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800e5efccc4912" /><Relationship Type="http://schemas.openxmlformats.org/officeDocument/2006/relationships/image" Target="/ppt/media/image22.png" Id="R59abbc23a02e4419" /><Relationship Type="http://schemas.openxmlformats.org/officeDocument/2006/relationships/notesSlide" Target="/ppt/notesSlides/notesSlide22.xml" Id="R84c5042e68e8415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2bf708d9f04251" /><Relationship Type="http://schemas.openxmlformats.org/officeDocument/2006/relationships/image" Target="/ppt/media/image23.png" Id="Rc567145b2ce1488b" /><Relationship Type="http://schemas.openxmlformats.org/officeDocument/2006/relationships/notesSlide" Target="/ppt/notesSlides/notesSlide23.xml" Id="R747e59ed0454404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9A9CC4-47A9-4D3D-AE8C-0DCA787CF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F545A5-AD48-40A3-85B8-DAD5E8682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4417f8f8b24363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746B5E-15CB-401E-923F-FDD7EF78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2CEF80-B627-4B6C-9AB2-0F306596B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让移动中的连续服务在路侧边缘稳定接续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49D518-0258-4780-BFC9-B4C3AF5E9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6EFAF2-5B9D-4093-82D3-946D3FA4D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B85A86-1A29-4DB0-A2C5-F481C4320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A094CF-E267-4080-B068-78FFF9C96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47900"/>
            <a:ext cx="105727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模型复用与执行状态协同准备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1D7188-016F-4740-A987-0A41A832C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390900"/>
            <a:ext cx="10382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研究背景 · 相关工作 · 系统方法 · 实验与发现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68E547-1EC8-4714-A24B-4747AB02C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957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26F412-6609-498F-9135-206734626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81525"/>
            <a:ext cx="10382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Dependency-Aware Preparation for Mobile Edge Workflows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612C60-0440-478E-93A6-15F5EB098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150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研究汇报｜2026 年 10 月</a:t>
            </a:r>
          </a:p>
        </p:txBody>
      </p:sp>
    </p:spTree>
    <p:extLst>
      <p:ext uri="{BB962C8B-B14F-4D97-AF65-F5344CB8AC3E}">
        <p14:creationId xmlns:p14="http://schemas.microsoft.com/office/powerpoint/2010/main" val="175989528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6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924675" y="3076575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17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429000" y="3076575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AEFA48-06B9-4945-9B09-18695787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F570EF-F3DC-4D1B-8397-CB75639B2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37d78375564a4f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BAF4C7-3ECD-4524-B2DE-473F612D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研究背景 · 一分钟理解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1865F8-14BF-4A73-A176-A1FDD8C32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先看一个问题：车开过路口，服务怎样接着做？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700A70-D0B3-4718-A3A3-145F3AE71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0D5E2A-AB4B-435C-A4C5-989D1CC18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E769B6-0600-4BC6-9AD8-6E3A27C2F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DEF0D5-2332-4B96-9E2F-152BC0BE3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62225"/>
            <a:ext cx="26479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9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路侧站 A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9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完成前一步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BEFC36-CFA4-4278-A22D-234B0A1B5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562225"/>
            <a:ext cx="235267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车辆驶向下一站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14D25E-5262-4C0D-B426-AC00FC19F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2562225"/>
            <a:ext cx="32766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9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路侧站 B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9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继续下一步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D819F7-8CB3-41C7-B7A1-ADEF91A69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43400"/>
            <a:ext cx="104298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我们关注的不是一次任务放在哪里，而是整条服务链能否连续完成。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14AE1C-2D16-41DB-97B4-0C497F43E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路侧站：靠近车辆部署的边缘服务器；连续服务：后一步要使用前一步的结果。</a:t>
            </a:r>
          </a:p>
        </p:txBody>
      </p:sp>
    </p:spTree>
    <p:extLst>
      <p:ext uri="{BB962C8B-B14F-4D97-AF65-F5344CB8AC3E}">
        <p14:creationId xmlns:p14="http://schemas.microsoft.com/office/powerpoint/2010/main" val="8423676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6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7572375" y="3390900"/>
            <a:ext cx="83820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17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771900" y="3390900"/>
            <a:ext cx="83820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B0AF12-C62B-4AE4-9C90-9E2622852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7E7FBC-30CA-4D83-A606-24993DE82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052d484c124556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6E9B6E-6A83-4004-AD34-E6B2E2F56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研究背景 · 问题分解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9119FF-1CF0-4534-B721-E8574675A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要“接着做”，下一站需要三样东西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025CF5-F1E5-4954-ACBA-C6A6CEB3F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68B4BC-6ED9-4D91-BEB2-CDC8519CB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83846C-76D1-499B-B571-98012703A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B257C1-5C2A-4E5E-BAEE-B764E0B51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428875"/>
            <a:ext cx="2962275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① 前一步的结果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知道任务做到哪里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5C6DA7-EBC9-4049-B52B-F07846CC8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428875"/>
            <a:ext cx="2962275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② 可用的模型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具备执行下一步的能力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AB9593-4C05-4705-8D4E-647C7B1A2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428875"/>
            <a:ext cx="2962275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③ 运行时状态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能从断点继续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CE2A2D-19F7-48F0-A93F-DFBE10F05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000625"/>
            <a:ext cx="10572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这三件事必须在同一个交接窗口内相互配合。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A9324D-BC1F-4F8A-A64B-1F16082E4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“有先后依赖的工作流”在论文中记为 DAG。</a:t>
            </a:r>
          </a:p>
        </p:txBody>
      </p:sp>
    </p:spTree>
    <p:extLst>
      <p:ext uri="{BB962C8B-B14F-4D97-AF65-F5344CB8AC3E}">
        <p14:creationId xmlns:p14="http://schemas.microsoft.com/office/powerpoint/2010/main" val="572824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F47E887-1E7D-4641-9647-6B421FC5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0097C8-1263-48EB-B44B-634925EF4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03f03f18064974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96FF3F-A62A-4794-B7D2-CB5DDE2C5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文献对比 1 / 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606BF9-96ED-43A9-B863-BE332039C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相关工作：任务依赖与移动迁移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01A87E-A3F8-42F4-8064-2C409F53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0C0E38-E7D9-451C-9C52-72021B1E7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DB28DF-7AE3-405C-8A7B-B263071B1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97A9AE-EE69-48D5-A0FC-528CE19F9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85950"/>
            <a:ext cx="23526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代表论文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1D7175-1718-464C-81B8-3D71EDFBC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85950"/>
            <a:ext cx="3695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这篇论文解决了什么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E12720-AAAD-4188-B30F-A18006E8E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1885950"/>
            <a:ext cx="43910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我们进一步研究什么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F502EC-733B-47DD-A592-06298B86D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D8DDE9-B1D7-48BF-8161-A6DE515E6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05050"/>
            <a:ext cx="2324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COHCTO · TMC 2025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419151-E11C-4052-B4F4-6C93637CE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305050"/>
            <a:ext cx="3667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把任务依赖和服务缓存一起纳入卸载。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90BDE4-8BBE-4300-BF65-C82A59547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2305050"/>
            <a:ext cx="441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继续研究交接时，模型组件与执行进度如何一同到位。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929DF4-F989-4158-9A05-D632207B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90850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753657-3BC9-4A43-81B7-399445B25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0375"/>
            <a:ext cx="2324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LDMCO · TMC 2026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26CC84-3E3A-486A-B870-830A076FB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00375"/>
            <a:ext cx="3667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针对有先后顺序的任务，优化数据依赖与执行时机。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FC7874-CE01-45F2-BBF9-6E69A615D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000375"/>
            <a:ext cx="441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进一步研究任务跨路侧站后，已完成的进度如何保留。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B509EC-9A89-46D0-B769-AFEAA77E6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86175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0A5D1B-B7A3-4A24-BAD4-12038816C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95700"/>
            <a:ext cx="2324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Ly-COMA · IET 2025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5EAD29-9AF6-42F9-B83B-60DD1D195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695700"/>
            <a:ext cx="3667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把有依赖的子任务与跨边缘迁移放在一起。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341F0F-5C32-4F07-BD1E-A1A5846D1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695700"/>
            <a:ext cx="441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进一步区分共享模型、专用模块与执行状态的准备。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1DF6AA-BDD4-4C8F-91E0-252E96A21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0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78AEC0-2928-4F14-922C-D853CC0D3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91025"/>
            <a:ext cx="2324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Fan 等 · TVT 2024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7377A9A-3445-48C3-BCD9-271FE90E8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91025"/>
            <a:ext cx="3667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利用车辆携带依赖结果，支持无回传链路迁移。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B5982A-8CDF-4DFD-87C0-666C0F6D4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4391025"/>
            <a:ext cx="441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进一步研究模型复用与准备开销、完成量的关系。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20385C-49CD-469D-BA7F-A2F5CD27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76825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5945BD6-FAD8-4446-AE86-5852C4959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86350"/>
            <a:ext cx="2324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MCMA · TMC 2025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183855-7CF8-4635-B071-6A309E366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5086350"/>
            <a:ext cx="3667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用轨迹预测指导任务迁移和卸载。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F8ACAF-9E39-47C3-9F33-5847F4E01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5086350"/>
            <a:ext cx="441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进一步关注整条任务链跨站继续，而不只决定迁往哪里。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A3FF5D2-6ED1-42E4-B672-C3E932AF1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逐篇对比的是研究对象与问题边界；详细出处见演讲备注。</a:t>
            </a:r>
          </a:p>
        </p:txBody>
      </p:sp>
    </p:spTree>
    <p:extLst>
      <p:ext uri="{BB962C8B-B14F-4D97-AF65-F5344CB8AC3E}">
        <p14:creationId xmlns:p14="http://schemas.microsoft.com/office/powerpoint/2010/main" val="65940535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57FECC4-7A16-41C0-8A79-E20D77A70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C47744-6799-4958-B17F-AFEDBD11B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093b2607ee4dc4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038304-3CD7-498B-BFA9-AA2FB2E0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文献对比 2 / 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D506F0-BB49-42C4-8F80-3ABA19EA2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相关工作：预测、模型缓存与移动服务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530F75-2C88-4959-A87F-8C10B4090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AA9CC6-4CB5-487D-912E-0429FD1A9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47FE68-B89B-4B15-8350-6A58EE14F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E54D17-1649-4FE1-986F-DFDCD6111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85950"/>
            <a:ext cx="23526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代表论文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569135-8AF7-4854-B18A-1CBFB35E6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85950"/>
            <a:ext cx="3695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这篇论文解决了什么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D1B15D-C465-4803-BE2F-CF02A5F2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1885950"/>
            <a:ext cx="43910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我们进一步研究什么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923763-DE11-433D-90BE-50773EC59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A60F51-502C-47AB-ADE7-7AE7CCD47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05050"/>
            <a:ext cx="23241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MATM · TVT 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B153C1-AE85-4F48-8C1F-F23AB77F8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305050"/>
            <a:ext cx="366712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结合轨迹预测、任务迁移与资源分配。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545712-A41E-47A4-98EB-D0F62F549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2305050"/>
            <a:ext cx="4419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进一步让目标站的模型与后续执行所需状态共同就绪。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F123FA-0FB6-4A36-BBEA-859C6F30C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52775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01EDCE-6ACC-4123-8342-C3F1AE4A2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62300"/>
            <a:ext cx="23241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AWTO · FGCS 2026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DC5C4B-0264-415B-A9CF-6F7907C0F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162300"/>
            <a:ext cx="366712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在边缘集群中联动工作流调度、模型加载与内存。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6AC3D5-12F5-4642-B69C-E6C10C6A9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162300"/>
            <a:ext cx="4419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进一步处理车辆移动造成的路侧站交接。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BE7E29-6F8F-4392-9D84-6881E60E1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10025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06ECBA-7CA2-4C4F-AF6F-01BA11DF3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19550"/>
            <a:ext cx="23241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POLAR · arXiv 2026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DC0FCD-4AB9-4283-A6E0-25656B614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019550"/>
            <a:ext cx="366712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联合管理专用模型模块的缓存与请求路由。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FECF58-971D-4490-B0F9-22814F489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4019550"/>
            <a:ext cx="4419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进一步纳入任务先后依赖、车辆移动和中途继续执行。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3A9360-7694-45DC-99AC-6EA6835F0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67275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EE2457-36BC-4916-9DFF-016D80855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76800"/>
            <a:ext cx="23241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SLoRA · MLSys 2024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AE8BBD-46BC-4239-9617-5BA48154C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876800"/>
            <a:ext cx="366712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一份共享模型支持大量专用模块的高效服务。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FE255A-0F81-4BDF-84AF-4DBED6E1A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4876800"/>
            <a:ext cx="4419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进一步决定跨站交接前，哪些组件值得提前准备。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EBA9A0-06C7-4CE5-AB36-387BE30F8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逐篇对比的是研究对象与问题边界；详细出处见演讲备注。</a:t>
            </a:r>
          </a:p>
        </p:txBody>
      </p:sp>
    </p:spTree>
    <p:extLst>
      <p:ext uri="{BB962C8B-B14F-4D97-AF65-F5344CB8AC3E}">
        <p14:creationId xmlns:p14="http://schemas.microsoft.com/office/powerpoint/2010/main" val="16308798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AF4A854-C199-4D58-8A0E-63CA43CD7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592E9E-CBF6-4447-9CBD-32C9DAA72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1682aae69b4420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D5E701-F713-4BCD-A7D8-D52B6A2E3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文献对比 3 / 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BFE5F8-9FE8-4672-A736-E4883E6C3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相关工作：模型服务与方法基础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A3E296-2CF1-4E27-B02A-B6DC556C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D219C8-4F3E-4AA0-8EAA-66D473D08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465B77-4850-4DB5-A6B5-833AC2865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A9F92B-9B45-4FC3-ABDA-BEC81EDC9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85950"/>
            <a:ext cx="23526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代表论文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3DF645-25A6-4D0B-86A7-592873DCE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85950"/>
            <a:ext cx="3695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这篇论文解决了什么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9F4D8C-4014-4222-AD62-78A297F32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1885950"/>
            <a:ext cx="43910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我们进一步研究什么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4EFD7C-5B6F-4948-BF6A-827AAD2AC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73E81C-27B3-40B8-AC69-4F350C35F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05050"/>
            <a:ext cx="23241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Punica · MLSys 2024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D1D936-EB3F-42BB-807E-FC9B8BECC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305050"/>
            <a:ext cx="366712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利用共享模型服务多个专用模块请求。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C4F60F-728C-4A3B-A1A0-55197B479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2305050"/>
            <a:ext cx="4419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进一步研究车辆移动时的模块放置与后续任务执行。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4CBEF5-84EA-4C49-B9E7-289797AD6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52775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761C57-6183-4EE0-B07A-C6B1BD45B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62300"/>
            <a:ext cx="23241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WfCommons · FGCS 2022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A552D1-83F7-4E9A-9D09-2C82155C9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162300"/>
            <a:ext cx="366712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分析并生成具有真实结构特征的工作流。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EDD898-A2EC-4372-8231-40BD03BFB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162300"/>
            <a:ext cx="4419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进一步把工作流结构与车辆轨迹、路侧资源联系起来。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164CBB-EEED-485E-BE3B-538D1296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10025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2763AA-F5E7-47FF-B703-CB6AC0EE7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19550"/>
            <a:ext cx="23241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RUDDER · NeurIPS 2019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9D45E4-265B-4967-AFA2-2C47B4002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019550"/>
            <a:ext cx="366712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研究长期任务中如何分配延迟到来的奖励。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77D026-9D37-48F5-83BD-EA10A4E0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4019550"/>
            <a:ext cx="4419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进一步落到模型准备、交接与传输开销的具体系统问题。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D29D82-8318-421C-B53D-4B1D13422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67275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06F6D8-359F-4FFA-968F-97CD4289A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76800"/>
            <a:ext cx="23241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MAPPO · NeurIPS 2022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5EF48F-8C2F-4EAC-BFB2-04062370B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876800"/>
            <a:ext cx="366712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提供合作式强化学习的基线方法与经验。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D44CB6-7476-4611-89A3-D4EB97066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4876800"/>
            <a:ext cx="4419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进一步建立车辆、路侧站和连续工作流的系统模型。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B3662CA-C5A1-419A-A6B9-D4AB37AF4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逐篇对比的是研究对象与问题边界；详细出处见演讲备注。</a:t>
            </a:r>
          </a:p>
        </p:txBody>
      </p:sp>
    </p:spTree>
    <p:extLst>
      <p:ext uri="{BB962C8B-B14F-4D97-AF65-F5344CB8AC3E}">
        <p14:creationId xmlns:p14="http://schemas.microsoft.com/office/powerpoint/2010/main" val="89547414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8E7C3A37-A1B2-4034-A806-E3C3B27AB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267483-695F-4021-8FBB-848AD97E1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8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c0a6eb04e5453b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88A88F-1C61-4BCC-A9BD-6748BE469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文献定位 · 研究范围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8B491C-6DCC-4835-85FF-E7B29AE62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横向对比：我们的研究把五个问题连在一起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0F5E99-A08A-42D1-A05D-BEDE41A7F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672038-48F7-4A6B-B144-C2A26DCF9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931ABC-34C1-43A5-8797-5E37C643D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07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B3B00B-A861-4C2E-82DE-9D01161EE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24050"/>
            <a:ext cx="29241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论文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86B399-2688-4CEA-9A55-5F3CD3813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1924050"/>
            <a:ext cx="15049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任务依赖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C167AD-8582-4277-B958-B2E5B9467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1924050"/>
            <a:ext cx="1371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模型复用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BCB631-3F61-4305-91B7-D8B4D103C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924050"/>
            <a:ext cx="1371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车辆移动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B48BC1-74CA-486B-97EC-F34AEB43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1924050"/>
            <a:ext cx="1371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状态续接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74107B-8071-4F2C-8736-8CF1390FB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1924050"/>
            <a:ext cx="1714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联合决策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8AA831-C421-4CAF-8020-B4EA2B6EC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14575"/>
            <a:ext cx="2924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P1 COHCTO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8CA3AE-A632-4974-8F99-884F94286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14575"/>
            <a:ext cx="1504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C5373A-DAA1-4B04-A5D5-941782D57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231457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CD20D4-3CB7-4157-A6EC-9B75826AB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1457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BB34A3-DB3D-44A2-8251-5D3B15E35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31457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CAB746-DEBF-4BE2-8DE1-861E8CA82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3145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0C82AE-4A06-4DD6-AA89-32313DABE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19375"/>
            <a:ext cx="10734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3AEA3C-18B6-46A3-B5FC-C1BE8414E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47950"/>
            <a:ext cx="2924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P2 LDMCO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B71514-80BF-474D-A96C-AFA349117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647950"/>
            <a:ext cx="1504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57E7C5-A3F2-4D6B-AAE9-8767B2BB2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264795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59153F-CF2A-4871-91CA-4EDA43FA8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64795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B22932-4F29-4386-8A79-6844CADDF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64795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10398A-4E93-49C8-8FDB-12BD904A8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6479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28E0322-9B37-4AC5-AACB-8E72D77EF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52750"/>
            <a:ext cx="10734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663D86A-9E1D-4E39-ACA6-7D511D388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81325"/>
            <a:ext cx="2924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P3 Ly-COMA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72A3C2A-826B-42AB-A161-80EED8CBC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981325"/>
            <a:ext cx="1504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1C56F85-14B3-40D1-9F5F-6803A2BF2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298132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60BAB58-0F7A-4B9D-8F13-725A6028B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98132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985C89A-04FB-4A19-81BA-E4EC5921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98132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AEEAAC2-1DA8-472C-A0D1-D18EFC04D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9813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17CB308-53AC-4EA3-9DFF-5A1F991D9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86125"/>
            <a:ext cx="10734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40C9947-E946-45C7-A032-7EE07187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14700"/>
            <a:ext cx="2924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P4 Fan 迁移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7BA25E7-196C-45AB-97F4-27D0C4EFC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314700"/>
            <a:ext cx="1504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D095C24-A4DB-436D-A126-F60DFABE4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331470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9060DE6-2BBC-435C-9F37-D22AA2A31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31470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666A212-03D3-42B6-B6C2-3F8210F5C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31470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485B33B-69E6-41EB-870E-B3B19492F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3147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6E37817-3626-4827-853A-9D1734B9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19500"/>
            <a:ext cx="10734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06899C0-FFF2-40F3-983C-4EE85DC77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48075"/>
            <a:ext cx="2924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P5 MCMA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5028567-80C4-4747-9111-1FB21ED29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648075"/>
            <a:ext cx="1504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4F56A0D-24CB-4D1C-83B5-7F8DAD6FC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364807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5C72A73-AB94-42BF-A7D6-DABE6913E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64807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4EE9AFE-6383-4EFC-9D39-432045EBE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64807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948ECD1-BA0C-47A9-8D16-E6CA0FB21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6480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ED5DEF8-9BE9-4153-92F0-2FC66DA0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52875"/>
            <a:ext cx="10734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EB205F0-E9A0-47A3-8016-AD7F6C966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81450"/>
            <a:ext cx="2924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P6 MATM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05E7257-4CC4-46E6-A68A-93642474B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981450"/>
            <a:ext cx="1504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3F6BD11-F9BB-42B7-88FF-BD48EB42E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398145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6C9C746-BCFF-4779-A22A-747D90825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98145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638D1E2-9615-41AB-853C-C1A2C2925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98145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2F5171E-E325-4473-AC13-E5E99AA62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9814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7DA370D-15D6-467B-9B06-4672F8CC2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10734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1C796A5-439F-40B1-8510-58A98ED74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14825"/>
            <a:ext cx="2924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P7 AWTO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4BA2F2B-9C95-4F0C-9C01-BC2C3C4E2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314825"/>
            <a:ext cx="1504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463AF28-3D84-4670-8287-CC1AD2271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431482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61AEC4B-1041-4C66-BF9F-214B0E9C6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31482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7D72AF5-CBFD-43AE-8140-DE449CA6A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31482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0F0D5F7-88D5-46AF-A001-1AAD77BC7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3148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79F91D9-3774-43CB-991F-1EE496FA4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9625"/>
            <a:ext cx="10734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C123028-7185-4F95-8350-F48A91F6F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48200"/>
            <a:ext cx="2924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P8 POLAR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9A153DB-505D-44DC-874F-E0563007C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648200"/>
            <a:ext cx="1504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F00B332-AA5F-4FC4-A11E-0A4605771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464820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0C26251-6A9E-4F69-B8C3-62270DB27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4820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152F949-752C-4946-B83F-45F622AEC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64820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C12AEDC-B746-45E2-95D6-BACF78E0E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6482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A72C46A-EB0E-43D0-8190-DB69A4EB8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0"/>
            <a:ext cx="10734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5020958-5E62-47E0-9BA6-D0AC4F70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81575"/>
            <a:ext cx="2924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P9/10 SLoRA/Punica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F853EEA-9E68-4421-A4C3-0C16003CA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981575"/>
            <a:ext cx="1504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7B9626E-154E-4A1D-9ECB-3D2F3DCE6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498157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17F7363-411A-4BE6-9A67-1404D3444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98157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25CFBD6-4C44-4A10-97CD-A50012EB6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98157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D80F946-C194-4F71-96A3-8A4FC9C07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9815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24C2078-77C2-4980-AEDD-9271E2A40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86375"/>
            <a:ext cx="10734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E2C38CB-AB5E-4D84-B1F2-28CFF48D8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95900"/>
            <a:ext cx="10734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6193">
            <a:solidFill>
              <a:srgbClr val="BDEEFF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4AC157B-C9DB-47B8-929E-2821C2AAD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14950"/>
            <a:ext cx="2924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本研究关注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E39A8A7-E3C4-40EC-A11A-F48A07168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5314950"/>
            <a:ext cx="1504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E31C0064-EE79-475C-AC1A-3BAB9F289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31495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92CB011B-7098-4009-80B4-7CB29A5E5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31495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61077541-5478-453D-B93B-1910D3AFE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531495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1302DD9-C2FE-425B-8814-C88AF75BA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53149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C9A5855B-89B7-4C11-88F7-3D55749B1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38800"/>
            <a:ext cx="106394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933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● 直接涉及    ◐ 部分相关    — 非核心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B54DAFB-03AC-49AE-8ED5-48C6AE155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五个方面的交集，是本文提出统一准备与调度方法的出发点。</a:t>
            </a:r>
          </a:p>
        </p:txBody>
      </p:sp>
    </p:spTree>
    <p:extLst>
      <p:ext uri="{BB962C8B-B14F-4D97-AF65-F5344CB8AC3E}">
        <p14:creationId xmlns:p14="http://schemas.microsoft.com/office/powerpoint/2010/main" val="149338370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5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7705725" y="3390900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16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981450" y="3390900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4E8E5E-9B00-4858-BB4E-94E2E386E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08AEB9-04A3-43F6-AC47-54DA43ADE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8136e60a4b4847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628983-AF7B-4ADE-8A11-52B3273F2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研究贡献 · 一张图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98629D-DCE4-4ADA-9F74-7ED61807C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974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我们的工作：把“准备什么、何时准备、在哪里准备”统一考虑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EF4EE9-A073-4879-9A56-77BEA56F3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2DCF97-3373-4872-9737-1AE175F9B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FA6375-C59F-4387-BF81-550D36F02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08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4E4EED-79D8-4F9F-8F7F-723EEE7F5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286000"/>
            <a:ext cx="3228975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准备什么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前一步结果、共享模型、专用模块与运行状态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002EFD-01AC-433C-954D-5AA07B591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86000"/>
            <a:ext cx="3228975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何时准备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根据任务进度与预计交接时间决定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2E7387-35E0-4377-9216-092B452E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286000"/>
            <a:ext cx="3228975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在哪里准备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检查下一路侧站已有资源与可用容量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C55287-2DDB-43A5-92AD-7DD1A9DE4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19675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评价时同时看：整条任务链是否完成、等待时间和搬运数据量。</a:t>
            </a:r>
          </a:p>
        </p:txBody>
      </p:sp>
    </p:spTree>
    <p:extLst>
      <p:ext uri="{BB962C8B-B14F-4D97-AF65-F5344CB8AC3E}">
        <p14:creationId xmlns:p14="http://schemas.microsoft.com/office/powerpoint/2010/main" val="74042022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A1C16A-94C7-44E5-A89B-84816E93D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8CD0A7-6251-4B89-9C7C-58E269FDA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95f374cf964bb1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8AF174-A64E-4BE3-BCCD-D34610346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研究问题 · 三个问题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FFE0ED-99F4-4F3C-8DC2-CAF9B5AB9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研究问题：怎样让准备工作真正帮助任务完成？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E516E5-EFF4-42AB-A0E1-20003F28A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EC1392-99CF-4C8B-83EC-E94259C2F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82211E-0D60-49A2-84C4-44D0D2B5C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09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48067A-4982-4FBD-BF25-074D6901A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81225"/>
            <a:ext cx="227647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问题一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A6FB4B-47B7-4E49-8696-47457C91B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238375"/>
            <a:ext cx="78486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多个步骤共用一个模型时，能减少多少重复搬运？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EFE982-BCAA-4D8F-B648-FC4B07B82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381375"/>
            <a:ext cx="227647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问题二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3F76EB-7A89-422E-9F65-2419EE354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438525"/>
            <a:ext cx="78486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车辆即将交接时，哪些资源值得提前放到下一站？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667531-025F-43CB-94BE-D08AD8B94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581525"/>
            <a:ext cx="227647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问题三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5D9EC3-9687-46A2-A3CF-FC0939067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638675"/>
            <a:ext cx="78486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面对任务进度与车辆移动，怎样协调长期准备和即时执行？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A26C8C-ACCE-4E3D-9F65-5EDA307E3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统一的目标：让更多完整工作流按时完成，并控制等待和传输成本。</a:t>
            </a:r>
          </a:p>
        </p:txBody>
      </p:sp>
    </p:spTree>
    <p:extLst>
      <p:ext uri="{BB962C8B-B14F-4D97-AF65-F5344CB8AC3E}">
        <p14:creationId xmlns:p14="http://schemas.microsoft.com/office/powerpoint/2010/main" val="139200955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8" name="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9134475" y="301942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19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210300" y="301942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20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286125" y="301942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4FFFDB-6A85-40D7-9EDB-AD67931EF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5BE38B-82E6-42A5-B2C7-15991647D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027407a9c4441d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D8292D-6EAF-4B70-9E07-6D5D55D8A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核心机制 · 四步说明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B6339A-364A-4816-B465-C547CEF27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方法直觉：先看下一步，再准备下一站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6DFA75-2DA8-428F-90E2-2FCA2A63C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D13E67-F8F2-4DCD-B822-78A647083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DCDFEB-D230-4640-98BF-EB1750C8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395219-CE72-419B-A4D0-6B777508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25431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看任务进度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下一步需要什么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3F7DC2-5BD4-42CE-A2C4-E3734C2B9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381250"/>
            <a:ext cx="25431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看车辆动向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可能到哪一站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5BC399-9384-4512-8350-F1898B3D0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381250"/>
            <a:ext cx="25431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看已有资源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只补齐缺少的部分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6D8004-1B99-43A8-AF4A-5045B90DD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2381250"/>
            <a:ext cx="192405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交接之后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从原进度继续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E72468-CA43-48F5-97BA-A7CBE5D50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14850"/>
            <a:ext cx="1045845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核心思想：下一站准备的是“后续工作真正需要、且当前还没有”的资源。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C53B0F-E54A-4209-8BBA-29EC4D469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准备对象包括模型组件，也包括已经完成步骤留下的运行状态。</a:t>
            </a:r>
          </a:p>
        </p:txBody>
      </p:sp>
    </p:spTree>
    <p:extLst>
      <p:ext uri="{BB962C8B-B14F-4D97-AF65-F5344CB8AC3E}">
        <p14:creationId xmlns:p14="http://schemas.microsoft.com/office/powerpoint/2010/main" val="135922518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6ABCAC-29EB-4BD9-9A7B-7C0FE3438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8D4913-E34C-41EB-B1FA-F72E53D87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afb58d5af849a3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2D461C-0CA0-4855-B1DF-EFED9D447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策略取舍 · 判断依据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9E56B3-BF6F-4EBB-880A-AB33FDD0A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什么时候提前准备？看三个可观测因素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429012-BB6F-4FB8-A632-4CF7DB463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D0651F-17B4-4776-A4C1-33157FA69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9C5EBD-54BB-4965-8F10-9A67DFB89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11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81252A-D5F9-4AA4-A789-B14807AE6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19350"/>
            <a:ext cx="29527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交接时间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车辆还会在本站停留多久？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E937F6-D48B-473C-9621-F3DC38853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419350"/>
            <a:ext cx="29527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下一站已有资源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是否已经存着可复用模型？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99EB7E-A57D-44DC-A742-C702A55ED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19350"/>
            <a:ext cx="29527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准备成本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需要传多少数据、占多少空间？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B14686-3FA2-4B16-9EA5-C36F8656E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95825"/>
            <a:ext cx="105441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据此选择：提前准备、等需求出现再准备，或由车端完成当前步骤。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DDF0AD-02CC-4172-B16D-7D4C76D28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这使“是否提前搬运”成为可计算的决策，而非固定规则。</a:t>
            </a:r>
          </a:p>
        </p:txBody>
      </p:sp>
    </p:spTree>
    <p:extLst>
      <p:ext uri="{BB962C8B-B14F-4D97-AF65-F5344CB8AC3E}">
        <p14:creationId xmlns:p14="http://schemas.microsoft.com/office/powerpoint/2010/main" val="197037412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6" name=""/>
          <p:cNvCxnSpPr>
            <a:stCxn xmlns:a="http://schemas.openxmlformats.org/drawingml/2006/main" id="18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10139363" y="2962275"/>
            <a:ext cx="0" cy="619125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27" name="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 flipV="1">
            <a:off x="8258175" y="2552700"/>
            <a:ext cx="609600" cy="14382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28" name=""/>
          <p:cNvCxnSpPr>
            <a:stCxn xmlns:a="http://schemas.openxmlformats.org/drawingml/2006/main" id="16" idx="2"/>
            <a:endCxn xmlns:a="http://schemas.openxmlformats.org/drawingml/2006/main" id="17" idx="0"/>
          </p:cNvCxnSpPr>
          <p:nvPr/>
        </p:nvCxnSpPr>
        <p:spPr>
          <a:xfrm xmlns:a="http://schemas.openxmlformats.org/drawingml/2006/main">
            <a:off x="7248525" y="2962275"/>
            <a:ext cx="0" cy="619125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29" name=""/>
          <p:cNvCxnSpPr>
            <a:stCxn xmlns:a="http://schemas.openxmlformats.org/drawingml/2006/main" id="12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 flipV="1">
            <a:off x="5610225" y="2552700"/>
            <a:ext cx="628650" cy="6667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30" name="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 flipV="1">
            <a:off x="2752725" y="3219450"/>
            <a:ext cx="628650" cy="8048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31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 flipV="1">
            <a:off x="2752725" y="3219450"/>
            <a:ext cx="628650" cy="47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32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2752725" y="2424113"/>
            <a:ext cx="628650" cy="79533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E0B68BB-61B0-4C3B-9A77-F465033FB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D623DD-1BCA-44EF-9AA7-FDB7E084D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d03e1f9fdc4fcb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860D5A-201F-4A90-BC89-07900C731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论文结构图 · 系统层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2CD3AB-0865-4E49-827E-37C37DCBF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系统结构：数据、路侧环境与控制方法形成闭环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5A7CCB-25DB-4398-93B1-09A07C9A8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A25D43-BCDE-42F9-B8DC-407AD3F58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AFFA2B-0704-40CE-845F-8183D319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12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620F78-BC10-4E46-B8C2-1808AB307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14550"/>
            <a:ext cx="20383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车辆轨迹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BD4727-2C7D-46B3-9D46-32920DB2D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14650"/>
            <a:ext cx="20383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任务链结构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5F397E-2122-474A-A2FA-EE5DB8C50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714750"/>
            <a:ext cx="20383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模型资源清单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61053E-0616-4266-8FA9-F5AF2671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609850"/>
            <a:ext cx="22288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路侧边缘环境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站点 / 缓存 / 交接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AEB0AC-2BA3-42AD-9062-A91485A81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143125"/>
            <a:ext cx="20193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当前信息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任务 / 车辆 / 站点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18560F-858C-4113-A8D2-FC50BA23C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581400"/>
            <a:ext cx="20193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信息融合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依赖 + 资源 + 预测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60CDCC-8A59-4E3B-BBAC-1ED500673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2143125"/>
            <a:ext cx="25431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协调决策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长期 / 即时 / 交接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85350E-7F87-4B90-AA16-822D1A7D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581400"/>
            <a:ext cx="25431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执行选择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放置、卸载或准备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6DB03F-442D-4894-B042-4E3F341F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067300"/>
            <a:ext cx="10334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决策回到路侧环境；系统记录整条任务链的完成、等待和传输。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22AD6A-09CA-4709-883F-0829CC9F9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图由论文方法稿中的系统结构重绘，元素可在 PPT 中编辑。</a:t>
            </a:r>
          </a:p>
        </p:txBody>
      </p:sp>
    </p:spTree>
    <p:extLst>
      <p:ext uri="{BB962C8B-B14F-4D97-AF65-F5344CB8AC3E}">
        <p14:creationId xmlns:p14="http://schemas.microsoft.com/office/powerpoint/2010/main" val="179863209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645FDD-7D86-4F50-953A-990949CA6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DEEB10-D3B3-4722-85D3-384398382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1b11194d654581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8A0046-6670-42E0-B363-B0ECB2D02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论文模型 · 资源账本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87A1CD-BF10-4744-A6C2-1FC99DA02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资源模型：共享部分只搬一次，专用部分按需补齐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1FB8EE-A734-4D5A-8084-31D1EC4F7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DB3CEE-0414-48A4-BD69-63917BDED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B5F2BA-6FF4-4771-88E5-A50806F27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13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3766D0-E41B-4A9C-BE94-A7D012705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286000"/>
            <a:ext cx="2724150" cy="1552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共享模型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多个步骤可复用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F1E151-3951-44ED-B3D1-435C58D10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2286000"/>
            <a:ext cx="2724150" cy="1552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专用模块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为具体步骤补充能力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BEEF98-90E2-4A76-A569-3B847A1BD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2286000"/>
            <a:ext cx="3905250" cy="1552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运行状态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记录已完成步骤和上下文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449B34-DCDC-484C-97BA-5B82F1939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95775"/>
            <a:ext cx="1042987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需搬运的数据 = 下一步所需对象 − 下一站已有对象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2C40CA-A490-4FFD-B6E0-22F45FD83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53025"/>
            <a:ext cx="10363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每个对象只计一次，并同时检查模型兼容性与站点容量。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7B72FA-1C31-4989-BDCD-30A5A2F75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资源账本使“复用”有明确的字节含义。</a:t>
            </a:r>
          </a:p>
        </p:txBody>
      </p:sp>
    </p:spTree>
    <p:extLst>
      <p:ext uri="{BB962C8B-B14F-4D97-AF65-F5344CB8AC3E}">
        <p14:creationId xmlns:p14="http://schemas.microsoft.com/office/powerpoint/2010/main" val="163072127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D23295-5D4D-4555-BF0B-4A98077BF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25773F-02D1-4A36-9444-D3C1D4F10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db7be8cd5a4bb4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F68253-F7FA-4069-B625-DF2FFCF6A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论文方法 · 可执行决策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7EC103-D20B-46B0-B7D5-3B7C6CED9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控制方法有五种实际选择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D01222-05AB-40E7-BEBB-5B47A889D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4F7ECE-14D4-4534-BB1B-D86FFFE1E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360DC6-2347-4904-9892-DAB3DB65F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14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571432-6162-4ACA-9499-6C6EF741A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47875"/>
            <a:ext cx="30384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补齐本站模型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E22A63-9423-4280-94D4-D45009BA5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2047875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当前站缺少执行所需模型时，先补齐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9C63F4-2DF5-4772-935B-4077B246D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667000"/>
            <a:ext cx="10620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631A52-6A72-4FE5-A03A-86700332D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33675"/>
            <a:ext cx="30384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提前准备下一站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005211-DB3B-4F9A-AFCA-F10662A81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2733675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根据车辆动向预备可能用到的组件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56A3A8-5414-43B8-B073-B0CDF8D3E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352800"/>
            <a:ext cx="10620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EA9636-492B-417F-94CB-E9B159A05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19475"/>
            <a:ext cx="30384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交给车端执行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53A0D5-A682-4A3C-80F5-B36EB508E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3419475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车辆本地资源承担当前步骤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4F59F2-1F62-4F4E-8BEA-079F1164F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038600"/>
            <a:ext cx="10620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858779-E25A-4CCC-B9DB-26645A413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05275"/>
            <a:ext cx="30384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在本站直接执行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33C505-CE9D-4933-8096-4FBDA72E8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4105275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资源就绪时直接卸载到当前站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A18729-9CD7-4B9D-ABB9-A5ECA1AF5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724400"/>
            <a:ext cx="10620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5DA632-114E-49B1-9E0B-732D856E1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91075"/>
            <a:ext cx="30384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准备交接状态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52B3AD-D99B-4033-BD82-E5B599606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4791075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让下一站具备继续执行所需的信息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BDEB90-436C-41BF-9512-04DE5075A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每次选择都受资源容量与可执行条件约束。</a:t>
            </a:r>
          </a:p>
        </p:txBody>
      </p:sp>
    </p:spTree>
    <p:extLst>
      <p:ext uri="{BB962C8B-B14F-4D97-AF65-F5344CB8AC3E}">
        <p14:creationId xmlns:p14="http://schemas.microsoft.com/office/powerpoint/2010/main" val="109436507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5" name=""/>
          <p:cNvCxnSpPr>
            <a:stCxn xmlns:a="http://schemas.openxmlformats.org/drawingml/2006/main" id="12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6281738" y="3943350"/>
            <a:ext cx="4076700" cy="5334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26" name=""/>
          <p:cNvCxnSpPr>
            <a:stCxn xmlns:a="http://schemas.openxmlformats.org/drawingml/2006/main" id="12" idx="2"/>
            <a:endCxn xmlns:a="http://schemas.openxmlformats.org/drawingml/2006/main" id="18" idx="0"/>
          </p:cNvCxnSpPr>
          <p:nvPr/>
        </p:nvCxnSpPr>
        <p:spPr>
          <a:xfrm xmlns:a="http://schemas.openxmlformats.org/drawingml/2006/main">
            <a:off x="6281738" y="3943350"/>
            <a:ext cx="1347788" cy="5334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27" name=""/>
          <p:cNvCxnSpPr>
            <a:stCxn xmlns:a="http://schemas.openxmlformats.org/drawingml/2006/main" id="12" idx="2"/>
            <a:endCxn xmlns:a="http://schemas.openxmlformats.org/drawingml/2006/main" id="17" idx="0"/>
          </p:cNvCxnSpPr>
          <p:nvPr/>
        </p:nvCxnSpPr>
        <p:spPr>
          <a:xfrm xmlns:a="http://schemas.openxmlformats.org/drawingml/2006/main" flipH="1">
            <a:off x="4781550" y="3943350"/>
            <a:ext cx="1500188" cy="5334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28" name=""/>
          <p:cNvCxnSpPr>
            <a:stCxn xmlns:a="http://schemas.openxmlformats.org/drawingml/2006/main" id="12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 flipH="1">
            <a:off x="1933575" y="3943350"/>
            <a:ext cx="4348163" cy="5334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29" name=""/>
          <p:cNvCxnSpPr>
            <a:stCxn xmlns:a="http://schemas.openxmlformats.org/drawingml/2006/main" id="11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 flipH="1">
            <a:off x="6281738" y="2876550"/>
            <a:ext cx="1671638" cy="3429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30" name=""/>
          <p:cNvCxnSpPr>
            <a:stCxn xmlns:a="http://schemas.openxmlformats.org/drawingml/2006/main" id="10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>
            <a:off x="4972050" y="2876550"/>
            <a:ext cx="1309688" cy="3429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31" name=""/>
          <p:cNvCxnSpPr>
            <a:stCxn xmlns:a="http://schemas.openxmlformats.org/drawingml/2006/main" id="9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>
            <a:off x="1990725" y="2876550"/>
            <a:ext cx="4291013" cy="3429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09F1AB2-4B27-43EC-AC31-C44211B63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6208CA-E0F8-48B6-9409-D39BF72E4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eb821d1a5f4aa9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328D69-9D4B-4638-BF0B-A25229076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论文结构图 · 算法层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D17006-10F9-4DCB-91CC-7E1F59014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算法结构：同一份信息，支持三个时间尺度的决策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A4E6BE-465B-4340-8DF6-041B0F19F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6C98E5-A87C-4E49-9BB5-4194FD087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987B51-5323-4280-8C43-EE3C90937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15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2B21A9-EF2F-4A9C-89EB-55F7AD7B0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47875"/>
            <a:ext cx="2495550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任务链信息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进度与先后依赖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471B7C-9EDB-4AB1-B5F5-3184A59A2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047875"/>
            <a:ext cx="2495550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站点与车辆信息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资源、负载、位置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0BA2B1-25D7-40AE-95B9-7999CD96A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47875"/>
            <a:ext cx="2495550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移动趋势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预测交接与紧迫度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9FE4FA-37EF-4DD2-A716-91703488C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219450"/>
            <a:ext cx="50958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共享信息融合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7 组输入 → 统一状态表示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8F1BE5-A9A7-4E44-BFEB-D386E67FD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0"/>
            <a:ext cx="238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慢决策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模型放置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61DAC7-58D9-4BE7-BE00-F1EB29D43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4476750"/>
            <a:ext cx="238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快决策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当前任务去向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329F16-B4D1-4271-8FE3-BFE5D5012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476750"/>
            <a:ext cx="238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交接决策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下一站准备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6DEF3B-2920-4E75-9A4C-FFBC41F63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4476750"/>
            <a:ext cx="21431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价值评估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长期收益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B1A20A-2EA0-49A2-A79C-7B0175378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一套控制方法同时处理长期资源安排、即时执行和交接事件。</a:t>
            </a:r>
          </a:p>
        </p:txBody>
      </p:sp>
    </p:spTree>
    <p:extLst>
      <p:ext uri="{BB962C8B-B14F-4D97-AF65-F5344CB8AC3E}">
        <p14:creationId xmlns:p14="http://schemas.microsoft.com/office/powerpoint/2010/main" val="145258135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47E347-95C0-4258-A6BE-CFAC3EEA9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2253EA-F914-430C-B394-96E4AF269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fb31f013184e96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D6C7C2-47D8-4D6D-A369-377920887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论文方法 · 训练目标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0DBE51-543E-4851-B8BA-5DC127166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奖励设计：鼓励服务推进，也计入资源与时延成本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62B61B-5630-4259-BEAC-C57C64CE3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B1C2E3-2768-429E-9049-827CF9A7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3EEA48-EA5C-49EE-9A54-142C7E638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16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261C1B-74EA-44F8-A117-B5B0145D0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66925"/>
            <a:ext cx="1059180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每步得分 = 基础项 + 服务推进 + 连续执行 + 探索收益 − 等待 − 模型缺失 − 交接成本 − 约束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F88CD1-7B34-45BD-9DAA-11C9B4462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527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036FD0-49DE-4333-8658-26FFE78E7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33775"/>
            <a:ext cx="497205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获得收益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完成当前步骤、交接后继续执行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0356BF-C78A-40E0-B659-63000E3A4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533775"/>
            <a:ext cx="497205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计入成本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等待时间、模型缺失与资源约束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7F46EE-190B-45CE-A2A7-301F12B2D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76850"/>
            <a:ext cx="104584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最终评价仍看整条任务链完成情况、时延和实际传输数据量。</a:t>
            </a:r>
          </a:p>
        </p:txBody>
      </p:sp>
    </p:spTree>
    <p:extLst>
      <p:ext uri="{BB962C8B-B14F-4D97-AF65-F5344CB8AC3E}">
        <p14:creationId xmlns:p14="http://schemas.microsoft.com/office/powerpoint/2010/main" val="111880497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6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7581900" y="3095625"/>
            <a:ext cx="87630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17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733800" y="3095625"/>
            <a:ext cx="87630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77A653-E55F-4ECA-AED0-DF347D3BC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A88B42-F7E8-4942-9FC4-65E02F24E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c339f7576e43eb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031132-D0C6-435A-88F1-CA5F65D05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实验设置 · 数据来源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ABFA5F-E52C-496E-8D91-AF6B013E0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实验数据：用真实车辆轨迹和真实任务链驱动仿真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407DDC-8C2A-4600-BB07-DD253403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F2ED6D-186F-4C39-B6D1-6FE9A91A7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F82B0C-C242-47D1-BFA1-90D3BB211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17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7133FB-F2D4-42D4-A870-552FE083A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9718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NGSIM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车辆位置、速度和移动轨迹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0CCE9F-CB06-4D22-B694-F9A8401EE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362200"/>
            <a:ext cx="29718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Alibaba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任务链和步骤之间的依赖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85AB7D-906F-4FF0-B144-FD07ED24E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62200"/>
            <a:ext cx="29718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实验设定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每一步所需的模型与状态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30683A-4A42-42BE-9AD5-EE3A35E96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552950"/>
            <a:ext cx="1057275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在可复现的移动场景中，观察任务链、资源和车辆交接如何相互影响。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2D06BA-EE56-48AF-98BA-9B775EA9D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数据来源分别公开；服务需求通过明确的实验映射构造。</a:t>
            </a:r>
          </a:p>
        </p:txBody>
      </p:sp>
    </p:spTree>
    <p:extLst>
      <p:ext uri="{BB962C8B-B14F-4D97-AF65-F5344CB8AC3E}">
        <p14:creationId xmlns:p14="http://schemas.microsoft.com/office/powerpoint/2010/main" val="110945649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3C90E7-6C16-4313-A3F3-55DF7652F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563A05-CB89-4A12-8738-59A958004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10a0fe0de6467a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8F8A14-D336-473A-A532-61D141ACD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实验设置 · 对照设计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F68574-C218-49BC-BADF-41D8F7DB4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实验设计：先测机制，再比较决策方法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0EA875-2BA1-48ED-B8E6-C441EFFE6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A923BF-44A9-4076-982D-8145EE005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340368-D4C5-4527-BF57-905E5AB20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18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BF5012-F33F-4AE4-A0EC-37DC8951E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000250"/>
            <a:ext cx="5000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资源共享 × 状态准备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17E89C-0739-4CA3-8FA1-6B66D38B6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81275"/>
            <a:ext cx="22479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常规放置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按需执行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FA9DAC-23A6-4718-9EB7-7B5CFFDE2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581275"/>
            <a:ext cx="22479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共享模型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按需执行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9494AF-C0C2-47B7-8215-7152D4A20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95725"/>
            <a:ext cx="22479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常规放置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提前准备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881BC8-64D4-4788-8EF0-3C42D37B0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895725"/>
            <a:ext cx="22479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共享模型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提前准备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8D5D78-CF08-461A-9659-4D1FEC571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00250"/>
            <a:ext cx="485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比较“由谁决定何时准备”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B03E8A-705D-4CD4-BB15-8B4A2F920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581275"/>
            <a:ext cx="49339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固定规则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DB181E-4EF3-46C6-9D98-174C5F946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3486150"/>
            <a:ext cx="49339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统一策略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213020-EB16-430C-B4E6-4AD217BA0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4391025"/>
            <a:ext cx="49339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多时间尺度策略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DF580E-B418-4967-9EA6-35DB4706A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算法奖励对照已有冻结结果，见下一页；机制组合按相同指标继续评价。</a:t>
            </a:r>
          </a:p>
        </p:txBody>
      </p:sp>
    </p:spTree>
    <p:extLst>
      <p:ext uri="{BB962C8B-B14F-4D97-AF65-F5344CB8AC3E}">
        <p14:creationId xmlns:p14="http://schemas.microsoft.com/office/powerpoint/2010/main" val="138592656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690C05D-2B0E-4786-AF94-C0B859647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39828B-4823-4087-83D1-7C2C9547E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2450c9121745e7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6809B7-8CF8-4D0E-9807-ADB89E7B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实验结果 · 奖励对比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182401-0E5E-458E-BC62-285349189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冻结评估：综合奖励在两组窗口均排名第一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85F456-B399-495E-A9A2-A155BF81A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1F86ED-F5E6-4318-8003-8C208E1F1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2428C1-7277-43FE-8037-30742BFD0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19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CBE68D-FC1E-4643-955C-C5478B5D1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1952625"/>
            <a:ext cx="50958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正式评估 · 20 个时间窗口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ACC357-44B3-4FDF-922D-B68BE3113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390775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本方法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B0BA8D-BEDB-40B5-BFCE-7A089354C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2428875"/>
            <a:ext cx="1755028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EEFF"/>
          </a:solidFill>
          <a:ln xmlns:a="http://schemas.openxmlformats.org/drawingml/2006/main" w="0">
            <a:solidFill>
              <a:srgbClr val="BDEE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32F555-C67F-4545-B729-9B670DD21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390775"/>
            <a:ext cx="97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26.43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BA3475-8E72-4FFC-BFEC-15241F93B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85750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缓存规则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73E544-63C1-4124-934C-57F5725CC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2895600"/>
            <a:ext cx="1731919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DFF"/>
          </a:solidFill>
          <a:ln xmlns:a="http://schemas.openxmlformats.org/drawingml/2006/main" w="0">
            <a:solidFill>
              <a:srgbClr val="E5E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BEA9CC-012E-4D6D-BC6A-2AD89710D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857500"/>
            <a:ext cx="97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26.08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82FA0E-FC66-4373-B007-671D7E7F1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324225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DQN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41AC51-734C-4E35-8F98-0598FCCE7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3362325"/>
            <a:ext cx="143443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DFF"/>
          </a:solidFill>
          <a:ln xmlns:a="http://schemas.openxmlformats.org/drawingml/2006/main" w="0">
            <a:solidFill>
              <a:srgbClr val="E5ED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A0C6A1-EC1F-4A10-839D-5FE7F73A7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324225"/>
            <a:ext cx="97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21.60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ACB24F-8054-439A-A63F-4771DD3C5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7909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Dueling DQN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39DBFB-5D45-45CD-8B5F-B6F8EBBCA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3829050"/>
            <a:ext cx="1151492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DFF"/>
          </a:solidFill>
          <a:ln xmlns:a="http://schemas.openxmlformats.org/drawingml/2006/main" w="0">
            <a:solidFill>
              <a:srgbClr val="E5ED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6909C1-29A3-46CB-94CD-8F5FC8A1A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790950"/>
            <a:ext cx="97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17.34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830760-443F-4D5E-BF7D-CDA9747CA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257675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交接策略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31D48B-F78D-44E3-A5EE-72109088F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4295775"/>
            <a:ext cx="742384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DFF"/>
          </a:solidFill>
          <a:ln xmlns:a="http://schemas.openxmlformats.org/drawingml/2006/main" w="0">
            <a:solidFill>
              <a:srgbClr val="E5ED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1B0C23-05F7-41C1-9A8D-B3794C469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257675"/>
            <a:ext cx="97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11.18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38DED4F-FCA0-4FA6-854C-C621F0C5C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72440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PPO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E99B5B-3184-4145-90C0-9AAF2B94A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4762500"/>
            <a:ext cx="616418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DFF"/>
          </a:solidFill>
          <a:ln xmlns:a="http://schemas.openxmlformats.org/drawingml/2006/main" w="0">
            <a:solidFill>
              <a:srgbClr val="E5ED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E8BC8E6-A5EB-4AAD-BA3B-B0512D5E1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724400"/>
            <a:ext cx="97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9.28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4A3ADF0-4857-4FE7-8EC1-A3F134B57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248275"/>
            <a:ext cx="5095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较最佳对照 +0.35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482FC0-B8AF-4738-863F-A33F5DE79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572125"/>
            <a:ext cx="5095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95% 区间：+0.16 至 +0.60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15BC12E-65B4-439B-BC3B-D755FFE58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952625"/>
            <a:ext cx="50958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后续独立验证 · 15 个时间窗口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A84E4DE-A603-4FDF-B7C7-F5660A66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90775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本方法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87C1F2E-958B-4CD8-BF93-2EB3B947F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28875"/>
            <a:ext cx="2214004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EEFF"/>
          </a:solidFill>
          <a:ln xmlns:a="http://schemas.openxmlformats.org/drawingml/2006/main" w="0">
            <a:solidFill>
              <a:srgbClr val="BDEE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4B0A2AB-DB48-4F76-8E52-7BE7ECFA9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2390775"/>
            <a:ext cx="97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33.34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D578038-06BE-481D-BABC-AF95934AC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5750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缓存规则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0CCFD58-5531-4C6D-B8B7-BFB07BCBB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895600"/>
            <a:ext cx="1948924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DFF"/>
          </a:solidFill>
          <a:ln xmlns:a="http://schemas.openxmlformats.org/drawingml/2006/main" w="0">
            <a:solidFill>
              <a:srgbClr val="E5ED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2F24498-AE09-44E4-B8EE-4AEAAED64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2857500"/>
            <a:ext cx="97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29.35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DF0D945-124B-4C22-A65A-BEB5A24F4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324225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DQN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4A0F452-E3E3-4CE2-B547-D78ED918C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362325"/>
            <a:ext cx="160934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DFF"/>
          </a:solidFill>
          <a:ln xmlns:a="http://schemas.openxmlformats.org/drawingml/2006/main" w="0">
            <a:solidFill>
              <a:srgbClr val="E5EDF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029081E-B16B-495D-ADBB-8FFCB18A2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3324225"/>
            <a:ext cx="97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24.24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758C3BA-706A-45AA-A49A-452C5A8E7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7909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Dueling DQN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7188F64-4250-4EA6-9866-7B34B3D3C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829050"/>
            <a:ext cx="1272212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DFF"/>
          </a:solidFill>
          <a:ln xmlns:a="http://schemas.openxmlformats.org/drawingml/2006/main" w="0">
            <a:solidFill>
              <a:srgbClr val="E5ED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61267CF-B7C9-488A-9F67-AB4F50298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3790950"/>
            <a:ext cx="97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19.16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21FA432-E42D-4511-88BD-BF9221C50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257675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交接策略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737E6B1-9006-4B33-AB04-2E194269E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295775"/>
            <a:ext cx="665821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DFF"/>
          </a:solidFill>
          <a:ln xmlns:a="http://schemas.openxmlformats.org/drawingml/2006/main" w="0">
            <a:solidFill>
              <a:srgbClr val="E5EDF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1BE23C0-EAA3-4674-B89B-D9D89626F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4257675"/>
            <a:ext cx="97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10.03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6901366-F1D7-4168-9D18-E74B0A83A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72440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PPO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766FFEA-B064-4A17-8C77-7A3730120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762500"/>
            <a:ext cx="608848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DFF"/>
          </a:solidFill>
          <a:ln xmlns:a="http://schemas.openxmlformats.org/drawingml/2006/main" w="0">
            <a:solidFill>
              <a:srgbClr val="E5ED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71BD81B-0EA9-4FE6-8B76-28F829226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4724400"/>
            <a:ext cx="97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9.17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2696959-9E71-4D90-B45D-206EEB3E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248275"/>
            <a:ext cx="5095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较最佳对照 +3.99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AC46F27-251B-4685-9BA1-2BB78A86A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572125"/>
            <a:ext cx="5095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95% 区间：+2.08 至 +8.29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3B6C084-D2D1-43D2-8752-65F2DD7EB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图示主要对照；原始比较共 11 种方法。本页是既有冻结算法版本的奖励结果。</a:t>
            </a:r>
          </a:p>
        </p:txBody>
      </p:sp>
    </p:spTree>
    <p:extLst>
      <p:ext uri="{BB962C8B-B14F-4D97-AF65-F5344CB8AC3E}">
        <p14:creationId xmlns:p14="http://schemas.microsoft.com/office/powerpoint/2010/main" val="5552976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CE33EE-DDF7-47F8-81BC-93ABD3DCD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EC45E8-BE2E-4EB4-BAFA-324CE1623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58ebf361124b49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9FD345-B0A4-43A1-B60A-EA16B378F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机制演示 · 资源复用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DFDBB3-80A6-4D51-93DF-0A5BA7771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模型共享示例：连续复用时搬运量更少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1A0053-FE99-4AF1-95DB-E08731712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810A57-49B3-454E-AD66-7F7608E1B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23D4DB-0336-4A80-8FE9-FB068E2B3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20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A84618-37D9-416E-BE53-E21506A15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1990725"/>
            <a:ext cx="1009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四种配置均完成 72 / 72 次请求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2C2DF8-0FC4-4B3D-9916-EF004D2F4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581275"/>
            <a:ext cx="335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相同模型连续使用 · 共享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3F6725-5E9A-4933-B4EC-06D6BD988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628900"/>
            <a:ext cx="2338917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EEFF"/>
          </a:solidFill>
          <a:ln xmlns:a="http://schemas.openxmlformats.org/drawingml/2006/main" w="0">
            <a:solidFill>
              <a:srgbClr val="BDEE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F41D77-5D47-4BFC-AFE6-6247395F5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2581275"/>
            <a:ext cx="1314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3,264 MiB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6B60B4-3FB9-49EB-AC9E-5837B52A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333750"/>
            <a:ext cx="335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交替使用不同模型 · 共享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FFCD1F-09CD-478C-BEEF-4C70CF785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381375"/>
            <a:ext cx="619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DFF"/>
          </a:solidFill>
          <a:ln xmlns:a="http://schemas.openxmlformats.org/drawingml/2006/main" w="0">
            <a:solidFill>
              <a:srgbClr val="E5E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75C835-8043-4CFC-AE9F-9949DDA8F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3333750"/>
            <a:ext cx="1314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8,640 MiB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91F168-A669-4BE9-B024-29BAF0F56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086225"/>
            <a:ext cx="335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相同模型连续使用 · 不共享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821FE8-BF17-474F-BE8B-5E638A31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133850"/>
            <a:ext cx="619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DFF"/>
          </a:solidFill>
          <a:ln xmlns:a="http://schemas.openxmlformats.org/drawingml/2006/main" w="0">
            <a:solidFill>
              <a:srgbClr val="E5ED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E10C9B-BD47-456F-B471-741087FE3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4086225"/>
            <a:ext cx="1314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8,640 MiB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A6F9B2-B108-43FA-B487-18B68B7F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838700"/>
            <a:ext cx="335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交替使用不同模型 · 不共享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3960B1-880E-4249-A0F6-4C26A58C6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886325"/>
            <a:ext cx="619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DFF"/>
          </a:solidFill>
          <a:ln xmlns:a="http://schemas.openxmlformats.org/drawingml/2006/main" w="0">
            <a:solidFill>
              <a:srgbClr val="E5ED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273024-209D-46C3-A108-62C928104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4838700"/>
            <a:ext cx="1314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8,640 MiB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56AF70-39F4-42A6-9126-98F101417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该示例说明：只有后续请求真正复用同一共享部分，资源账本才体现节省。</a:t>
            </a:r>
          </a:p>
        </p:txBody>
      </p:sp>
    </p:spTree>
    <p:extLst>
      <p:ext uri="{BB962C8B-B14F-4D97-AF65-F5344CB8AC3E}">
        <p14:creationId xmlns:p14="http://schemas.microsoft.com/office/powerpoint/2010/main" val="83769875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7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7429500" y="2976563"/>
            <a:ext cx="112395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18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552825" y="2976563"/>
            <a:ext cx="112395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FDE33F-071C-478B-B2FC-E09785C6C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793ED8-BC60-4ABE-83CF-48A5A9F01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02c2b67d064ee0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E9D338-37A7-43E5-9C50-9F84CF5D9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机制演示 · 连续执行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271DA5-E181-4BEA-AA0E-BCFC30BA6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状态接续示例：保存进度后，只执行剩余步骤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EF302A-4C3F-43FC-899C-81B17A9B5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B03E69-C2AC-49B1-A4DE-BBE7B311D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1ACAFC-9C5A-4ADC-A7E9-DC0ACDD37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21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E6542A-9905-4C41-858E-FDF2E7676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71725"/>
            <a:ext cx="2752725" cy="1209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完成第一步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保存执行进度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997029-8D23-4F61-BD7B-83F1EB9B9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371725"/>
            <a:ext cx="2752725" cy="1209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状态包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2,040 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DC9F5B-07E4-4FE1-9BBB-2FF0FBB2A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71725"/>
            <a:ext cx="2752725" cy="1209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恢复进度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运行后续步骤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EB2A6F-712F-48F5-A989-896B8853C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19600"/>
            <a:ext cx="48958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从头运行：32.504 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23EB54-335A-48BB-A421-50336C2B1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419600"/>
            <a:ext cx="48958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接续执行：21.370 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FDC0ED-CD6E-4131-A64E-FA9B72A5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同机两步样例中，后续步骤输入与输出一致；时间减少 11.134 秒。</a:t>
            </a:r>
          </a:p>
        </p:txBody>
      </p:sp>
    </p:spTree>
    <p:extLst>
      <p:ext uri="{BB962C8B-B14F-4D97-AF65-F5344CB8AC3E}">
        <p14:creationId xmlns:p14="http://schemas.microsoft.com/office/powerpoint/2010/main" val="120147786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45AE98-AB37-4D1E-B267-8F96F2046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54D475-37F7-470A-82F3-35438F587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abbc23a02e4419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86C325-A1D6-406C-8687-1F8248698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研究总结 · 四个要点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E874D0-C2FA-4891-952E-209298235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总结：把移动交接从“换位置”变成“接着做”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E0CBAF-5878-4249-8540-C2FD182B0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8C38A8-CEA9-4CF7-82AD-8958AE652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447059-F8AF-4539-A448-3E9D0186E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22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44E346-2714-45D3-AEB0-644D0E95F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009775"/>
            <a:ext cx="24193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研究问题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6B4CEE-0A41-43E7-9BF5-340A01A3D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047875"/>
            <a:ext cx="77343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关注完整任务链跨路侧站的连续完成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A90FC2-6E38-4E7D-A6A4-F4D323558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86075"/>
            <a:ext cx="24193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方法设计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2F4465-EEE8-4C22-8A9A-FB106F762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924175"/>
            <a:ext cx="77343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共同考虑模型复用、执行状态和车辆交接时机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AFB3ED-498D-41D0-8881-5F1ADF133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762375"/>
            <a:ext cx="24193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奖励结果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43270C-3804-42A6-83B9-95703B68A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800475"/>
            <a:ext cx="77343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既有冻结算法评估中，两组窗口的综合奖励均居首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F0A1C2-6598-4872-AE8F-D79D0D9D8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638675"/>
            <a:ext cx="24193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机制演示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163EB7-D0AD-442A-A0DF-1E2EC142D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676775"/>
            <a:ext cx="77343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资源账本展示共享复用；两步实例展示状态接续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1274FD-C0C7-4D7D-8E05-50159C982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奖励对照与机制演示有各自的实验设置，均在对应页标注。</a:t>
            </a:r>
          </a:p>
        </p:txBody>
      </p:sp>
    </p:spTree>
    <p:extLst>
      <p:ext uri="{BB962C8B-B14F-4D97-AF65-F5344CB8AC3E}">
        <p14:creationId xmlns:p14="http://schemas.microsoft.com/office/powerpoint/2010/main" val="132192728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9BDF81-D066-41C6-8059-B068835C2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053E8A-3627-43C8-A821-8FADA0CB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67145b2ce1488b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1803C3-6A9A-4413-A899-227CD4CF0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参考文献 · 论文来源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C7CA2A-B2CA-451E-A451-19A6DC064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主要参考文献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DDDDCB-3BEB-4738-81EE-72ABD66CA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16F5D-41A9-4DAE-9A70-0EF295BB1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4579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0CEF82-1CB1-4857-A9F4-01F246250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F3349E-E999-4D05-B91F-725802A57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移动边缘与任务调度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33F776-AE74-445A-944A-8A39557F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2000250"/>
            <a:ext cx="485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模型服务与方法基础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DBA85B-0AD2-4A56-B6F9-0D08FC0B1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43175"/>
            <a:ext cx="50196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COHCTO · TMC 2025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C7CD9D-08A4-4D46-A8AB-B473B959F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50196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LDMCO · TMC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4F904D-4C00-4AD6-84DC-4E669662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38525"/>
            <a:ext cx="50196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Ly-COMA · IET 2025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FE9EFB-6F87-448D-B2C8-4C314A873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86200"/>
            <a:ext cx="50196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Fan 等 · TVT 2024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E6A849-C304-403A-9564-89320B69E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33875"/>
            <a:ext cx="50196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MCMA · TMC 2025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E8BE15-AE49-4B18-A249-7F2009FD9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81550"/>
            <a:ext cx="50196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MATM · TVT 2026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703FF0-10CB-4250-9C73-27DE1C41B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29225"/>
            <a:ext cx="50196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AWTO · FGCS 2026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42B942-A717-4678-B5C8-0C691DEBF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2543175"/>
            <a:ext cx="4905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POLAR · arXiv 2026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61ADB8-2FB6-447E-BFC3-33A17E269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038475"/>
            <a:ext cx="4905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SLoRA · MLSys 2024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CDF4F8-4D67-4655-AB2D-54C9B543F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533775"/>
            <a:ext cx="4905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Punica · MLSys 2024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99BA3D-8F8F-4758-966E-47748C863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4029075"/>
            <a:ext cx="4905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WfCommons · FGCS 2022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75B3E7-60D2-4A90-8ED2-1A3B79DC0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4524375"/>
            <a:ext cx="4905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RUDDER · NeurIPS 2019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BD8AECF-96C9-4FDA-A639-6F2AD701F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5019675"/>
            <a:ext cx="4905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MAPPO · NeurIPS 2022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6C15A8-7261-48FC-B1C8-FFF6806F2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逐篇研究内容与本文对应问题见第 4—7 页。</a:t>
            </a:r>
          </a:p>
        </p:txBody>
      </p:sp>
    </p:spTree>
    <p:extLst>
      <p:ext uri="{BB962C8B-B14F-4D97-AF65-F5344CB8AC3E}">
        <p14:creationId xmlns:p14="http://schemas.microsoft.com/office/powerpoint/2010/main" val="14788299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2026-10-11T05:44:34.3130000Z</dcterms:created>
  <dcterms:modified xsi:type="dcterms:W3CDTF">2026-10-11T05:44:34.3130000Z</dcterms:modified>
</coreProperties>
</file>