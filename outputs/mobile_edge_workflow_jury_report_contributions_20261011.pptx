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0c987172a4d69" /><Relationship Type="http://schemas.openxmlformats.org/officeDocument/2006/relationships/extended-properties" Target="/docProps/app.xml" Id="Rfcf3688e32e94085" /><Relationship Type="http://schemas.openxmlformats.org/officeDocument/2006/relationships/officeDocument" Target="/ppt/presentation.xml" Id="R080e6ec43f044d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01c621f48749e4"/>
  </p:sldMasterIdLst>
  <p:notesMasterIdLst>
    <p:notesMasterId xmlns:r="http://schemas.openxmlformats.org/officeDocument/2006/relationships" r:id="R38a744aa7be345c1"/>
  </p:notesMasterIdLst>
  <p:sldIdLst>
    <p:sldId xmlns:r="http://schemas.openxmlformats.org/officeDocument/2006/relationships" id="256" r:id="Rfe0c7808bdfc48a8"/>
    <p:sldId xmlns:r="http://schemas.openxmlformats.org/officeDocument/2006/relationships" id="257" r:id="R2676dcfb073b498b"/>
    <p:sldId xmlns:r="http://schemas.openxmlformats.org/officeDocument/2006/relationships" id="258" r:id="Ra2c4a1b9ab16457c"/>
    <p:sldId xmlns:r="http://schemas.openxmlformats.org/officeDocument/2006/relationships" id="259" r:id="Rab57126de384409e"/>
    <p:sldId xmlns:r="http://schemas.openxmlformats.org/officeDocument/2006/relationships" id="260" r:id="Re8d267afcc854249"/>
    <p:sldId xmlns:r="http://schemas.openxmlformats.org/officeDocument/2006/relationships" id="261" r:id="Rbb17b76d350c494b"/>
    <p:sldId xmlns:r="http://schemas.openxmlformats.org/officeDocument/2006/relationships" id="262" r:id="Rddbe4ad82dc34bbd"/>
    <p:sldId xmlns:r="http://schemas.openxmlformats.org/officeDocument/2006/relationships" id="263" r:id="Ra7d3cb53cfde459b"/>
    <p:sldId xmlns:r="http://schemas.openxmlformats.org/officeDocument/2006/relationships" id="264" r:id="Re1acb19324ee4ced"/>
    <p:sldId xmlns:r="http://schemas.openxmlformats.org/officeDocument/2006/relationships" id="265" r:id="Rc496b068ee944321"/>
    <p:sldId xmlns:r="http://schemas.openxmlformats.org/officeDocument/2006/relationships" id="266" r:id="R28ab47f59e0742f9"/>
    <p:sldId xmlns:r="http://schemas.openxmlformats.org/officeDocument/2006/relationships" id="267" r:id="R887d179610154101"/>
    <p:sldId xmlns:r="http://schemas.openxmlformats.org/officeDocument/2006/relationships" id="268" r:id="R99e0df2eb62c415f"/>
    <p:sldId xmlns:r="http://schemas.openxmlformats.org/officeDocument/2006/relationships" id="269" r:id="R4657df3b600942e7"/>
    <p:sldId xmlns:r="http://schemas.openxmlformats.org/officeDocument/2006/relationships" id="270" r:id="R86793ad778c34a59"/>
    <p:sldId xmlns:r="http://schemas.openxmlformats.org/officeDocument/2006/relationships" id="271" r:id="R9a4634632e18493a"/>
    <p:sldId xmlns:r="http://schemas.openxmlformats.org/officeDocument/2006/relationships" id="272" r:id="R5d8ea24f32e24a68"/>
    <p:sldId xmlns:r="http://schemas.openxmlformats.org/officeDocument/2006/relationships" id="273" r:id="R6cb6326ff55c4563"/>
    <p:sldId xmlns:r="http://schemas.openxmlformats.org/officeDocument/2006/relationships" id="274" r:id="Rbce88eee1f514c75"/>
    <p:sldId xmlns:r="http://schemas.openxmlformats.org/officeDocument/2006/relationships" id="275" r:id="R96cede517a554fca"/>
    <p:sldId xmlns:r="http://schemas.openxmlformats.org/officeDocument/2006/relationships" id="276" r:id="Rc3bbe666ef0f4be4"/>
    <p:sldId xmlns:r="http://schemas.openxmlformats.org/officeDocument/2006/relationships" id="277" r:id="Rd4edd5581fff4b9c"/>
    <p:sldId xmlns:r="http://schemas.openxmlformats.org/officeDocument/2006/relationships" id="278" r:id="R802c1029a7e542d5"/>
    <p:sldId xmlns:r="http://schemas.openxmlformats.org/officeDocument/2006/relationships" id="279" r:id="R8e62252fa0c34e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ee6e0e80324c23" /><Relationship Type="http://schemas.openxmlformats.org/officeDocument/2006/relationships/slideMaster" Target="/ppt/slideMasters/slideMaster1.xml" Id="R4301c621f48749e4" /><Relationship Type="http://schemas.openxmlformats.org/officeDocument/2006/relationships/notesMaster" Target="/ppt/notesMasters/notesMaster1.xml" Id="R38a744aa7be345c1" /><Relationship Type="http://schemas.openxmlformats.org/officeDocument/2006/relationships/presProps" Target="/ppt/presProps.xml" Id="Ref9adcf916b14b1b" /><Relationship Type="http://schemas.openxmlformats.org/officeDocument/2006/relationships/tableStyles" Target="/ppt/tableStyles.xml" Id="R5fe4f6bcd52044c5" /><Relationship Type="http://schemas.openxmlformats.org/officeDocument/2006/relationships/slide" Target="/ppt/slides/slide1.xml" Id="Rfe0c7808bdfc48a8" /><Relationship Type="http://schemas.openxmlformats.org/officeDocument/2006/relationships/slide" Target="/ppt/slides/slide2.xml" Id="R2676dcfb073b498b" /><Relationship Type="http://schemas.openxmlformats.org/officeDocument/2006/relationships/slide" Target="/ppt/slides/slide3.xml" Id="Ra2c4a1b9ab16457c" /><Relationship Type="http://schemas.openxmlformats.org/officeDocument/2006/relationships/slide" Target="/ppt/slides/slide4.xml" Id="Rab57126de384409e" /><Relationship Type="http://schemas.openxmlformats.org/officeDocument/2006/relationships/slide" Target="/ppt/slides/slide5.xml" Id="Re8d267afcc854249" /><Relationship Type="http://schemas.openxmlformats.org/officeDocument/2006/relationships/slide" Target="/ppt/slides/slide6.xml" Id="Rbb17b76d350c494b" /><Relationship Type="http://schemas.openxmlformats.org/officeDocument/2006/relationships/slide" Target="/ppt/slides/slide7.xml" Id="Rddbe4ad82dc34bbd" /><Relationship Type="http://schemas.openxmlformats.org/officeDocument/2006/relationships/slide" Target="/ppt/slides/slide8.xml" Id="Ra7d3cb53cfde459b" /><Relationship Type="http://schemas.openxmlformats.org/officeDocument/2006/relationships/slide" Target="/ppt/slides/slide9.xml" Id="Re1acb19324ee4ced" /><Relationship Type="http://schemas.openxmlformats.org/officeDocument/2006/relationships/slide" Target="/ppt/slides/slide10.xml" Id="Rc496b068ee944321" /><Relationship Type="http://schemas.openxmlformats.org/officeDocument/2006/relationships/slide" Target="/ppt/slides/slide11.xml" Id="R28ab47f59e0742f9" /><Relationship Type="http://schemas.openxmlformats.org/officeDocument/2006/relationships/slide" Target="/ppt/slides/slide12.xml" Id="R887d179610154101" /><Relationship Type="http://schemas.openxmlformats.org/officeDocument/2006/relationships/slide" Target="/ppt/slides/slide13.xml" Id="R99e0df2eb62c415f" /><Relationship Type="http://schemas.openxmlformats.org/officeDocument/2006/relationships/slide" Target="/ppt/slides/slide14.xml" Id="R4657df3b600942e7" /><Relationship Type="http://schemas.openxmlformats.org/officeDocument/2006/relationships/slide" Target="/ppt/slides/slide15.xml" Id="R86793ad778c34a59" /><Relationship Type="http://schemas.openxmlformats.org/officeDocument/2006/relationships/slide" Target="/ppt/slides/slide16.xml" Id="R9a4634632e18493a" /><Relationship Type="http://schemas.openxmlformats.org/officeDocument/2006/relationships/slide" Target="/ppt/slides/slide17.xml" Id="R5d8ea24f32e24a68" /><Relationship Type="http://schemas.openxmlformats.org/officeDocument/2006/relationships/slide" Target="/ppt/slides/slide18.xml" Id="R6cb6326ff55c4563" /><Relationship Type="http://schemas.openxmlformats.org/officeDocument/2006/relationships/slide" Target="/ppt/slides/slide19.xml" Id="Rbce88eee1f514c75" /><Relationship Type="http://schemas.openxmlformats.org/officeDocument/2006/relationships/slide" Target="/ppt/slides/slide20.xml" Id="R96cede517a554fca" /><Relationship Type="http://schemas.openxmlformats.org/officeDocument/2006/relationships/slide" Target="/ppt/slides/slide21.xml" Id="Rc3bbe666ef0f4be4" /><Relationship Type="http://schemas.openxmlformats.org/officeDocument/2006/relationships/slide" Target="/ppt/slides/slide22.xml" Id="Rd4edd5581fff4b9c" /><Relationship Type="http://schemas.openxmlformats.org/officeDocument/2006/relationships/slide" Target="/ppt/slides/slide23.xml" Id="R802c1029a7e542d5" /><Relationship Type="http://schemas.openxmlformats.org/officeDocument/2006/relationships/slide" Target="/ppt/slides/slide24.xml" Id="R8e62252fa0c3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24bcb913124f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8ef66a73a489a" /><Relationship Type="http://schemas.openxmlformats.org/officeDocument/2006/relationships/notesMaster" Target="/ppt/notesMasters/notesMaster1.xml" Id="R768a80f6b7ff42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87928818584d29" /><Relationship Type="http://schemas.openxmlformats.org/officeDocument/2006/relationships/notesMaster" Target="/ppt/notesMasters/notesMaster1.xml" Id="R8e78f830698c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4556dc85a840a8" /><Relationship Type="http://schemas.openxmlformats.org/officeDocument/2006/relationships/notesMaster" Target="/ppt/notesMasters/notesMaster1.xml" Id="R8feaef80777b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d556954754b92" /><Relationship Type="http://schemas.openxmlformats.org/officeDocument/2006/relationships/notesMaster" Target="/ppt/notesMasters/notesMaster1.xml" Id="R13da3b838827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cd9b128784cb5" /><Relationship Type="http://schemas.openxmlformats.org/officeDocument/2006/relationships/notesMaster" Target="/ppt/notesMasters/notesMaster1.xml" Id="R42e2eb252e8645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618398a9e04e7f" /><Relationship Type="http://schemas.openxmlformats.org/officeDocument/2006/relationships/notesMaster" Target="/ppt/notesMasters/notesMaster1.xml" Id="R8ea52cc2e7c44d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72f4beb918450e" /><Relationship Type="http://schemas.openxmlformats.org/officeDocument/2006/relationships/notesMaster" Target="/ppt/notesMasters/notesMaster1.xml" Id="Rd059e03e58e643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ddac56e3b44ad7" /><Relationship Type="http://schemas.openxmlformats.org/officeDocument/2006/relationships/notesMaster" Target="/ppt/notesMasters/notesMaster1.xml" Id="R1b2d9bcad3c240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0ed0176a52427c" /><Relationship Type="http://schemas.openxmlformats.org/officeDocument/2006/relationships/notesMaster" Target="/ppt/notesMasters/notesMaster1.xml" Id="R62983b4a29ef4b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aea9526fa44210" /><Relationship Type="http://schemas.openxmlformats.org/officeDocument/2006/relationships/notesMaster" Target="/ppt/notesMasters/notesMaster1.xml" Id="R30fa461a649e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87254191a94909" /><Relationship Type="http://schemas.openxmlformats.org/officeDocument/2006/relationships/notesMaster" Target="/ppt/notesMasters/notesMaster1.xml" Id="Rd3ff6fc3839643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47490656de49ef" /><Relationship Type="http://schemas.openxmlformats.org/officeDocument/2006/relationships/notesMaster" Target="/ppt/notesMasters/notesMaster1.xml" Id="R335d81355f4c4a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2ff0ed85154a97" /><Relationship Type="http://schemas.openxmlformats.org/officeDocument/2006/relationships/notesMaster" Target="/ppt/notesMasters/notesMaster1.xml" Id="Rdcda1de30f944a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879fb284154fee" /><Relationship Type="http://schemas.openxmlformats.org/officeDocument/2006/relationships/notesMaster" Target="/ppt/notesMasters/notesMaster1.xml" Id="Ra7d5fef15a724a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db698223454882" /><Relationship Type="http://schemas.openxmlformats.org/officeDocument/2006/relationships/notesMaster" Target="/ppt/notesMasters/notesMaster1.xml" Id="R81dbb6ed700a48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cb333dfccf46fc" /><Relationship Type="http://schemas.openxmlformats.org/officeDocument/2006/relationships/notesMaster" Target="/ppt/notesMasters/notesMaster1.xml" Id="R8668e49009e84c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1a05184e4e4ef9" /><Relationship Type="http://schemas.openxmlformats.org/officeDocument/2006/relationships/notesMaster" Target="/ppt/notesMasters/notesMaster1.xml" Id="Rf52f802536cc44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8b414af4944894" /><Relationship Type="http://schemas.openxmlformats.org/officeDocument/2006/relationships/notesMaster" Target="/ppt/notesMasters/notesMaster1.xml" Id="R8a5e2f07bbad47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cfa12dea144d4e" /><Relationship Type="http://schemas.openxmlformats.org/officeDocument/2006/relationships/notesMaster" Target="/ppt/notesMasters/notesMaster1.xml" Id="Ra44440a9d1d44e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acf9f13fae4fb2" /><Relationship Type="http://schemas.openxmlformats.org/officeDocument/2006/relationships/notesMaster" Target="/ppt/notesMasters/notesMaster1.xml" Id="Rcd5fc2158a664f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f35765c9674b2f" /><Relationship Type="http://schemas.openxmlformats.org/officeDocument/2006/relationships/notesMaster" Target="/ppt/notesMasters/notesMaster1.xml" Id="Reb5f5907190945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f5ecde13f64bcd" /><Relationship Type="http://schemas.openxmlformats.org/officeDocument/2006/relationships/notesMaster" Target="/ppt/notesMasters/notesMaster1.xml" Id="R62f72b00b93d4a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02190898e243c7" /><Relationship Type="http://schemas.openxmlformats.org/officeDocument/2006/relationships/notesMaster" Target="/ppt/notesMasters/notesMaster1.xml" Id="R8ced9fd49a7a4d6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88515271e8487f" /><Relationship Type="http://schemas.openxmlformats.org/officeDocument/2006/relationships/notesMaster" Target="/ppt/notesMasters/notesMaster1.xml" Id="Ra82c30830df7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页｜让移动中的连续服务在路侧边缘稳定接续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依据：docs/project/system_mechanism_manuscript_working_draft.md；文献截点 2026-10-11。此稿用于研究汇报。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页｜先看一个问题：车开过路口，服务怎样接着做？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论文工作稿第 1 节。RSU 指路侧边缘服务器；任务链具有前后依赖。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页｜要“接着做”，下一站需要三样东西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三项分别对应 DAG predecessor result、兼容模型与可恢复的执行状态。缓存命中不等同于整体完成。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页｜相关工作：任务依赖与移动迁移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等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页｜相关工作：预测、模型缓存与移动服务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页｜相关工作：模型服务与方法基础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页｜横向对比：我们的研究把五个问题连在一起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●=论文公开研究直接涉及；◐=相邻或部分；—=非核心。本研究一行表示研究问题的覆盖范围，不表示每项效果已由正式实验确认。出处见前 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页｜研究贡献：联合准备与两项机制验证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贡献一依据 docs/project/system_mechanism_manuscript_working_draft.md 的研究模型。贡献二源自 artifacts/analysis/mechanism_evidence_closure_20261005_v1/experiment_a_shared_cache_cost.json：原生仿真账本四配置，其中相同完成量的连续共享与交替共享各完成72/72请求，base传输相差5,637,144,576字节，即5,376 MiB。贡献三源自 artifacts/analysis/two_node_workflow_reexecution_comparison_20261005_v1/terminal_receipt.json：固定两节点技术任务、同机单次真实模型调用；恢复端仅执行后续节点，输入/输出逐项一致，状态包2,040 B，child wall为21.3695765秒与重跑32.503856834秒，相差11.134秒。两项实验是各自的有界机制证据，不直接证明联合算法性能或实际跨站无线收益。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页｜研究问题：怎样让准备工作真正帮助任务完成？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论文工作稿第 1 节。三问分别对应共享复用、交接准备和控制方法；问题是待检验命题。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页｜方法直觉：先看下一步，再准备下一站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依据论文第 3 节：依赖前沿、目标站资源账本、增量准备、交接后继续。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页｜什么时候提前准备？看三个可观测因素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概念性决策因素：handoff timing、目标端现有资源、增量字节与容量。此页不是实验结果。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页｜系统结构：数据、路侧环境与控制方法形成闭环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docs/project/advisor_report_briefing_20260621.md 的系统 Mermaid 图和论文工作稿重绘。NGSIM 与 Alibaba 分别提供轨迹和工作流。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页｜资源模型：共享部分只搬一次，专用部分按需补齐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3 节。base、adapter、workflow state 为不同对象；增量成本按目标站尚未驻留的唯一对象计。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页｜控制方法有五种实际选择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对应当前环境的五类 semantic actions。页面采用面向报告的语义名称，不展示代码编号。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页｜算法结构：同一份信息，支持三个时间尺度的决策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docs/project/advisor_report_briefing_20260621.md 与论文第 4 节重绘：7 个 64 维输入块，经 448→128→64 融合，输出 slow/fast/event decisions 和价值估计。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页｜奖励设计：鼓励服务推进，也计入资源与时延成本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src/envs/core/vec_workflow_core_env.py:416-577。展示 RewardBreakdown 的简化分组。真实传输字节未直接从 reward 中扣除，应在系统评价中另报。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页｜论文中的奖励收敛图（原图）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来源：outputs/sa_ghmappo_reward_visuals_20260716/reward_convergence_selected.png；说明文档：docs/project/sa_ghmappo_reward_convergence_and_advantage_visuals_20260716.md。对应 strict_full_v8_dev_screen_20260621_v2；五个 seed，每个约 96 个训练 episode，展示 12-episode 滑动平均。该图说明训练过程中的奖励变化，属于 dev-screen 训练曲线。后页冻结评估的奖励对照来自另一实验版本，不应将两页数值直接合并解释。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页｜实验数据：用真实车辆轨迹和真实任务链驱动仿真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5.1 节。NGSIM 提供 mobility trace；Alibaba 提供 workflow DAG。二者并非同一现场联合观测；服务所需模型按实验设定映射。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页｜实验设计：先测机制，再比较决策方法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5.2/5.3 节。左侧四种机制组合是确认性实验设计，并非当前已完成的正式比较结果。右侧算法比较需使用一致观测、动作和训练预算。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页｜冻结评估：综合奖励在两组窗口均排名第一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reviewed_at: 2026-10-11；literature_cutoff: 2026-10-11；target_venue: IEEE TMC；policy_version: tmc_review_policy_v3_20260621；git_commit_at_review: d3e2bae；evidence_level: E2_ARTIFACT_AUDITED（既有冻结算法版本）。</a:t>
            </a:r>
          </a:p>
          <a:p xmlns:a="http://schemas.openxmlformats.org/drawingml/2006/main">
            <a:r>
              <a:t>正式 run: top_journal_v100_urgency_safe_resource_full_20260808/benchmarks/formal_full_stratified/main_results_full_stratified_20260808_183339_526215；原始 benchmark_rows.csv 共 1320 行，11 方法×20 原始窗口×2 工作流×3 seed；配对统计: artifacts/experiments/top_journal_v100_urgency_safe_resource_full_20260808/statistics/formal_full_stratified/paired_statistics.json。</a:t>
            </a:r>
          </a:p>
          <a:p xmlns:a="http://schemas.openxmlformats.org/drawingml/2006/main">
            <a:r>
              <a:t>后续独立 run: top_journal_v100_future_validation_v20_20260809/main_results_full_stratified_20260809_041440_446507；原始 benchmark_rows.csv 共 990 行，11 方法×15 原始窗口×2 工作流×3 seed；配对统计: artifacts/experiments/top_journal_v100_future_validation_v20_20260809/statistics/paired_statistics.json。</a:t>
            </a:r>
          </a:p>
          <a:p xmlns:a="http://schemas.openxmlformats.org/drawingml/2006/main">
            <a:r>
              <a:t>对最强对照“受欢迎程度缓存规则”，正式奖励差 +0.3475，window-outer BCa 95% CI [0.1550,0.60082]；后续独立奖励差 +3.9920，CI [2.077111,8.290975]。两批实验均 reward_positive_offset=0，环境奖励定义一致。页面图示 6 种方法；原始表中共 11 种方法，所提版本在两批均第一。此历史算法线与 2026-09 系统机制工作稿的开发矩阵分开，不合并为同一投稿主表，也不据此声称所有系统指标领先。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页｜模型共享示例：连续复用时搬运量更少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来源：artifacts/analysis/mechanism_evidence_closure_20261005_v1/。四种配置均完成72/72请求。数字是机制级资源账本，非实际无线链路吞吐。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页｜状态接续示例：保存进度后，只执行剩余步骤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来源：artifacts/analysis/two_node_workflow_reexecution_comparison_20261005_v1/。两节点、同机、单次技术样例；状态包 2,040 B，输出与从头运行一致。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页｜总结：把移动交接从“换位置”变成“接着做”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研究框架、既有冻结算法奖励对照与机制示例分别陈述。正式跨 RSU 端到端机制效果仍以相应独立实验为准。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页｜主要参考文献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文献截点：2026-10-11。完整 DOI/URL：</a:t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等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  <a:p xmlns:a="http://schemas.openxmlformats.org/drawingml/2006/main">
            <a:r>
              <a:t>方法与数值来源：docs/project/system_mechanism_manuscript_working_draft.md；artifacts/analysis/mechanism_evidence_closure_20261005_v1/；artifacts/analysis/two_node_workflow_reexecution_comparison_20261005_v1/；artifacts/experiments/top_journal_v100_urgency_safe_resource_full_20260808/；artifacts/experiments/top_journal_v100_future_validation_v20_20260809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beeaa1e0e41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2fe38c9ce40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10d496b6a4f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b6f146d2d48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961d8d65247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b5bd2f97347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E9346CA-96E7-40EB-B72D-CC19E18A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07C2BE-2A1D-4C2B-B88C-CA5AB25CD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0340193-4C6B-4B02-BDC2-A10DEDE59A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8271570-5AAA-48C9-BD69-C211681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EF4F3E-C175-4A73-8933-D1AC8FE09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DF35A84-190A-4B4A-8E7A-E5686B9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2A1CB9-EB40-4E9C-930B-553D0CB0D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F352358-B219-404A-AA4A-517B317207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DCF4744-90B7-49C4-BB37-287FA272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7C65A1-E0F6-4FF2-BE9A-143DC1EA2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9816C8-54EF-4D86-B77E-CC9780D888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68215D-2CB7-4119-A184-D9EAE89630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5BFB15B-EB0A-46C2-A3AC-0B03864F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791679-B36A-460B-9702-73B92EBC3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6F5341-C7B8-4B76-9BBF-58C9CA6571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3bfb8847e94346" /><Relationship Type="http://schemas.openxmlformats.org/officeDocument/2006/relationships/slideLayout" Target="/ppt/slideLayouts/slideLayout1.xml" Id="Rbafdcfc9a0334050" /><Relationship Type="http://schemas.openxmlformats.org/officeDocument/2006/relationships/slideLayout" Target="/ppt/slideLayouts/slideLayout2.xml" Id="R69d1db9baf87428b" /><Relationship Type="http://schemas.openxmlformats.org/officeDocument/2006/relationships/slideLayout" Target="/ppt/slideLayouts/slideLayout3.xml" Id="R4be70d06628d4f09" /><Relationship Type="http://schemas.openxmlformats.org/officeDocument/2006/relationships/slideLayout" Target="/ppt/slideLayouts/slideLayout4.xml" Id="R0af8fa20c56141e4" /><Relationship Type="http://schemas.openxmlformats.org/officeDocument/2006/relationships/slideLayout" Target="/ppt/slideLayouts/slideLayout5.xml" Id="R66cfaf885b024e18" /><Relationship Type="http://schemas.openxmlformats.org/officeDocument/2006/relationships/slideLayout" Target="/ppt/slideLayouts/slideLayout6.xml" Id="R53364605a2f14d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dcfc9a0334050"/>
    <p:sldLayoutId xmlns:r="http://schemas.openxmlformats.org/officeDocument/2006/relationships" id="2147483650" r:id="R69d1db9baf87428b"/>
    <p:sldLayoutId xmlns:r="http://schemas.openxmlformats.org/officeDocument/2006/relationships" id="2147483651" r:id="R4be70d06628d4f09"/>
    <p:sldLayoutId xmlns:r="http://schemas.openxmlformats.org/officeDocument/2006/relationships" id="2147483652" r:id="R0af8fa20c56141e4"/>
    <p:sldLayoutId xmlns:r="http://schemas.openxmlformats.org/officeDocument/2006/relationships" id="2147483653" r:id="R66cfaf885b024e18"/>
    <p:sldLayoutId xmlns:r="http://schemas.openxmlformats.org/officeDocument/2006/relationships" id="2147483654" r:id="R53364605a2f14d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5ab5b3c534f66" /><Relationship Type="http://schemas.openxmlformats.org/officeDocument/2006/relationships/image" Target="/ppt/media/image.png" Id="R47822460b43445aa" /><Relationship Type="http://schemas.openxmlformats.org/officeDocument/2006/relationships/notesSlide" Target="/ppt/notesSlides/notesSlide1.xml" Id="R9ae298199ddf40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65de8ad9734978" /><Relationship Type="http://schemas.openxmlformats.org/officeDocument/2006/relationships/image" Target="/ppt/media/image2.png" Id="Rb68137c69f6442d0" /><Relationship Type="http://schemas.openxmlformats.org/officeDocument/2006/relationships/notesSlide" Target="/ppt/notesSlides/notesSlide2.xml" Id="Rfb97905b8efa47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d7a6242f34d16" /><Relationship Type="http://schemas.openxmlformats.org/officeDocument/2006/relationships/image" Target="/ppt/media/image3.png" Id="Rc7bb0aa8b5ce434b" /><Relationship Type="http://schemas.openxmlformats.org/officeDocument/2006/relationships/notesSlide" Target="/ppt/notesSlides/notesSlide3.xml" Id="R7d277cecb1d64f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d2714cd8e4dca" /><Relationship Type="http://schemas.openxmlformats.org/officeDocument/2006/relationships/image" Target="/ppt/media/image4.png" Id="Rf8e8803259d241a1" /><Relationship Type="http://schemas.openxmlformats.org/officeDocument/2006/relationships/notesSlide" Target="/ppt/notesSlides/notesSlide4.xml" Id="R0fd666921a3d44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9d14b0d944f91" /><Relationship Type="http://schemas.openxmlformats.org/officeDocument/2006/relationships/image" Target="/ppt/media/image5.png" Id="Raaccb0679a9549f1" /><Relationship Type="http://schemas.openxmlformats.org/officeDocument/2006/relationships/notesSlide" Target="/ppt/notesSlides/notesSlide5.xml" Id="Rda0e34648bd3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7bcf23609494b" /><Relationship Type="http://schemas.openxmlformats.org/officeDocument/2006/relationships/image" Target="/ppt/media/image6.png" Id="R4a25d9cbf62c402a" /><Relationship Type="http://schemas.openxmlformats.org/officeDocument/2006/relationships/notesSlide" Target="/ppt/notesSlides/notesSlide6.xml" Id="Rbd3f9050848d48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cefb2aeef4ce0" /><Relationship Type="http://schemas.openxmlformats.org/officeDocument/2006/relationships/image" Target="/ppt/media/image7.png" Id="R8cebd1f821684497" /><Relationship Type="http://schemas.openxmlformats.org/officeDocument/2006/relationships/notesSlide" Target="/ppt/notesSlides/notesSlide7.xml" Id="R8371f35d944b41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bac0a5802472a" /><Relationship Type="http://schemas.openxmlformats.org/officeDocument/2006/relationships/image" Target="/ppt/media/image8.png" Id="Re4b4c7fdfc56476f" /><Relationship Type="http://schemas.openxmlformats.org/officeDocument/2006/relationships/notesSlide" Target="/ppt/notesSlides/notesSlide8.xml" Id="R9452a50844984e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9d3e7cd004245" /><Relationship Type="http://schemas.openxmlformats.org/officeDocument/2006/relationships/image" Target="/ppt/media/image9.png" Id="R29069d5a543e4b97" /><Relationship Type="http://schemas.openxmlformats.org/officeDocument/2006/relationships/notesSlide" Target="/ppt/notesSlides/notesSlide9.xml" Id="Ra15986e05d3c4f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1959816b8e440d" /><Relationship Type="http://schemas.openxmlformats.org/officeDocument/2006/relationships/image" Target="/ppt/media/image10.png" Id="R386a8fc1dcf04e3e" /><Relationship Type="http://schemas.openxmlformats.org/officeDocument/2006/relationships/notesSlide" Target="/ppt/notesSlides/notesSlide10.xml" Id="R007aece3a8eb43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5134bdc1044f8" /><Relationship Type="http://schemas.openxmlformats.org/officeDocument/2006/relationships/image" Target="/ppt/media/image11.png" Id="R60732586d3234b44" /><Relationship Type="http://schemas.openxmlformats.org/officeDocument/2006/relationships/notesSlide" Target="/ppt/notesSlides/notesSlide11.xml" Id="R759bbdb6647146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1ef18e72a46b1" /><Relationship Type="http://schemas.openxmlformats.org/officeDocument/2006/relationships/image" Target="/ppt/media/image12.png" Id="R442c9f43cab14f20" /><Relationship Type="http://schemas.openxmlformats.org/officeDocument/2006/relationships/notesSlide" Target="/ppt/notesSlides/notesSlide12.xml" Id="R22caf654847042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42bc2880d4e3d" /><Relationship Type="http://schemas.openxmlformats.org/officeDocument/2006/relationships/image" Target="/ppt/media/image13.png" Id="Rdbb3a557fb324a6b" /><Relationship Type="http://schemas.openxmlformats.org/officeDocument/2006/relationships/notesSlide" Target="/ppt/notesSlides/notesSlide13.xml" Id="R7643cdc19dda41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a4bdbbf774a3c" /><Relationship Type="http://schemas.openxmlformats.org/officeDocument/2006/relationships/image" Target="/ppt/media/image14.png" Id="R6c0d1b7f7c2b4bfb" /><Relationship Type="http://schemas.openxmlformats.org/officeDocument/2006/relationships/notesSlide" Target="/ppt/notesSlides/notesSlide14.xml" Id="R19e7252bad8d4f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709f48acc4d33" /><Relationship Type="http://schemas.openxmlformats.org/officeDocument/2006/relationships/image" Target="/ppt/media/image15.png" Id="R3639907d84e94bc4" /><Relationship Type="http://schemas.openxmlformats.org/officeDocument/2006/relationships/notesSlide" Target="/ppt/notesSlides/notesSlide15.xml" Id="Rbd0d774e0d664d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e5c1925a34db8" /><Relationship Type="http://schemas.openxmlformats.org/officeDocument/2006/relationships/image" Target="/ppt/media/image16.png" Id="Rae4438087d2c436d" /><Relationship Type="http://schemas.openxmlformats.org/officeDocument/2006/relationships/notesSlide" Target="/ppt/notesSlides/notesSlide16.xml" Id="R143176c44c1d4e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a704e1a4b48a8" /><Relationship Type="http://schemas.openxmlformats.org/officeDocument/2006/relationships/image" Target="/ppt/media/image17.png" Id="Rf589edcfaeb04322" /><Relationship Type="http://schemas.openxmlformats.org/officeDocument/2006/relationships/image" Target="/ppt/media/image18.png" Id="R584c8d013d194e9d" /><Relationship Type="http://schemas.openxmlformats.org/officeDocument/2006/relationships/notesSlide" Target="/ppt/notesSlides/notesSlide17.xml" Id="Rfd0ce4fc0a144c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a35c96a74461f" /><Relationship Type="http://schemas.openxmlformats.org/officeDocument/2006/relationships/image" Target="/ppt/media/image19.png" Id="Rb448c367f4884297" /><Relationship Type="http://schemas.openxmlformats.org/officeDocument/2006/relationships/notesSlide" Target="/ppt/notesSlides/notesSlide18.xml" Id="R6ae25728261448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bd475a7bd4b6a" /><Relationship Type="http://schemas.openxmlformats.org/officeDocument/2006/relationships/image" Target="/ppt/media/image20.png" Id="R494fd9a5ba6e42d3" /><Relationship Type="http://schemas.openxmlformats.org/officeDocument/2006/relationships/notesSlide" Target="/ppt/notesSlides/notesSlide19.xml" Id="R3a407e2d6c3548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573f284454d96" /><Relationship Type="http://schemas.openxmlformats.org/officeDocument/2006/relationships/image" Target="/ppt/media/image21.png" Id="R0eaf5ea4de124c87" /><Relationship Type="http://schemas.openxmlformats.org/officeDocument/2006/relationships/notesSlide" Target="/ppt/notesSlides/notesSlide20.xml" Id="R26e73cf58ed44f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f6a87f3fb45cd" /><Relationship Type="http://schemas.openxmlformats.org/officeDocument/2006/relationships/image" Target="/ppt/media/image22.png" Id="R5d85317c4d4e4833" /><Relationship Type="http://schemas.openxmlformats.org/officeDocument/2006/relationships/notesSlide" Target="/ppt/notesSlides/notesSlide21.xml" Id="R1fdd01ed2f1c42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bc4e221dd4294" /><Relationship Type="http://schemas.openxmlformats.org/officeDocument/2006/relationships/image" Target="/ppt/media/image23.png" Id="R9078e87e380c4afd" /><Relationship Type="http://schemas.openxmlformats.org/officeDocument/2006/relationships/notesSlide" Target="/ppt/notesSlides/notesSlide22.xml" Id="Rd44df3dece924e8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706dd78a9405a" /><Relationship Type="http://schemas.openxmlformats.org/officeDocument/2006/relationships/image" Target="/ppt/media/image24.png" Id="R8be1711ce1324d02" /><Relationship Type="http://schemas.openxmlformats.org/officeDocument/2006/relationships/notesSlide" Target="/ppt/notesSlides/notesSlide23.xml" Id="Rf425407b981a49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87f72bfc34488" /><Relationship Type="http://schemas.openxmlformats.org/officeDocument/2006/relationships/image" Target="/ppt/media/image25.png" Id="Rd5e01eec29d14457" /><Relationship Type="http://schemas.openxmlformats.org/officeDocument/2006/relationships/notesSlide" Target="/ppt/notesSlides/notesSlide24.xml" Id="R209f636cc18446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67A5B-BA45-49ED-8E11-D6D5E5D5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6F77F-F36C-496D-ACC5-176CEE7E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22460b43445a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F0CBB-B24D-45DC-AA3F-6D94DA46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广东工业大学 · 学术研究汇报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26217-D670-4192-8E20-BBF277EB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让移动中的连续服务在路侧边缘稳定接续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0A90B-8ABC-4119-ADFB-47C4588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1CCE8-67DE-4DD3-873D-BB35378F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2D268-7C83-435B-8DC0-77D2DF9B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模型复用与执行状态协同准备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A5329-17DC-4FED-8684-4E9B25A4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90900"/>
            <a:ext cx="1038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研究背景 · 相关工作 · 系统方法 · 实验与发现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1FFF6-AD60-4690-84A8-57036FF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D51C4-C2F9-49DC-8D11-063E8B4A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Dependency-Aware Preparation for Mobile Edge Workflows</a:t>
            </a:r>
          </a:p>
        </p:txBody>
      </p:sp>
    </p:spTree>
    <p:extLst>
      <p:ext uri="{BB962C8B-B14F-4D97-AF65-F5344CB8AC3E}">
        <p14:creationId xmlns:p14="http://schemas.microsoft.com/office/powerpoint/2010/main" val="2135492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24675" y="30765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0765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220D6-711B-429C-BC8F-957D108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BD423-9982-4689-BC9F-B2F2308C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137c69f6442d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407C6-6D29-4590-B3D5-B51CCE0B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研究背景 · 一分钟理解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B8EFA-1AE5-4F9F-A649-6EFFBF74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先看一个问题：车开过路口，服务怎样接着做？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C4204-C189-48A2-81D2-F299B6B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6D623-96A0-4987-A63B-3B95516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C5C0A-654E-46C3-976F-39971C38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2647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路侧站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完成前一步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99307-C391-4BEE-AD62-494D368F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2225"/>
            <a:ext cx="2352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车辆驶向下一站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A789B-0B29-4F46-8A69-7E0D62ED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62225"/>
            <a:ext cx="3276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路侧站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继续下一步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B64E6-8E2A-4404-BCE6-E3E6D97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42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我们关注的不是一次任务放在哪里，而是整条服务链能否连续完成。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126FA-E4C4-4540-99AB-0F224FF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路侧站：靠近车辆部署的边缘服务器；连续服务：后一步要使用前一步的结果。</a:t>
            </a:r>
          </a:p>
        </p:txBody>
      </p:sp>
    </p:spTree>
    <p:extLst>
      <p:ext uri="{BB962C8B-B14F-4D97-AF65-F5344CB8AC3E}">
        <p14:creationId xmlns:p14="http://schemas.microsoft.com/office/powerpoint/2010/main" val="1086947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72375" y="33909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71900" y="33909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D9C16-7370-400E-A0AC-1A5EB44F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5A755-B784-4EB0-ADED-D2087530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b0aa8b5ce434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B8FB9-720B-4DA6-B8DC-3AE97CA5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研究背景 · 问题分解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1E575-4780-4003-B224-17E573C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要“接着做”，下一站需要三样东西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84AAB-7827-4807-AE60-E506287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3E71E-8772-41C9-AEF0-A034516F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AC95A-B945-4C42-8D6C-8F8E95AF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2962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前一步的结果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知道任务做到哪里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602CA-70F2-4600-874A-0A55D378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2962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可用的模型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具备执行下一步的能力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ED84B-FFBE-42F8-9EA1-CC33DB7B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28875"/>
            <a:ext cx="2962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运行时状态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能从断点继续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FD9DB-E52F-40D0-835E-6A2C88A0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006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这三件事必须在同一个交接窗口内相互配合。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199A7-ED2B-4124-8A16-03EC4112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“有先后依赖的工作流”在论文中记为 DAG。</a:t>
            </a:r>
          </a:p>
        </p:txBody>
      </p:sp>
    </p:spTree>
    <p:extLst>
      <p:ext uri="{BB962C8B-B14F-4D97-AF65-F5344CB8AC3E}">
        <p14:creationId xmlns:p14="http://schemas.microsoft.com/office/powerpoint/2010/main" val="1406138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EAE59-5DAC-44D2-B2AA-8BD8A838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07C03-C734-4AF2-836A-E6BD47A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8803259d241a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EC135-760B-4521-999F-4E8866A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文献对比 1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E16AD-B4F9-4529-BE6F-D52CA21A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相关工作：任务依赖与移动迁移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9526D-FDB5-4243-8EA7-22B7DAB9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F6C4C-E035-411C-9264-C5ACAC43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85B10-17B7-45EF-B4DF-740946C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代表论文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5E9D6-5A0D-4EDE-AE76-894EED50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这篇论文解决了什么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02A1D-29D0-4AAE-A7EE-8A68048B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我们进一步研究什么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F2FEF-E733-46ED-9341-57DFE40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471E5-35F2-406C-9F49-1B404D94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COHCTO · TMC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D7AD3-3082-4E32-A167-E39FC8E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把任务依赖和服务缓存一起纳入卸载。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EB1E2-DE49-492D-9582-DDBB8611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继续研究交接时，模型组件与执行进度如何一同到位。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461C3-AAC1-4FC6-9A4A-0464DCA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D33B6-3822-421C-A3E9-49FD5EBF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LDMCO · TMC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B2392-354B-4E2C-B071-D454AA6E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00375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针对有先后顺序的任务，优化数据依赖与执行时机。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61915-7670-421A-B21C-DCB86A93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进一步研究任务跨路侧站后，已完成的进度如何保留。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8D6A1-00C4-4524-9C24-F01F6C7A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F87BC-5470-43AE-80BF-4B1902F4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Ly-COMA · IET 2025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88B64-5170-4F8D-817F-D8A0A0A7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9570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把有依赖的子任务与跨边缘迁移放在一起。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B1C7C-1879-458F-AA5B-9C3A22C4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9570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进一步区分共享模型、专用模块与执行状态的准备。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79D19-224A-4BEB-AC35-229B4DC4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63B3D-3C8B-4AE2-8DAE-6F7C6064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Fan 等 · TVT 2024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7564A-D44E-494A-B60B-ABD797F7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91025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利用车辆携带依赖结果，支持无回传链路迁移。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2D28E4-7474-474F-9429-DB21B486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91025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进一步研究模型复用与准备开销、完成量的关系。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5CF8D-5381-4818-A09C-61F7B8DF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D12D0-2E31-4689-B421-40D07717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MCMA · TMC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9BEE9-B918-4995-8BEC-2114A2ED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863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用轨迹预测指导任务迁移和卸载。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2C4CA-872B-4D71-90DB-35E2507E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0863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进一步关注整条任务链跨站继续，而不只决定迁往哪里。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15AD7-C7C1-450A-8F59-41C2772C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逐篇对比的是研究对象与问题边界；详细出处见演讲备注。</a:t>
            </a:r>
          </a:p>
        </p:txBody>
      </p:sp>
    </p:spTree>
    <p:extLst>
      <p:ext uri="{BB962C8B-B14F-4D97-AF65-F5344CB8AC3E}">
        <p14:creationId xmlns:p14="http://schemas.microsoft.com/office/powerpoint/2010/main" val="495222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3E759-D176-4B30-B91A-BD43AD5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3E5E7-8D2D-4157-AA08-A849B427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cb0679a9549f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BB165-F63D-4E48-998B-0B0806FB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文献对比 2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35E73-D242-44A5-9A9E-FA2AE336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相关工作：预测、模型缓存与移动服务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8648C-E6CD-4A3B-A1BF-B8F4336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2AAEF-D7AA-4DE4-90AB-6A15C13A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04148-8538-4AFB-A03B-390B4BA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代表论文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D9BC0-5871-488E-9CEC-6233194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这篇论文解决了什么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3B438-1BF3-4920-9EEF-16FD9E31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我们进一步研究什么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60752-4686-472A-9795-F1626F6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85F0F-8C76-41EE-B5A4-11094D3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MATM · TVT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6E975-99D0-4F6A-9123-9C546E76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结合轨迹预测、任务迁移与资源分配。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678AC-DBB2-49C1-98C4-82033BE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进一步让目标站的模型与后续执行所需状态共同就绪。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BA0B4-26AB-4EB7-8771-7FA24496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3A358-4B52-4AA2-8AE2-3DC8C072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AWTO · FGCS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A4667-9694-4E52-92EA-43E8AED6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在边缘集群中联动工作流调度、模型加载与内存。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265FE-FC93-4E1C-8C4E-CF2F0DC8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623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进一步处理车辆移动造成的路侧站交接。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DB39B-6DC5-4B1F-B3D2-EC1043C3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D12CF-99FF-40A4-9B55-767B3C31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 · arXiv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68975-B1E9-4A14-A579-3F03E954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0195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联合管理专用模型模块的缓存与请求路由。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A51FB-9A01-483F-9312-696ACC79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9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进一步纳入任务先后依赖、车辆移动和中途继续执行。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677DD-95D1-4F72-8E01-E067199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C1D2E-127E-43F2-8E77-09BBF3F7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SLoRA · MLSys 2024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8622E-BEAA-494E-82C1-DD3FAC8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一份共享模型支持大量专用模块的高效服务。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C3ED9-B883-4AF3-A0FA-E0EFE1EB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768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进一步决定跨站交接前，哪些组件值得提前准备。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C03BF-0AD5-43B9-AA1E-0469CF10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逐篇对比的是研究对象与问题边界；详细出处见演讲备注。</a:t>
            </a:r>
          </a:p>
        </p:txBody>
      </p:sp>
    </p:spTree>
    <p:extLst>
      <p:ext uri="{BB962C8B-B14F-4D97-AF65-F5344CB8AC3E}">
        <p14:creationId xmlns:p14="http://schemas.microsoft.com/office/powerpoint/2010/main" val="14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31533-0765-4492-9A7C-BF4CDAFC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9CDC5-4D11-4DCA-B08F-290737C8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5d9cbf62c402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8D679-CD41-4DA6-9D36-CF85FF7D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文献对比 3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D2412-5646-46C5-8365-13CD1D35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相关工作：模型服务与方法基础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D8995-0666-495A-B066-B07C710D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5A709-7AD0-42C4-BAE1-ECB4499B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6D11A-48B0-4FBD-8F21-B8160DF5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代表论文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1296B-9476-47F3-9122-F36C60F6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这篇论文解决了什么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9BCE3-6335-4C5F-9D37-9D862D16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我们进一步研究什么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56F03-7F5C-4B11-A0A1-C1B7EF35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F566F-5A48-412F-B254-C45FF269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Punica · MLSys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E0252-39B3-470B-88F4-56B0396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利用共享模型服务多个专用模块请求。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EAB74-A653-4861-863E-4A875AE7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进一步研究车辆移动时的模块放置与后续任务执行。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D447B-D167-4A2D-8C22-742F829C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98BAE-03E5-4558-84C3-C4BAE99B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WfCommons · FGCS 2022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539EC-7381-4741-8B3C-8861D37F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分析并生成具有真实结构特征的工作流。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8FFA5-7AAC-4C61-87C0-D89E10B1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623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进一步把工作流结构与车辆轨迹、路侧资源联系起来。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39267-35B2-46CD-860B-588FA63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EBA76-0508-4708-A3EE-F43BE1BF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RUDDER · NeurIPS 2019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B5D67-EF6A-45E6-B21A-69E9D225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0195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研究长期任务中如何分配延迟到来的奖励。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ED277-4FC2-4176-BF7B-E179870B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9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进一步落到模型准备、交接与传输开销的具体系统问题。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1D42E-7A2B-4DE1-902D-F56927FD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3A739-8E6B-4E89-9084-22AB8A65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MAPPO · NeurIPS 2022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6B4B0-9069-4E06-B716-75F8CB8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提供合作式强化学习的基线方法与经验。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01A90-BA27-463F-B0A8-91606D6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768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进一步建立车辆、路侧站和连续工作流的系统模型。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B827B-C5F0-44CC-BED3-CD1EC8D4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逐篇对比的是研究对象与问题边界；详细出处见演讲备注。</a:t>
            </a:r>
          </a:p>
        </p:txBody>
      </p:sp>
    </p:spTree>
    <p:extLst>
      <p:ext uri="{BB962C8B-B14F-4D97-AF65-F5344CB8AC3E}">
        <p14:creationId xmlns:p14="http://schemas.microsoft.com/office/powerpoint/2010/main" val="550734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2E5F6E-F76E-40EB-8734-537BEFEA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B2B76-1F5D-464A-A9F0-39303DBE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bd1f82168449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89E3E-7576-4BD8-89C3-57F5FEC3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文献定位 · 研究范围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8D356-F939-4E5D-B462-BF1A7BF0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横向对比：我们的研究把五个问题连在一起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43B0F-594F-4B22-8F04-367F1B66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5C9FA-8A25-4B21-B6A8-842A8F0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8563B-AFF8-40C9-8AC0-9499BF1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924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73F85-6E2A-4C04-BEDC-32A11855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240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任务依赖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F48F4-457F-406E-A8A0-785ECD4B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模型复用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5B312-F0C3-4A1A-9C8A-DD9EBB85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车辆移动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D0184-4E54-47AE-B6C4-F984396D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状态续接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2B0D2-D8A0-46AC-B5D3-494D95FC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联合决策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3F55F-4254-47AD-8C3E-9C2EC941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 COHCTO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A558B-9260-4C91-B4C4-AF32EA55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14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E61A1-F6CB-4D94-9265-B81102BA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B8562-E786-4AFA-AFC3-A26FD0CC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5E20A-5269-4B71-B47D-4C23B652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7C4FE-2254-4A61-BD7F-AA4FE2BE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14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E20D7-140B-434A-9ED0-C9DCA342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E9BDC-4DDC-4B46-B3CC-A013FF13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P2 LDMCO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004FB-B7AB-42C8-AC98-6B1C4D9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FCC0B-D3C2-4945-AFEB-344C1B6D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99F05B-FBF0-4E3B-B1A5-9B4A0083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F5B79-7A35-43BE-9931-0C7E33A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888402-127D-4CD2-93E6-856ED441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E11A4-9CC2-4274-9568-B7B9D56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3F97D-1025-4791-B921-C0D959B8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P3 Ly-COMA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6B442-4D86-41BC-ADEB-5D3E315A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813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17DB1A-27E7-4E73-B21D-3DD31D9A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1AB7C7-6FA9-40A3-8636-47DD5CC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4CA43-E491-4944-AAA7-9FA007B3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729FA6-BE30-4538-8701-00D03072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81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781A08-50A8-4CCD-A423-DA21CA51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9AB378-64B2-4CA3-B06D-3A97D17B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P4 Fan 迁移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B7DAAE-B9D5-46FA-A717-008E3D30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C7D498-C674-4E33-A292-4AD65326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6AA4A5-A3E1-4155-849E-5535C7A3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AC803D-6791-4EC5-8F50-A7B9E830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5F0A64-63D7-4ACD-BC77-6936058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4C2FD2-8969-480F-97E3-1D96697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94F9FC-6BAE-4863-9A48-9E6A4E8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P5 MCMA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A0FC3B-9BA4-4686-8C4B-328BF030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40D577-0193-4315-AC4E-8D32105D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78FCDD-DEE2-4A8B-9FC9-801441BB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A86D79-53E7-41A2-A14E-FD283207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100387-43C1-47C6-B280-6A34941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48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6BEBA6-6C54-4054-B69A-0CF7B1A4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EE3687-EDC6-4520-AAF3-BCFFEC6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P6 MATM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9796BE-4025-4967-86E2-73BB03AD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814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B9BA22-D844-41F2-8320-DA69F0AA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4F3BE2-1A85-491A-A5D3-FFBD8FF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C2BB9F-FB42-4B58-AAD5-D0440634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39BC8A-600A-490E-872C-B6B5D0E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24DDBB-67D5-4F4A-94A1-EF114323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3FFB52-F047-49DF-840B-5E21DF89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P7 AWTO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2DB307-E2CA-450D-8CDD-96207889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148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81DDD7-0F6D-4ABE-B705-6C74F4B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E8F1A2-89B0-4A32-A74A-678E28F1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630D2C-E715-4023-A067-77BBAC31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250C08-14A8-4809-9219-F765E5B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148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087D2A-64BB-464F-A36B-F63AD7D6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32414D-BE02-47EC-8CAC-0BB74B86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P8 POLAR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9BA088E-06F4-48B1-871E-B9178F85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482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91F4BF-0C37-4CE0-B4A4-797F2EE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6F191B-3764-46F5-8761-7CA51FCC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9C6CE3-47B1-42CC-904E-55773429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F0D370-1CB9-4303-A306-7F3B72F1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DDB393-B908-4DAC-A4A9-045406D3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2AD8FB-A97D-49A4-9EE2-41AA20FF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P9/10 SLoRA/Punica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A854D4-0033-4241-9C72-9E47B6C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81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ED971FF-EE76-40D1-A303-85F5BD0F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2FE8AB-EDDB-47BD-8183-39E532E4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56BB16-E0E0-4E7C-AAED-9F8A6F22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762935-BC59-4A79-9C6B-47F8711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81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48F5E7-F801-4C24-AC2A-C28228E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CD7D7B9-2F24-4B08-88F8-1593FA0D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95900"/>
            <a:ext cx="10734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6193">
            <a:solidFill>
              <a:srgbClr val="BDEE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0DE7DB-AA8E-4FBB-800C-F642F22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本研究关注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CC1A17-1E7F-47B7-8C97-6E6477C7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14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6F4B27-5E09-405B-9E23-D0F42A37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1E7D994-E249-4836-9B84-67F813DE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A0D543-E8DD-49DD-B9B8-020190AD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D4E46E-1F3A-4100-8564-AFB1CD1C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BEAFC8D-4188-42B1-A6A5-A88FB02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63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● 直接涉及    ◐ 部分相关    — 非核心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1235B3-F269-4E08-9439-694E8730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五个方面的交集，是本文提出统一准备与调度方法的出发点。</a:t>
            </a:r>
          </a:p>
        </p:txBody>
      </p:sp>
    </p:spTree>
    <p:extLst>
      <p:ext uri="{BB962C8B-B14F-4D97-AF65-F5344CB8AC3E}">
        <p14:creationId xmlns:p14="http://schemas.microsoft.com/office/powerpoint/2010/main" val="510093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3C224-64F0-406E-A4AB-E563D8AF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B415C-AFEF-4929-A4E7-233137ED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4c7fdfc56476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059F8-E005-4C21-9924-2C0E8147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研究贡献 · 问题与证据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7E6A1-A231-4193-9C82-E3F5138C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研究贡献：联合准备与两项机制验证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FE70F-2812-4367-9C1C-AFB53C2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EEFA7-EA39-435E-A87F-E6B0AB0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52561-028E-4F6A-BBBF-2063FAE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贡献一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9680C-3063-405A-A042-9E1922C1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81200"/>
            <a:ext cx="8029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跨站连续任务的联合准备模型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E7A75-0DED-4AEF-B7F4-14C11584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71725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把任务顺序、共享模型、专用模块、执行进度和交接时机纳入同一决策。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2A92C-8E0C-474B-B8FC-EAC688DC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59874-BD6B-4C9E-ACB5-AA14399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贡献二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9459E-FDAC-401E-BD4D-DB70666D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57550"/>
            <a:ext cx="8029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共享模型的复用收益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5EC04-684B-40FF-9C45-7D25BE8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48075"/>
            <a:ext cx="7953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原生仿真账本中，两种顺序均完成 72 / 72 次请求；连续使用同一模型族少搬运 5,376 MiB。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CF53A-A8FA-4300-8CF3-B88F5E5C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E203A-5954-4FE7-978D-11A3082F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386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贡献三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6D9F3-9619-4754-B32E-99DF7EB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91050"/>
            <a:ext cx="8029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已完成步骤的状态接续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7CB75-D973-4D93-9413-B9F53FC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81575"/>
            <a:ext cx="7953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同机两节点真实调用：后续进程只运行剩余步骤，输入与输出一致；状态包 2,040 B，较重跑少 11.134 秒。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7001E-8965-4340-92BE-5E468789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两项新增实验分别回答：共享部分能否少搬运；中断后能否从原进度继续。</a:t>
            </a:r>
          </a:p>
        </p:txBody>
      </p:sp>
    </p:spTree>
    <p:extLst>
      <p:ext uri="{BB962C8B-B14F-4D97-AF65-F5344CB8AC3E}">
        <p14:creationId xmlns:p14="http://schemas.microsoft.com/office/powerpoint/2010/main" val="563612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05D1D-2742-4A5C-BF94-D234F23D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8F743-21D2-4099-8F22-712712A3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69d5a543e4b9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F928C-2AF3-4488-8A28-3E2BFF63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研究问题 · 三个问题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59BD7-A916-4832-B5D8-4F0460A8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研究问题：怎样让准备工作真正帮助任务完成？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459DA-3613-41E3-BCF2-35FE5B83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39E4B-9DA2-431D-9FD6-3DC3DF8E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B45DF-7E13-49F0-8E0E-6D8EBF50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DEA73-5F68-43F7-83DD-22A82101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多个步骤共用一个模型时，能减少多少重复搬运？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96827-A59E-45E3-8264-07656D89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8137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B77A3-7F8D-427D-B011-260C9D7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3852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车辆即将交接时，哪些资源值得提前放到下一站？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53020-805A-4431-A284-925CAE7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8152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6F4A5-4BD1-4D1E-B56B-BA0453D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3867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面对任务进度与车辆移动，怎样协调长期准备和即时执行？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882C7-3184-45A7-9C4B-A15534E1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统一的目标：让更多完整工作流按时完成，并控制等待和传输成本。</a:t>
            </a:r>
          </a:p>
        </p:txBody>
      </p:sp>
    </p:spTree>
    <p:extLst>
      <p:ext uri="{BB962C8B-B14F-4D97-AF65-F5344CB8AC3E}">
        <p14:creationId xmlns:p14="http://schemas.microsoft.com/office/powerpoint/2010/main" val="1685908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134475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210300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86125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8431B-BEEF-494A-9A2D-ABB33D01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465CE-74B9-455C-84C5-9B79056D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a8fc1dcf04e3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043AB-82CE-47B6-BF8D-01615A60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核心机制 · 四步说明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A9C7A-1F02-498A-B576-F06580F8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方法直觉：先看下一步，再准备下一站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37503-42FA-4491-B5C1-1EFCF4AA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659E-66EF-41C1-820C-4EB2B2FF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C0053-AFB8-446E-9EF7-459AEDB9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看任务进度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下一步需要什么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5300F-C1BA-4D74-9CB8-1C2791C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看车辆动向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可能到哪一站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42D21-CD38-473D-A6E2-C45F63B9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看已有资源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只补齐缺少的部分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0D3EB-4568-415E-A2F1-D286A980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81250"/>
            <a:ext cx="1924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交接之后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从原进度继续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DE212-A2D7-4193-9148-4DA07F76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045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核心思想：下一站准备的是“后续工作真正需要、且当前还没有”的资源。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EEA2A-9D24-4801-AD5C-3B85DC3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准备对象包括模型组件，也包括已经完成步骤留下的运行状态。</a:t>
            </a:r>
          </a:p>
        </p:txBody>
      </p:sp>
    </p:spTree>
    <p:extLst>
      <p:ext uri="{BB962C8B-B14F-4D97-AF65-F5344CB8AC3E}">
        <p14:creationId xmlns:p14="http://schemas.microsoft.com/office/powerpoint/2010/main" val="1482031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52EEC-E9E0-466A-8861-95ECD43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061EB-CC44-406B-86F6-AA1BA4F3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32586d3234b4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B275E-79DE-4B79-9DD8-49E4F35C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策略取舍 · 判断依据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4B403-B853-4958-906E-0DA77531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什么时候提前准备？看三个可观测因素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74094-2F24-44D5-878F-DF00DE9B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4D45D-09F9-4E7C-A589-27D068BE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81089-5769-4DEA-95BB-9CD1C61C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交接时间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车辆还会在本站停留多久？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3BAA9-263E-4034-9466-FB835E45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下一站已有资源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是否已经存着可复用模型？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D6DCD-B171-4A72-B79B-3F91E9DE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需要传多少数据、占多少空间？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9E700-C870-4DD6-A12C-1BEED81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95825"/>
            <a:ext cx="10544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据此选择：提前准备、等需求出现再准备，或由车端完成当前步骤。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25AFA-CC2B-43CF-A917-41E020EA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这使“是否提前搬运”成为可计算的决策，而非固定规则。</a:t>
            </a:r>
          </a:p>
        </p:txBody>
      </p:sp>
    </p:spTree>
    <p:extLst>
      <p:ext uri="{BB962C8B-B14F-4D97-AF65-F5344CB8AC3E}">
        <p14:creationId xmlns:p14="http://schemas.microsoft.com/office/powerpoint/2010/main" val="8820336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139363" y="29622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258175" y="2552700"/>
            <a:ext cx="609600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248525" y="29622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610225" y="2552700"/>
            <a:ext cx="62865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52725" y="3219450"/>
            <a:ext cx="628650" cy="804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52725" y="3219450"/>
            <a:ext cx="6286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52725" y="2424113"/>
            <a:ext cx="628650" cy="795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515D3-A13E-4D8C-A52F-C3C4B3B4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077D4-F0B5-4752-814C-C939875F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c9f43cab14f2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31323-0EE8-4555-B012-C75702F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论文结构图 · 系统层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6D518-17A2-46CA-8E03-197A8AE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系统结构：数据、路侧环境与控制方法形成闭环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6D65E-0A62-43FD-83BF-D86A3B2B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41AA3-FE5E-44C3-93B1-F1C5B727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E0D6D-96D0-423A-BCCC-B67F4A0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D9128-BDF3-42BF-B514-795DF50C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BF91F-921C-41DB-AC8B-8C82A4D6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模型资源清单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EB4B6-EFBD-488D-A779-EE8F883C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2228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路侧边缘环境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站点 / 缓存 / 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A8420-FAA0-461B-981F-A16ADFD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019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 / 车辆 / 站点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69E4C-766B-43CD-AF5D-FAE5D5E7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2019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信息融合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依赖 + 资源 + 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CAEDF-AA80-4FB4-9CC5-DEA1B406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43125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协调决策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 / 即时 / 交接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B1135-8198-4D7F-8EF9-6C811A9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81400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执行选择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放置、卸载或准备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B2108-E23F-4F7C-BECC-7D6A240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67300"/>
            <a:ext cx="1033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决策回到路侧环境；系统记录整条任务链的完成、等待和传输。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9C94A1-E4BB-4FBC-864D-9168C0E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图由论文方法稿中的系统结构重绘，元素可在 PPT 中编辑。</a:t>
            </a:r>
          </a:p>
        </p:txBody>
      </p:sp>
    </p:spTree>
    <p:extLst>
      <p:ext uri="{BB962C8B-B14F-4D97-AF65-F5344CB8AC3E}">
        <p14:creationId xmlns:p14="http://schemas.microsoft.com/office/powerpoint/2010/main" val="11726475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4C33F-935F-4D46-ADBC-708C4B2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CA44D-F9D9-48F8-B1A7-94C4A09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3a557fb324a6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C20DB-5863-427F-8CE8-6CD958F7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论文模型 · 资源账本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C4469-6499-4509-9399-75E534BF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资源模型：共享部分只搬一次，专用部分按需补齐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5F9E9-E5D8-4838-BEA6-E903EA5B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8D28F-FCB8-4814-8196-914BF44D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70C11-8330-413A-8E57-D17EB20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多个步骤可复用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09BCB-1155-48BD-B0D8-F462E48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860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专用模块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为具体步骤补充能力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89F22-300F-42BB-9178-AADF5E34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86000"/>
            <a:ext cx="39052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记录已完成步骤和上下文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A1D27-EE07-4C68-9538-C49C91CF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10429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需搬运的数据 = 下一步所需对象 − 下一站已有对象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E9A8F-735C-401A-8D80-52369A04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1036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每个对象只计一次，并同时检查模型兼容性与站点容量。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A826D-0FF0-446B-B1FB-04218365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资源账本使“复用”有明确的字节含义。</a:t>
            </a:r>
          </a:p>
        </p:txBody>
      </p:sp>
    </p:spTree>
    <p:extLst>
      <p:ext uri="{BB962C8B-B14F-4D97-AF65-F5344CB8AC3E}">
        <p14:creationId xmlns:p14="http://schemas.microsoft.com/office/powerpoint/2010/main" val="2730001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FDAA8-0661-441B-8451-BA100DEB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97EBB-C580-4EE3-A4E7-25A93D65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d1b7f7c2b4bf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8EAE9-A598-4E00-82A0-615A3BA8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论文方法 · 可执行决策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C4BC4-597E-4602-99A2-F397D0D7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控制方法有五种实际选择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57315-AE7A-4AA7-81F3-100B421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1A0B3-AC18-4D49-BD7F-2A55776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3E778-BAFB-4FF3-BE99-E6ED843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补齐本站模型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E8C10-1B91-45F9-81EB-E8E4C2D0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478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当前站缺少执行所需模型时，先补齐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4D248-89B0-499B-AD9C-21A2598E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AD454-8C69-4F64-A13F-144991C3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提前准备下一站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B64D3-CFB8-47D1-9ECA-5A89B9CA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336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根据车辆动向预备可能用到的组件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74A94-BFD4-4A95-A65B-16CA3A69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B1236-2EE6-46F9-8CBD-64243589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交给车端执行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FE25F-EDF9-4091-881C-E10C7486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194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车辆本地资源承担当前步骤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BB02A-2EF4-428D-A162-3DB8EB04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26A55-B356-47D8-9569-4FEB85A5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在本站直接执行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5CF11-EA47-406E-A34A-08E8796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052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资源就绪时直接卸载到当前站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42281-ACED-4046-B6F9-8FD24ACD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244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3D530-E687-47D2-BB81-190FE6E7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准备交接状态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0357A-5D42-41FE-8CB0-B5D222B0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910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让下一站具备继续执行所需的信息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4E30A-45D0-42CC-8B5A-2C75727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每次选择都受资源容量与可执行条件约束。</a:t>
            </a:r>
          </a:p>
        </p:txBody>
      </p:sp>
    </p:spTree>
    <p:extLst>
      <p:ext uri="{BB962C8B-B14F-4D97-AF65-F5344CB8AC3E}">
        <p14:creationId xmlns:p14="http://schemas.microsoft.com/office/powerpoint/2010/main" val="1541692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281738" y="3943350"/>
            <a:ext cx="407670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281738" y="3943350"/>
            <a:ext cx="13477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781550" y="3943350"/>
            <a:ext cx="15001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933575" y="3943350"/>
            <a:ext cx="4348163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281738" y="2876550"/>
            <a:ext cx="167163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72050" y="2876550"/>
            <a:ext cx="130968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990725" y="2876550"/>
            <a:ext cx="4291013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06E066-0525-48F8-A586-B25B43CE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5ABA9-3E43-4E2E-B70D-9347BED8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9907d84e94bc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7B42B-3D0B-477B-8224-ADA9A4D9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论文结构图 · 算法层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206E0-D493-41F6-A0E7-071C5587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算法结构：同一份信息，支持三个时间尺度的决策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09194-BB04-4EEF-8392-1E79D1FA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8B6C1-075D-4404-964D-CF0F492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CD497-E711-4028-8A3A-39219512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进度与先后依赖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AE0B4-978C-4422-871C-96C3BE64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站点与车辆信息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资源、负载、位置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38015-EF1A-4586-A41D-9C75139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移动趋势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预测交接与紧迫度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558C9-9813-4F6D-BF85-D0685D69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5095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共享信息融合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组输入 → 统一状态表示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EEEC8-1D2D-4B33-8D4B-538373A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慢决策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模型放置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222A2-9CB3-4846-8A70-A2D747C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快决策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当前任务去向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500E0-9084-4247-B3E8-C8677CA0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下一站准备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72A66-1AE9-4963-9F09-0EC58DA5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2143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价值评估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长期收益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791A4-7B37-4A14-8E4D-E9830109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一套控制方法同时处理长期资源安排、即时执行和交接事件。</a:t>
            </a:r>
          </a:p>
        </p:txBody>
      </p:sp>
    </p:spTree>
    <p:extLst>
      <p:ext uri="{BB962C8B-B14F-4D97-AF65-F5344CB8AC3E}">
        <p14:creationId xmlns:p14="http://schemas.microsoft.com/office/powerpoint/2010/main" val="3546729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5E3E4-9C13-417A-8CCC-EFC47241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BC4A-1D05-4B39-93EF-30177FCE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438087d2c436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3EB72-A2B9-4CDE-90AC-4A242E3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论文方法 · 训练目标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803F6-3858-4282-A09C-C0C53C26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奖励设计：鼓励服务推进，也计入资源与时延成本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0AC13-831A-48A5-B1B0-257FA9F2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3FBB3-B9B1-4E6B-9310-931AEFDA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CCC98-7C7F-4BB2-BC73-09A6F603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0591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每步得分 = 基础项 + 服务推进 + 连续执行 + 探索收益 − 等待 − 模型缺失 − 交接成本 − 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C2363-826D-45B4-B692-6E5AC7B3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E84A6-5499-4D12-BE2C-135389D7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972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获得收益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完成当前步骤、交接后继续执行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CF308-DCEB-4B61-92FA-D60EE88E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33775"/>
            <a:ext cx="4972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计入成本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等待时间、模型缺失与资源约束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67522-D67F-444A-9B6E-E834CFC9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5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最终评价仍看整条任务链完成情况、时延和实际传输数据量。</a:t>
            </a:r>
          </a:p>
        </p:txBody>
      </p:sp>
    </p:spTree>
    <p:extLst>
      <p:ext uri="{BB962C8B-B14F-4D97-AF65-F5344CB8AC3E}">
        <p14:creationId xmlns:p14="http://schemas.microsoft.com/office/powerpoint/2010/main" val="12596632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0EF56-CCCF-4EED-9318-9DD04096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43E99-4017-40F6-ADEB-FA979E12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9edcfaeb04322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8EB55-225A-4B72-9011-59B271F3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论文原图 · 训练奖励收敛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c8d013d194e9d"/>
          <a:stretch xmlns:a="http://schemas.openxmlformats.org/drawingml/2006/main"/>
        </p:blipFill>
        <p:spPr>
          <a:xfrm xmlns:a="http://schemas.openxmlformats.org/drawingml/2006/main">
            <a:off x="799703" y="762000"/>
            <a:ext cx="10592594" cy="5981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542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81900" y="3095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33800" y="3095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F6CE3-264D-4649-B2D3-05A4BEAC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2FBFF-6C0C-4EB6-ACC6-6DA7EFE8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8c367f488429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96B1B-F7E8-423E-B3DB-A49120CA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实验设置 · 数据来源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D271B-FF43-418B-8B15-A9EB6DD8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实验数据：用真实车辆轨迹和真实任务链驱动仿真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A5A99-5A30-4163-A0B3-D10AE42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CDE6D-7BB1-4270-AD84-10710EA7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CA46E-FFBA-4715-BA0C-E46212B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车辆位置、速度和移动轨迹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64A65-DDAE-4A2A-8E57-D8534043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Alibaba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任务链和步骤之间的依赖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445DA-2C90-47B9-A209-8819C449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每一步所需的模型与状态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1B606-1D5D-4D0A-8C68-EB12F86E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1057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在可复现的移动场景中，观察任务链、资源和车辆交接如何相互影响。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5F279-43EA-45EE-A3E8-133D92E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数据来源分别公开；服务需求通过明确的实验映射构造。</a:t>
            </a:r>
          </a:p>
        </p:txBody>
      </p:sp>
    </p:spTree>
    <p:extLst>
      <p:ext uri="{BB962C8B-B14F-4D97-AF65-F5344CB8AC3E}">
        <p14:creationId xmlns:p14="http://schemas.microsoft.com/office/powerpoint/2010/main" val="12043575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71202-275B-428E-A447-1E87A5D4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75B93-1D32-4FC4-9A12-BC5998ED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fd9a5ba6e42d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7705F-C8DE-483E-97F3-BE16864F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实验设置 · 对照设计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BC43E-85F0-4E46-8156-BD81FC03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实验设计：先测机制，再比较决策方法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627F5-510B-4DC5-BDEF-185A078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8B430-6A1F-4CDD-86CF-6F0EC9B7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FD679-05C2-4FAC-90F1-79FD666D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资源共享 × 状态准备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45C69-8A68-421B-93AE-B9D469D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常规放置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按需执行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17061-7841-4238-9B8E-89ABA653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812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按需执行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46CB8-6B93-466D-9317-B5FF9CFB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常规放置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C8050-BE54-479B-A300-6541A5BC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9572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52E63-9C83-4DF3-8F21-0E69D88F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比较“由谁决定何时准备”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14658-8DCC-4039-85EC-1B9F2BFA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81275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94D41-8479-4E01-AE18-E368A14D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3E8B0-2C33-4307-9793-5C79E62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多时间尺度策略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BA865-0380-46DF-9FAE-EC4ABEDB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算法奖励对照已有冻结结果，见下一页；机制组合按相同指标继续评价。</a:t>
            </a:r>
          </a:p>
        </p:txBody>
      </p:sp>
    </p:spTree>
    <p:extLst>
      <p:ext uri="{BB962C8B-B14F-4D97-AF65-F5344CB8AC3E}">
        <p14:creationId xmlns:p14="http://schemas.microsoft.com/office/powerpoint/2010/main" val="16290156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F3E612-7AB8-453B-A15F-329B1BC3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83240-9C5B-4465-A502-B8A72402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f5ea4de124c8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F7036-1587-4D64-A2A4-A1FE7B1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实验结果 · 奖励对比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E234C-8FDD-4E90-9087-83BBF34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冻结评估：综合奖励在两组窗口均排名第一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C6088-B5C8-4B87-9767-48E5AC5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C3EDB-11AC-41EE-B7F0-3773E0CA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5BAD9-DF51-44CB-95A6-BD6DA754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52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正式评估 · 20 个时间窗口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2A8F4-A689-42A9-9C2E-87C95E41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90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A07E5-E14B-48E2-905A-3B213A62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428875"/>
            <a:ext cx="175502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19EFF-66AA-471A-9D91-C8169DD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90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26.43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88108-341C-4ED4-B54E-88B148D9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C5026-FB82-44D9-8753-05345981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95600"/>
            <a:ext cx="173191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455EF-F96E-49F4-B03E-73C7014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26.08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54A88-82AC-4A8C-B6BD-129FFD4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242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DQN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CD204-85E4-4D86-90D1-B1177294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62325"/>
            <a:ext cx="143443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B1042-5013-46FB-A1D6-0808D87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242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21.60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E272A-C0AE-4733-A86E-800FD8B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90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Dueling DQN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5A133-FAAE-4EFA-A3D7-6C69A5F6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29050"/>
            <a:ext cx="115149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30296-26C7-4478-A25D-8AD96C3D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17.34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FAC0A-9066-4E71-BE8C-1681E63B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57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49C92-D2C1-46ED-A438-024F1485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95775"/>
            <a:ext cx="74238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95396-4A4A-4B23-B07C-93C0CB19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576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11.18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B7CE6-987A-4FD5-9766-D5D94E59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24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6454C-7EF5-4FF8-85B3-3E2C14BA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62500"/>
            <a:ext cx="61641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79274-4697-4A0F-8F83-C5A178C7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9.28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53F75E-505A-496B-A6AC-CB5F515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482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较最佳对照 +0.35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D79851-BD54-4DFA-B0A5-06E9762B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721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95% 区间：+0.16 至 +0.60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E4808-9712-4D5A-8C91-DEC19187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后续独立验证 · 15 个时间窗口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3443F-4AA6-4F05-A3A8-2A106E5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90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本方法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E0CF4D-2508-4596-A9D4-B223491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28875"/>
            <a:ext cx="221400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1BC1C1-9441-467A-ADE2-C1C56D2D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90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33.34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5C755-BFBF-4CDA-909D-D855878F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7B5692-EEF3-43CD-9219-FAC7E92B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194892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D5ADFF-5BF0-40AD-A16A-D4AEBA0F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857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29.35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B28DD4-B01E-48DD-862F-42C6E22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242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DQN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5B464-B512-481A-A133-568E801A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62325"/>
            <a:ext cx="16093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475A56-EFEC-4614-9327-94564593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3242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24.24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A596F8-E638-4EF2-B0C4-C1E22D2F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Dueling DQN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C170C5-A076-41FC-A768-C4D35042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127221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D308F8-0ED3-4125-A3AC-465EF212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7909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19.16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D52B90-A9C1-4DC0-B17C-87D994A6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57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763E18-4DB1-40F6-8EFC-3EDE628A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95775"/>
            <a:ext cx="66582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8D8D4C-A53F-4DAF-8F54-EEEAC0AF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576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10.03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A3D44-ADF3-4AEC-AF43-959B8FF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514A46-3348-4DCB-9565-A81978B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60884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11542B-262E-496B-B97A-2A7377D7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724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9.17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3A316B-F109-4D44-AFD9-8BE3EE8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482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较最佳对照 +3.99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4FBA43-4CC3-42BF-BAC4-81CD1AE3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721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95% 区间：+2.08 至 +8.29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66907C-607A-4129-A31D-F8182377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图示主要对照；原始比较共 11 种方法。本页是既有冻结算法版本的奖励结果。</a:t>
            </a:r>
          </a:p>
        </p:txBody>
      </p:sp>
    </p:spTree>
    <p:extLst>
      <p:ext uri="{BB962C8B-B14F-4D97-AF65-F5344CB8AC3E}">
        <p14:creationId xmlns:p14="http://schemas.microsoft.com/office/powerpoint/2010/main" val="20847093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93121-FA62-4A1B-A178-BB5497C9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75DBF-0EE2-4009-A88F-2BA7EBAD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5317c4d4e483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44B94-65ED-4457-8A91-0C5DA65F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机制演示 · 资源复用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0E5B6-D378-40A3-B29D-A4647C19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模型共享示例：连续复用时搬运量更少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D30FE-5F4F-4415-BA9C-C7892D60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783EC-9E8F-4FAF-AE48-6081A7A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1162F-9B13-4DEE-B11C-EF8868EE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907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四种配置均完成 72 / 72 次请求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5FF71-9434-4159-9F7C-F2326E9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8127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相同模型连续使用 · 共享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39B6F-6139-4286-80F9-AB8AD3D9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33891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9DEEB-131E-48A8-B808-145C952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81275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3,264 MiB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7733A-E6F0-47BF-B16F-8476B7E6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交替使用不同模型 · 共享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892BD-60BE-4A49-92AE-FF70AD6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6B652-2418-405E-B081-E5834A3E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337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EB161-639D-4786-B97D-5BFB0B5C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相同模型连续使用 · 不共享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CFF6F-B823-473C-BE8F-D07BE09A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338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2C632-5F8C-4BCE-A097-EF0D4AC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86225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73CAE-8655-46A9-B0C1-64E8F193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交替使用不同模型 · 不共享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AF064-AE62-429B-89AD-D739C93B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FD250-C869-4B49-BEBE-B8284045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387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E03E1-545D-44A4-8645-DCAB1B9D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同完成量下，少搬运 5,376 MiB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38074-0888-4D51-A324-2CBC41E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该示例说明：只有后续请求真正复用同一共享部分，资源账本才体现节省。</a:t>
            </a:r>
          </a:p>
        </p:txBody>
      </p:sp>
    </p:spTree>
    <p:extLst>
      <p:ext uri="{BB962C8B-B14F-4D97-AF65-F5344CB8AC3E}">
        <p14:creationId xmlns:p14="http://schemas.microsoft.com/office/powerpoint/2010/main" val="13405408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2976563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52825" y="2976563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53E30-BABD-4C40-A84A-E3815EEF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92F40-12C1-4098-AAB8-18EDC353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8e87e380c4af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69675-F53B-4ABB-BC4B-EC70293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机制演示 · 连续执行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EEAF6-5BF2-4658-B444-D5AEC19E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状态接续示例：保存进度后，只执行剩余步骤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5E376-517C-4C43-B67E-78F58181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4862B-1A09-49C4-960B-6F342F25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6876C-63A3-43EF-A0CD-B4C4ABFA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完成第一步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保存执行进度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16BF1-563D-4093-B3D2-BEEDC7B4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2,040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7FD00-5311-4C46-99C4-0E4CE465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恢复进度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运行后续步骤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7D813-689B-4DC6-9D63-7AA7E81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895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从头运行：32.504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C3BD5-921F-46F4-8C79-0AAB5DCA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4895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接续执行：21.370 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09898-76CF-45B6-A613-8E971C12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同机两步样例中，后续步骤输入与输出一致；时间减少 11.134 秒。</a:t>
            </a:r>
          </a:p>
        </p:txBody>
      </p:sp>
    </p:spTree>
    <p:extLst>
      <p:ext uri="{BB962C8B-B14F-4D97-AF65-F5344CB8AC3E}">
        <p14:creationId xmlns:p14="http://schemas.microsoft.com/office/powerpoint/2010/main" val="15784660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0D938-E4CC-458B-8839-7D7D3971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E61B8-0BCA-4A04-A79A-D5BA3CE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1711ce1324d02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6BCCA-F3B1-41C9-BE2E-29C811A9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研究总结 · 四个要点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DF979-8B59-4CC6-97BE-8168E939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总结：把移动交接从“换位置”变成“接着做”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43247-944A-4B62-AB1E-C9F52DA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52F7A-9223-4815-A34C-0A6E02E9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B6DAB-D035-483C-B516-ADC751D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097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联合建模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2A3FE-33F3-4DF9-BA73-44702783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把任务链、共享模型与执行进度连到跨站准备决策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3B2F0-E4F0-43B0-999E-D5229B21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860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AC10B-7DAF-4DA3-85B4-9C0719F2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72/72 次请求完成时，共享模型少搬运 5,376 MiB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4A268-E69B-4F0C-AF74-46A59386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623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状态接续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63A7F-D83F-417D-B863-3392F2B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004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同机两节点接续仅做后续步骤，较重跑少 11.134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9F0C3-F3B3-4EB0-B569-BDCCEBD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386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BC7A9-D440-4F9B-A59A-36A1E1C1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767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既有冻结评估中，两组窗口的综合奖励均居首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F5A58-E22B-4B46-95C3-CE8D6B1B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资源、接续与奖励分别来自对应的实验设置，证据见前述页面。</a:t>
            </a:r>
          </a:p>
        </p:txBody>
      </p:sp>
    </p:spTree>
    <p:extLst>
      <p:ext uri="{BB962C8B-B14F-4D97-AF65-F5344CB8AC3E}">
        <p14:creationId xmlns:p14="http://schemas.microsoft.com/office/powerpoint/2010/main" val="19705194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AADC9-BA3B-4BCC-8455-D2CB6685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40B30-1A3F-43BC-8B44-3C69321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01eec29d1445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0BDA6-338C-4989-A526-838EDF5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参考文献 · 论文来源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859CD-98E4-4DC0-AA5F-6961D610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主要参考文献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DB75F-C6AD-47B8-9D63-5901AA5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5D181-CFC1-4CAD-8188-20135A64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FC371-CA70-43C5-857A-BAC9687C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移动边缘与任务调度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FE4A4-7695-4938-BAC4-347BEBD9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模型服务与方法基础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3F1B0-4C6B-463A-BA8B-75E319E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COHCTO · TMC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047BC-09DB-47CC-9D83-6F99667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LDMCO · TMC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D5DC7-016C-41F2-8525-17221DA1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Ly-COMA · IET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E90D9-4B9B-4609-A14B-13DE0547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Fan 等 · TVT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CFC40-1FDF-4B65-B042-31EC23E1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MCMA · TMC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9699D-5497-4257-A0BB-C3621B46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MATM · TVT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C6FAB-4385-4305-B274-61BE8421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2922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AWTO · FGCS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37D34-1B41-4646-AFC1-E090A399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431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 · arXiv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B6F19-A292-4661-B423-49A7C5DE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384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SLoRA · MLSys 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16C14-B2AD-449D-B187-0C7E8E5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337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Punica · MLSys 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9FF2E-1D36-4E92-99F6-670DC07D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290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WfCommons · FGCS 2022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CB951-8330-4FA6-B3E1-20C0F69A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243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RUDDER · NeurIPS 2019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02CD7-093A-4BC8-AA3B-872E3AB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196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MAPPO · NeurIPS 2022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7053B-CBAF-4F5B-8564-3C7DF711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逐篇研究内容与本文对应问题见第 4—7 页。</a:t>
            </a:r>
          </a:p>
        </p:txBody>
      </p:sp>
    </p:spTree>
    <p:extLst>
      <p:ext uri="{BB962C8B-B14F-4D97-AF65-F5344CB8AC3E}">
        <p14:creationId xmlns:p14="http://schemas.microsoft.com/office/powerpoint/2010/main" val="183903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2026-10-11T09:41:52.6510000Z</dcterms:created>
  <dcterms:modified xsi:type="dcterms:W3CDTF">2026-10-11T09:41:52.6510000Z</dcterms:modified>
</coreProperties>
</file>