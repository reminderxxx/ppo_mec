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7a332f756748e1" /><Relationship Type="http://schemas.openxmlformats.org/officeDocument/2006/relationships/extended-properties" Target="/docProps/app.xml" Id="Rd79f93e075ca461e" /><Relationship Type="http://schemas.openxmlformats.org/officeDocument/2006/relationships/officeDocument" Target="/ppt/presentation.xml" Id="R4476b5fb5db445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1042a6b3494e7c"/>
  </p:sldMasterIdLst>
  <p:notesMasterIdLst>
    <p:notesMasterId xmlns:r="http://schemas.openxmlformats.org/officeDocument/2006/relationships" r:id="R3b5f342c7dd748cb"/>
  </p:notesMasterIdLst>
  <p:sldIdLst>
    <p:sldId xmlns:r="http://schemas.openxmlformats.org/officeDocument/2006/relationships" id="256" r:id="R6f8a81b5fe1c4f96"/>
    <p:sldId xmlns:r="http://schemas.openxmlformats.org/officeDocument/2006/relationships" id="257" r:id="R6c82ee6e20944cdc"/>
    <p:sldId xmlns:r="http://schemas.openxmlformats.org/officeDocument/2006/relationships" id="258" r:id="R96de10bd05854b8f"/>
    <p:sldId xmlns:r="http://schemas.openxmlformats.org/officeDocument/2006/relationships" id="259" r:id="Rf9ce4c4dcf9c46f9"/>
    <p:sldId xmlns:r="http://schemas.openxmlformats.org/officeDocument/2006/relationships" id="260" r:id="R1305b8733e7b4ecf"/>
    <p:sldId xmlns:r="http://schemas.openxmlformats.org/officeDocument/2006/relationships" id="261" r:id="R55cfd290552c44dc"/>
    <p:sldId xmlns:r="http://schemas.openxmlformats.org/officeDocument/2006/relationships" id="262" r:id="R04c6de4e7e354b4f"/>
    <p:sldId xmlns:r="http://schemas.openxmlformats.org/officeDocument/2006/relationships" id="263" r:id="R0a003978bd2d480e"/>
    <p:sldId xmlns:r="http://schemas.openxmlformats.org/officeDocument/2006/relationships" id="264" r:id="Rf9e9e9da19ae4237"/>
    <p:sldId xmlns:r="http://schemas.openxmlformats.org/officeDocument/2006/relationships" id="265" r:id="R60297ca9f9bb4e49"/>
    <p:sldId xmlns:r="http://schemas.openxmlformats.org/officeDocument/2006/relationships" id="266" r:id="Re8c8ae3f1c4746b8"/>
    <p:sldId xmlns:r="http://schemas.openxmlformats.org/officeDocument/2006/relationships" id="267" r:id="Rc63042f301f842d0"/>
    <p:sldId xmlns:r="http://schemas.openxmlformats.org/officeDocument/2006/relationships" id="268" r:id="R85027809af494aaf"/>
    <p:sldId xmlns:r="http://schemas.openxmlformats.org/officeDocument/2006/relationships" id="269" r:id="R622731c5cac447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71258d450940a6" /><Relationship Type="http://schemas.openxmlformats.org/officeDocument/2006/relationships/slideMaster" Target="/ppt/slideMasters/slideMaster1.xml" Id="R951042a6b3494e7c" /><Relationship Type="http://schemas.openxmlformats.org/officeDocument/2006/relationships/notesMaster" Target="/ppt/notesMasters/notesMaster1.xml" Id="R3b5f342c7dd748cb" /><Relationship Type="http://schemas.openxmlformats.org/officeDocument/2006/relationships/presProps" Target="/ppt/presProps.xml" Id="R2829e1f5d5d94f13" /><Relationship Type="http://schemas.openxmlformats.org/officeDocument/2006/relationships/tableStyles" Target="/ppt/tableStyles.xml" Id="R663bb2a1868d4bd3" /><Relationship Type="http://schemas.openxmlformats.org/officeDocument/2006/relationships/slide" Target="/ppt/slides/slide1.xml" Id="R6f8a81b5fe1c4f96" /><Relationship Type="http://schemas.openxmlformats.org/officeDocument/2006/relationships/slide" Target="/ppt/slides/slide2.xml" Id="R6c82ee6e20944cdc" /><Relationship Type="http://schemas.openxmlformats.org/officeDocument/2006/relationships/slide" Target="/ppt/slides/slide3.xml" Id="R96de10bd05854b8f" /><Relationship Type="http://schemas.openxmlformats.org/officeDocument/2006/relationships/slide" Target="/ppt/slides/slide4.xml" Id="Rf9ce4c4dcf9c46f9" /><Relationship Type="http://schemas.openxmlformats.org/officeDocument/2006/relationships/slide" Target="/ppt/slides/slide5.xml" Id="R1305b8733e7b4ecf" /><Relationship Type="http://schemas.openxmlformats.org/officeDocument/2006/relationships/slide" Target="/ppt/slides/slide6.xml" Id="R55cfd290552c44dc" /><Relationship Type="http://schemas.openxmlformats.org/officeDocument/2006/relationships/slide" Target="/ppt/slides/slide7.xml" Id="R04c6de4e7e354b4f" /><Relationship Type="http://schemas.openxmlformats.org/officeDocument/2006/relationships/slide" Target="/ppt/slides/slide8.xml" Id="R0a003978bd2d480e" /><Relationship Type="http://schemas.openxmlformats.org/officeDocument/2006/relationships/slide" Target="/ppt/slides/slide9.xml" Id="Rf9e9e9da19ae4237" /><Relationship Type="http://schemas.openxmlformats.org/officeDocument/2006/relationships/slide" Target="/ppt/slides/slide10.xml" Id="R60297ca9f9bb4e49" /><Relationship Type="http://schemas.openxmlformats.org/officeDocument/2006/relationships/slide" Target="/ppt/slides/slide11.xml" Id="Re8c8ae3f1c4746b8" /><Relationship Type="http://schemas.openxmlformats.org/officeDocument/2006/relationships/slide" Target="/ppt/slides/slide12.xml" Id="Rc63042f301f842d0" /><Relationship Type="http://schemas.openxmlformats.org/officeDocument/2006/relationships/slide" Target="/ppt/slides/slide13.xml" Id="R85027809af494aaf" /><Relationship Type="http://schemas.openxmlformats.org/officeDocument/2006/relationships/slide" Target="/ppt/slides/slide14.xml" Id="R622731c5cac447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60697dede147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0a169a1c9e4d4d" /><Relationship Type="http://schemas.openxmlformats.org/officeDocument/2006/relationships/notesMaster" Target="/ppt/notesMasters/notesMaster1.xml" Id="R6261424acbd044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8f06886c614381" /><Relationship Type="http://schemas.openxmlformats.org/officeDocument/2006/relationships/notesMaster" Target="/ppt/notesMasters/notesMaster1.xml" Id="R28f3b377f9014f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b64043a14a4d4f" /><Relationship Type="http://schemas.openxmlformats.org/officeDocument/2006/relationships/notesMaster" Target="/ppt/notesMasters/notesMaster1.xml" Id="Rd3eb529d0f8e42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c8b29f582d4781" /><Relationship Type="http://schemas.openxmlformats.org/officeDocument/2006/relationships/notesMaster" Target="/ppt/notesMasters/notesMaster1.xml" Id="R853f9d5f69f749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535441e0ae4628" /><Relationship Type="http://schemas.openxmlformats.org/officeDocument/2006/relationships/notesMaster" Target="/ppt/notesMasters/notesMaster1.xml" Id="R9cb9d21d474442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da2636cc1b4a1e" /><Relationship Type="http://schemas.openxmlformats.org/officeDocument/2006/relationships/notesMaster" Target="/ppt/notesMasters/notesMaster1.xml" Id="Rc1bdedf0a0564f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791ffb3c4d43b1" /><Relationship Type="http://schemas.openxmlformats.org/officeDocument/2006/relationships/notesMaster" Target="/ppt/notesMasters/notesMaster1.xml" Id="Raaa77be4c70845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bed425a60c4861" /><Relationship Type="http://schemas.openxmlformats.org/officeDocument/2006/relationships/notesMaster" Target="/ppt/notesMasters/notesMaster1.xml" Id="R4f07b541b9714c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89d1484de14527" /><Relationship Type="http://schemas.openxmlformats.org/officeDocument/2006/relationships/notesMaster" Target="/ppt/notesMasters/notesMaster1.xml" Id="R8b3ed9c6399444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17c7f8961f47ca" /><Relationship Type="http://schemas.openxmlformats.org/officeDocument/2006/relationships/notesMaster" Target="/ppt/notesMasters/notesMaster1.xml" Id="R17d022fea33547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deccd1b0cb4821" /><Relationship Type="http://schemas.openxmlformats.org/officeDocument/2006/relationships/notesMaster" Target="/ppt/notesMasters/notesMaster1.xml" Id="R407e8ffd714c40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d310e769ca4d9b" /><Relationship Type="http://schemas.openxmlformats.org/officeDocument/2006/relationships/notesMaster" Target="/ppt/notesMasters/notesMaster1.xml" Id="R0eeddd68338146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505112bd2349b3" /><Relationship Type="http://schemas.openxmlformats.org/officeDocument/2006/relationships/notesMaster" Target="/ppt/notesMasters/notesMaster1.xml" Id="R21569e829c844c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20d8366c6044e1" /><Relationship Type="http://schemas.openxmlformats.org/officeDocument/2006/relationships/notesMaster" Target="/ppt/notesMasters/notesMaster1.xml" Id="Re73dcccbc81e48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开场不要先讲 PPO 公式。先用一句话说明：车辆跨 RSU 后，DAG 的下一节点、所需 adapter 和中间状态都要连续。</a:t>
            </a:r>
          </a:p>
          <a:p xmlns:a="http://schemas.openxmlformats.org/drawingml/2006/main">
            <a:r>
              <a:t>说明本次汇报采用 2026-06-18 严格复核后的结果，旧 gate 可复现，但严格 full split 仍未达到显著。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用这个场景讲清楚：不是只优化 N1 或一次卸载，而是 N1→N4 整条工作流要跨 RSU 连续执行。</a:t>
            </a:r>
          </a:p>
          <a:p xmlns:a="http://schemas.openxmlformats.org/drawingml/2006/main">
            <a:r>
              <a:t>强调 adapter 是轻量模型适配组件，与通用 service cache、KV cache 不完全等同。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创新点不要列成堆功能。三点分别回答：研究了什么新问题、如何表示新状态、如何设计新控制结构。</a:t>
            </a:r>
          </a:p>
          <a:p xmlns:a="http://schemas.openxmlformats.org/drawingml/2006/main">
            <a:r>
              <a:t>第四类机制 guard 可以作为系统设计补充，但不建议和前三点并列成理论创新。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从左到右讲一遍数据如何进入环境、状态如何进入策略、动作如何回到环境。</a:t>
            </a:r>
          </a:p>
          <a:p xmlns:a="http://schemas.openxmlformats.org/drawingml/2006/main">
            <a:r>
              <a:t>强调指标不是只记录 reward，还记录连续性、切换失败、backhaul、warm hit 和迁移开销。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 fast 输入为什么是 67：64 维 fast context 加上 slow head 的 3 维概率。</a:t>
            </a:r>
          </a:p>
          <a:p xmlns:a="http://schemas.openxmlformats.org/drawingml/2006/main">
            <a:r>
              <a:t>解释 event 输入为什么是 69：64 维 event context 加 slow 3 维和 fast 2 维概率。</a:t>
            </a:r>
          </a:p>
          <a:p xmlns:a="http://schemas.openxmlformats.org/drawingml/2006/main">
            <a:r>
              <a:t>参数量较小，说明这是研究原型的轻量 controller，不是大模型本体。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这里要讲清楚“多时间尺度”不是简单拼三个网络，而是三个决策职责和触发频率不同。</a:t>
            </a:r>
          </a:p>
          <a:p xmlns:a="http://schemas.openxmlformats.org/drawingml/2006/main">
            <a:r>
              <a:t>动作最终仍然是 5 类离散语义动作，所以 TD3/SAC 等连续控制 baseline 当前不匹配。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主动区分 learned core 和 guard，可以提前回答“是不是靠规则赢”的质疑。</a:t>
            </a:r>
          </a:p>
          <a:p xmlns:a="http://schemas.openxmlformats.org/drawingml/2006/main">
            <a:r>
              <a:t>说明 latency fallback 的独立收益只有约 0.42，证明它不是全部提升来源，但也需要继续拆分其他 guards。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原始记录数不要说成训练样本数。训练样本来自窗口、workflow、seed 的 episode 组合。</a:t>
            </a:r>
          </a:p>
          <a:p xmlns:a="http://schemas.openxmlformats.org/drawingml/2006/main">
            <a:r>
              <a:t>主动说明我们发现并修正了旧 offset holdout 的重叠，这体现实验审计能力，而不是回避问题。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先讲点估计，再讲置信区间。不要只展示漂亮的柱状图而略过 full CI 跨 0。</a:t>
            </a:r>
          </a:p>
          <a:p xmlns:a="http://schemas.openxmlformats.org/drawingml/2006/main">
            <a:r>
              <a:t>补充：DT 在 full 的 continuity/failure 更好，当前不是系统指标全面领先。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消融说明架构组件确实影响结果，但 prediction 和 prefetch 是耦合机制。</a:t>
            </a:r>
          </a:p>
          <a:p xmlns:a="http://schemas.openxmlformats.org/drawingml/2006/main">
            <a:r>
              <a:t>latency fallback 增益小但 CI 为正，适合解释为稳定器，不适合当主创新。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说明一维 RSU 布局对 LuST 无效，最终采用二维 grid 才形成有效 association。</a:t>
            </a:r>
          </a:p>
          <a:p xmlns:a="http://schemas.openxmlformats.org/drawingml/2006/main">
            <a:r>
              <a:t>外部迁移证明策略不是只在 NGSIM 上工作，但 backhaul 更高，必须诚实展示。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结尾不要说“工作完成”。明确告诉老师已经证明和尚未证明的边界。</a:t>
            </a:r>
          </a:p>
          <a:p xmlns:a="http://schemas.openxmlformats.org/drawingml/2006/main">
            <a:r>
              <a:t>把两个具体决策问题交给老师：贡献主线和下一轮资源分配。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答参数问题时使用。本体只有 18 万参数，计算重点在 episode/environment 与多 baseline 重训，不在网络规模。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回答时保持精确边界。承认限制不会削弱工作，反而说明实验和方法定义是可审计的。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0f0f5300c4b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1168d38cef4be0" /><Relationship Type="http://schemas.openxmlformats.org/officeDocument/2006/relationships/slideLayout" Target="/ppt/slideLayouts/slideLayout1.xml" Id="Raa885002449145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885002449145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8580dc83f4ab7" /><Relationship Type="http://schemas.openxmlformats.org/officeDocument/2006/relationships/notesSlide" Target="/ppt/notesSlides/notesSlide1.xml" Id="R66027c79f7874c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e8cddd4564452" /><Relationship Type="http://schemas.openxmlformats.org/officeDocument/2006/relationships/notesSlide" Target="/ppt/notesSlides/notesSlide2.xml" Id="R404c8a339c674b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46b84f9b24c1e" /><Relationship Type="http://schemas.openxmlformats.org/officeDocument/2006/relationships/notesSlide" Target="/ppt/notesSlides/notesSlide3.xml" Id="Rc0fb1a12862745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245bfbead4666" /><Relationship Type="http://schemas.openxmlformats.org/officeDocument/2006/relationships/notesSlide" Target="/ppt/notesSlides/notesSlide4.xml" Id="Rcebef2f28a6d40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92145a32448d7" /><Relationship Type="http://schemas.openxmlformats.org/officeDocument/2006/relationships/notesSlide" Target="/ppt/notesSlides/notesSlide5.xml" Id="R29692e8d1a5541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35550c70f43da" /><Relationship Type="http://schemas.openxmlformats.org/officeDocument/2006/relationships/notesSlide" Target="/ppt/notesSlides/notesSlide6.xml" Id="R20b5915fafc84f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4512b64424eab" /><Relationship Type="http://schemas.openxmlformats.org/officeDocument/2006/relationships/notesSlide" Target="/ppt/notesSlides/notesSlide7.xml" Id="R86e2bf34ff2949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69402f4fb412b" /><Relationship Type="http://schemas.openxmlformats.org/officeDocument/2006/relationships/notesSlide" Target="/ppt/notesSlides/notesSlide8.xml" Id="R4382c2203a5943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2b34e469343cb" /><Relationship Type="http://schemas.openxmlformats.org/officeDocument/2006/relationships/chart" Target="/ppt/slides/charts/chart1.xml" Id="R611ba3e05e6e49f3" /><Relationship Type="http://schemas.openxmlformats.org/officeDocument/2006/relationships/notesSlide" Target="/ppt/notesSlides/notesSlide9.xml" Id="R6041e16ee66d41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afb23d206447f" /><Relationship Type="http://schemas.openxmlformats.org/officeDocument/2006/relationships/chart" Target="/ppt/slides/charts/chart2.xml" Id="R8acbe800c2564871" /><Relationship Type="http://schemas.openxmlformats.org/officeDocument/2006/relationships/notesSlide" Target="/ppt/notesSlides/notesSlide10.xml" Id="R29aaddeefdfb40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d0f4ea5c34da2" /><Relationship Type="http://schemas.openxmlformats.org/officeDocument/2006/relationships/chart" Target="/ppt/slides/charts/chart3.xml" Id="Rb149312b88724da0" /><Relationship Type="http://schemas.openxmlformats.org/officeDocument/2006/relationships/notesSlide" Target="/ppt/notesSlides/notesSlide11.xml" Id="R6564cc1ada584d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f209186504293" /><Relationship Type="http://schemas.openxmlformats.org/officeDocument/2006/relationships/notesSlide" Target="/ppt/notesSlides/notesSlide12.xml" Id="R557164d794b740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a3321ebbb4e2a" /><Relationship Type="http://schemas.openxmlformats.org/officeDocument/2006/relationships/notesSlide" Target="/ppt/notesSlides/notesSlide13.xml" Id="R165aff31d85c47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d776bc5fb43dd" /><Relationship Type="http://schemas.openxmlformats.org/officeDocument/2006/relationships/notesSlide" Target="/ppt/notesSlides/notesSlide14.xml" Id="Rd0b46c34dc0e4f80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SA-GHMAPPO</c:v>
          </c:tx>
          <c:spPr>
            <a:solidFill xmlns:a="http://schemas.openxmlformats.org/drawingml/2006/main">
              <a:srgbClr val="1FB6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Formal mixed</c:v>
              </c:pt>
              <c:pt idx="1">
                <c:v>Formal full</c:v>
              </c:pt>
              <c:pt idx="2">
                <c:v>Holdout mixed</c:v>
              </c:pt>
              <c:pt idx="3">
                <c:v>Holdout full</c:v>
              </c:pt>
            </c:strLit>
          </c:cat>
          <c:val>
            <c:numLit>
              <c:formatCode>General</c:formatCode>
              <c:ptCount val="4"/>
              <c:pt idx="0">
                <c:v>92.993</c:v>
              </c:pt>
              <c:pt idx="1">
                <c:v>88.052</c:v>
              </c:pt>
              <c:pt idx="2">
                <c:v>90.436</c:v>
              </c:pt>
              <c:pt idx="3">
                <c:v>85.732</c:v>
              </c:pt>
            </c:numLit>
          </c:val>
        </c:ser>
        <c:ser>
          <c:idx val="1"/>
          <c:order val="1"/>
          <c:tx>
            <c:v>DT-Handoff-DRL</c:v>
          </c:tx>
          <c:spPr>
            <a:solidFill xmlns:a="http://schemas.openxmlformats.org/drawingml/2006/main">
              <a:srgbClr val="4C8DF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Formal mixed</c:v>
              </c:pt>
              <c:pt idx="1">
                <c:v>Formal full</c:v>
              </c:pt>
              <c:pt idx="2">
                <c:v>Holdout mixed</c:v>
              </c:pt>
              <c:pt idx="3">
                <c:v>Holdout full</c:v>
              </c:pt>
            </c:strLit>
          </c:cat>
          <c:val>
            <c:numLit>
              <c:formatCode>General</c:formatCode>
              <c:ptCount val="4"/>
              <c:pt idx="0">
                <c:v>85.318</c:v>
              </c:pt>
              <c:pt idx="1">
                <c:v>85.088</c:v>
              </c:pt>
              <c:pt idx="2">
                <c:v>84.837</c:v>
              </c:pt>
              <c:pt idx="3">
                <c:v>84.468</c:v>
              </c:pt>
            </c:numLit>
          </c:val>
        </c:ser>
        <c:ser>
          <c:idx val="2"/>
          <c:order val="2"/>
          <c:tx>
            <c:v>Popularity heuristic</c:v>
          </c:tx>
          <c:spPr>
            <a:solidFill xmlns:a="http://schemas.openxmlformats.org/drawingml/2006/main">
              <a:srgbClr val="FF9D4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Formal mixed</c:v>
              </c:pt>
              <c:pt idx="1">
                <c:v>Formal full</c:v>
              </c:pt>
              <c:pt idx="2">
                <c:v>Holdout mixed</c:v>
              </c:pt>
              <c:pt idx="3">
                <c:v>Holdout full</c:v>
              </c:pt>
            </c:strLit>
          </c:cat>
          <c:val>
            <c:numLit>
              <c:formatCode>General</c:formatCode>
              <c:ptCount val="4"/>
              <c:pt idx="0">
                <c:v>92.51</c:v>
              </c:pt>
              <c:pt idx="1">
                <c:v>87.555</c:v>
              </c:pt>
              <c:pt idx="2">
                <c:v>89.813</c:v>
              </c:pt>
              <c:pt idx="3">
                <c:v>85.132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23374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D8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B7D8A"/>
                    </a:solidFill>
                  </a:rPr>
                  <a:t>Mean total reward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B7D8A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D8A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B7D8A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Full − variant reward</c:v>
          </c:tx>
          <c:spPr>
            <a:solidFill xmlns:a="http://schemas.openxmlformats.org/drawingml/2006/main">
              <a:srgbClr val="1FB6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No hierarchy</c:v>
              </c:pt>
              <c:pt idx="1">
                <c:v>No prediction</c:v>
              </c:pt>
              <c:pt idx="2">
                <c:v>No adapter prefetch</c:v>
              </c:pt>
              <c:pt idx="3">
                <c:v>No event agent</c:v>
              </c:pt>
              <c:pt idx="4">
                <c:v>No latency fallback</c:v>
              </c:pt>
            </c:strLit>
          </c:cat>
          <c:val>
            <c:numLit>
              <c:formatCode>General</c:formatCode>
              <c:ptCount val="5"/>
              <c:pt idx="0">
                <c:v>13.176</c:v>
              </c:pt>
              <c:pt idx="1">
                <c:v>10.847</c:v>
              </c:pt>
              <c:pt idx="2">
                <c:v>10.503</c:v>
              </c:pt>
              <c:pt idx="3">
                <c:v>8.127</c:v>
              </c:pt>
              <c:pt idx="4">
                <c:v>0.422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818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B7D8A"/>
                    </a:solidFill>
                  </a:rPr>
                  <a:t>Mean total-reward delta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B7D8A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D8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33746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Reward</c:v>
          </c:tx>
          <c:spPr>
            <a:solidFill xmlns:a="http://schemas.openxmlformats.org/drawingml/2006/main">
              <a:srgbClr val="1FB6A6"/>
            </a:solidFill>
          </c:spPr>
          <c:dPt>
            <c:idx val="1"/>
            <c:spPr>
              <a:solidFill xmlns:a="http://schemas.openxmlformats.org/drawingml/2006/main">
                <a:srgbClr val="FF9D4D"/>
              </a:solidFill>
            </c:spPr>
          </c:dPt>
          <c:dPt>
            <c:idx val="2"/>
            <c:spPr>
              <a:solidFill xmlns:a="http://schemas.openxmlformats.org/drawingml/2006/main">
                <a:srgbClr val="4C8DFF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SA-GHMAPPO</c:v>
              </c:pt>
              <c:pt idx="1">
                <c:v>Popularity</c:v>
              </c:pt>
              <c:pt idx="2">
                <c:v>DT-Handoff-DRL</c:v>
              </c:pt>
            </c:strLit>
          </c:cat>
          <c:val>
            <c:numLit>
              <c:formatCode>General</c:formatCode>
              <c:ptCount val="3"/>
              <c:pt idx="0">
                <c:v>94.054</c:v>
              </c:pt>
              <c:pt idx="1">
                <c:v>93.107</c:v>
              </c:pt>
              <c:pt idx="2">
                <c:v>88.222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818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D8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96"/>
          <c:min val="8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D8A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1826"/>
            </a:gs>
            <a:gs pos="60000">
              <a:srgbClr val="0D2435"/>
            </a:gs>
            <a:gs pos="100000">
              <a:srgbClr val="17384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00C1E9-62C2-4AF6-939F-4A2CEFCD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57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84D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A56D0-5820-4F68-86B2-284B2269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rPr>
              <a:t>E3_REPRODUCED · 当前严格结论：Not TMC-ready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1943C-10E7-4633-9101-F4D32378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PPO_MEC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002A7-BF87-42E8-9A74-F9B0ADBA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面向跨 RSU 连续 DAG 工作流的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预测辅助多时间尺度协同控制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EC90B-06B5-4DF9-BBF2-11BD5651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D8E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8E5"/>
                </a:solidFill>
                <a:latin typeface="Aptos"/>
                <a:ea typeface="Aptos"/>
                <a:cs typeface="Aptos"/>
              </a:rPr>
              <a:t>创新点 · 整体框架 · Model Architecture · 数据与实验结果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AE4CB-FB49-4905-8FA8-9201DF74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57300"/>
            <a:ext cx="2686050" cy="3409950"/>
          </a:xfrm>
          <a:prstGeom xmlns:a="http://schemas.openxmlformats.org/drawingml/2006/main" prst="roundRect">
            <a:avLst>
              <a:gd name="adj" fmla="val 9929"/>
            </a:avLst>
          </a:prstGeom>
          <a:solidFill xmlns:a="http://schemas.openxmlformats.org/drawingml/2006/main">
            <a:srgbClr val="102F43"/>
          </a:solidFill>
          <a:ln xmlns:a="http://schemas.openxmlformats.org/drawingml/2006/main" w="9525">
            <a:solidFill>
              <a:srgbClr val="2851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3B643-7EF3-47BC-911B-4C33A279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81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rPr>
              <a:t>一句话贡献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EC4D8-1B26-47FF-AFA0-498E4442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5740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把 DAG 依赖、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adapter warm state、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移动预测和 handoff 迁移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放进同一个控制闭环。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74030-4038-439D-8963-1F5353A7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38600"/>
            <a:ext cx="188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0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6A462-D856-42CD-8DB8-6184E974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291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DD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DDA"/>
                </a:solidFill>
                <a:latin typeface="Aptos"/>
                <a:ea typeface="Aptos"/>
                <a:cs typeface="Aptos"/>
              </a:rPr>
              <a:t>导师汇报 · 2026.06.21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A86AA-6719-4492-96BB-31AD61F2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D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DDA"/>
                </a:solidFill>
                <a:latin typeface="Aptos"/>
                <a:ea typeface="Aptos"/>
                <a:cs typeface="Aptos"/>
              </a:rPr>
              <a:t>核心叙事：问题联合建模 → 可靠性融合 → 多时间尺度控制 → 严格证据边界</a:t>
            </a:r>
          </a:p>
        </p:txBody>
      </p:sp>
    </p:spTree>
    <p:extLst>
      <p:ext uri="{BB962C8B-B14F-4D97-AF65-F5344CB8AC3E}">
        <p14:creationId xmlns:p14="http://schemas.microsoft.com/office/powerpoint/2010/main" val="12111562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6937F9-D854-4132-81BB-1D84EBA5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PPO_MEC · 导师汇报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10588-3743-4422-AC31-7B4E8179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真正的问题不是“卸载一次”，而是跨 RSU 连续完成一条 DAG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54872-76A6-4B1D-9131-9F686122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2CA3E-5E0A-4884-8BF4-D1757C11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5A98C-9F74-41EE-8031-2F85053B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AI WORKFLOW</a:t>
            </a:r>
          </a:p>
        </p:txBody>
      </p:sp>
      <p:sp>
        <p:nvSpPr>
          <p:cNvPr id="6" name="dag-0">
            <a:extLst xmlns:a="http://schemas.openxmlformats.org/drawingml/2006/main">
              <a:ext uri="{FF2B5EF4-FFF2-40B4-BE49-F238E27FC236}">
                <a16:creationId xmlns:a16="http://schemas.microsoft.com/office/drawing/2014/main" id="{2387E382-B07E-407F-91D2-FA1D3F38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0012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D53E7-54EF-41F9-823F-EFBF775F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N1</a:t>
            </a:r>
          </a:p>
          <a:p xmlns:a="http://schemas.openxmlformats.org/drawingml/2006/main">
            <a:pPr algn="ct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感知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63C73-1922-44DA-AB95-79790322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66675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g-1">
            <a:extLst xmlns:a="http://schemas.openxmlformats.org/drawingml/2006/main">
              <a:ext uri="{FF2B5EF4-FFF2-40B4-BE49-F238E27FC236}">
                <a16:creationId xmlns:a16="http://schemas.microsoft.com/office/drawing/2014/main" id="{A7D2954F-6133-4783-853E-0EDD35A8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14500"/>
            <a:ext cx="100012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B1251-B040-465A-9720-A178EC01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28800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N2</a:t>
            </a:r>
          </a:p>
          <a:p xmlns:a="http://schemas.openxmlformats.org/drawingml/2006/main">
            <a:pPr algn="ct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检测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BE8A1-D56A-4B9B-ACA3-EC490B50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14500"/>
            <a:ext cx="66675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ag-2">
            <a:extLst xmlns:a="http://schemas.openxmlformats.org/drawingml/2006/main">
              <a:ext uri="{FF2B5EF4-FFF2-40B4-BE49-F238E27FC236}">
                <a16:creationId xmlns:a16="http://schemas.microsoft.com/office/drawing/2014/main" id="{288BAE6B-A7F2-4F86-A55A-136C60D8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62250"/>
            <a:ext cx="100012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F7C5F-9FD9-4238-ACC2-7732E886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76550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N3</a:t>
            </a:r>
          </a:p>
          <a:p xmlns:a="http://schemas.openxmlformats.org/drawingml/2006/main">
            <a:pPr algn="ct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规划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1B60D-DADD-4E6C-A27F-705C9774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62250"/>
            <a:ext cx="66675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ag-3">
            <a:extLst xmlns:a="http://schemas.openxmlformats.org/drawingml/2006/main">
              <a:ext uri="{FF2B5EF4-FFF2-40B4-BE49-F238E27FC236}">
                <a16:creationId xmlns:a16="http://schemas.microsoft.com/office/drawing/2014/main" id="{F2334C0D-F030-4200-8CE0-1EE7D955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100012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5E273-E521-4D71-80D4-159AFB2A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52675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N4</a:t>
            </a:r>
          </a:p>
          <a:p xmlns:a="http://schemas.openxmlformats.org/drawingml/2006/main">
            <a:pPr algn="ct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融合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26176-490F-4B1E-B64F-CFE57243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66675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D4D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1762125" y="2028825"/>
            <a:ext cx="5715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C8DFF"/>
            </a:solidFill>
            <a:prstDash val="solid"/>
            <a:head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762125" y="2409825"/>
            <a:ext cx="571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C8DFF"/>
            </a:solidFill>
            <a:prstDash val="solid"/>
            <a:head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333750" y="2028825"/>
            <a:ext cx="57150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B6A6"/>
            </a:solidFill>
            <a:prstDash val="solid"/>
            <a:head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333750" y="2552700"/>
            <a:ext cx="57150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B6A6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693E4-FF36-4961-AC25-22D83572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每个节点有依赖、输入/输出和 required adapter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DE855-122F-44FE-8EE1-E940F93A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47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MOBILITY + EDGE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91276-9E44-4138-A1C4-69D168B5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FB2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DDFEF3-D004-4F12-B05D-EC80DE01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8382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4F3D37-58C5-4D72-AFD4-34804D2A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431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RSU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4E691E-57DD-48EF-B424-166B20F3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A₁ warm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03B70C-A557-4382-9A3C-44B72870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8382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F9D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5787EB-1640-48F9-A6E6-6313C66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RSU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76ACC1-BC68-4E60-BB3A-BE66490D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4765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75B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E75B5B"/>
                </a:solidFill>
                <a:latin typeface="Aptos Display"/>
                <a:ea typeface="Aptos Display"/>
                <a:cs typeface="Aptos Display"/>
              </a:rPr>
              <a:t>A₂ cold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12B32F-FA88-4F40-8F77-8956A46E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000250"/>
            <a:ext cx="8382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329846-C3E4-4BAE-A185-C3848953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431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RSU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7CF50F-9DEC-4ECB-89D3-334D9862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4765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A₃ 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7DE660-2DB2-415D-8B38-E8EC53A0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05125"/>
            <a:ext cx="104775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1FB6A6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F0F241-E813-4722-8812-F70DB6AF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09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VEHICLE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1ED978-91B2-4523-8764-749C3B98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14675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D4D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45B64E-88FB-4CE7-8BD5-CC664BF8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rPr>
              <a:t>handoff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A3161C-2426-4191-9610-38A67C0A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25527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F760A9-6C53-44EA-B306-ADA8FFA3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67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F7A530-8436-4FDE-BC16-C0C36F04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338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9513F5-0338-4D8D-810D-31C9E29D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57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状态断裂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D0CA7B-2C8E-447A-AE6D-EA544FEF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720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新 RSU 可能没有所需 adapter，也没有前序节点状态。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060EAD-3CC9-4384-AAC4-E0AF545E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25527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6174CC-90D9-4F86-8B30-EB469B62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ABEF8F-088C-44DD-AE90-8488214B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338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59243C-3453-42FE-BAA4-7E5D5C98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57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时间尺度冲突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3101C8-FE17-4804-8A33-6081B1D4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720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cache 是慢决策，offload 是快决策，handoff 是事件决策。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1A0AE6-D610-4743-B929-5D5C6D75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AE5F39-265E-4DCA-8AA3-9E3EBBAA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来源：PPO_MEC system model / action schema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27BFFB-3BFA-4342-B45F-DAF7EF20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65341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06916F-0FE5-415F-BE52-A3941003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PPO_MEC · 导师汇报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CA8D5-F006-410D-83EC-326535A4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三项核心创新：联合问题、可靠性融合、异构时间尺度控制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763EC-BF6A-4DE8-905B-EBD97D5C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B5023-5EB5-4EBD-852B-A02C7513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73DCB-BCFB-4C04-8EC4-8A6E724E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333750" cy="39433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26CED-E2CE-4E48-9315-8B83E141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62BDD-3258-4D1B-8C67-218297CA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0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5A97B-F5F4-48D8-8219-8A03AE44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问题建模创新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EAFE7-673A-4C76-8EEA-73A37425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F6158-1310-438F-A87A-6E9F9B66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rPr>
              <a:t>跨 RSU 连续 DAG + adapter warm state + handoff migration 联合建模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4038E-9760-45F9-95C6-21FE4C2C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从“单任务局部最优”转向“工作流连续性与缓存状态的跨时域协同”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5F40E-51A9-429D-BC26-3672ED1C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24000"/>
            <a:ext cx="3333750" cy="39433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AD428-CC9D-4796-AAA0-DCFA2FA6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52600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A6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B28CC-AA36-4619-8FD0-A4185ECC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00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7B5AE-09AB-4956-879A-FF8BCDCE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05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状态表示创新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93D92-0737-4844-8448-D1C4A722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099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B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4D17B-D2CA-4B45-93A2-E2477B49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575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rPr>
              <a:t>DAG/RSU/vehicle 与 mobility surrogate 的可靠性门控融合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E5CB5-BE92-4112-BC0D-4E345ED5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624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把 prediction confidence、uncertainty、handoff countdown 与 graph frontier 一起编码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D2B30-2045-4A8E-9D1B-767ACD0A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24000"/>
            <a:ext cx="3333750" cy="39433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87F8A7-3432-4143-94D1-90D8437D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D4D"/>
          </a:solidFill>
          <a:ln xmlns:a="http://schemas.openxmlformats.org/drawingml/2006/main" w="9525">
            <a:solidFill>
              <a:srgbClr val="FF9D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7A885-3FB0-439C-B837-A98B3B80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0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FA87A-A53E-4A62-9CE2-45B3F269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控制结构创新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D929F-B5EF-4A40-9E5C-8BC63908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99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D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3EE63D-4260-43F2-A231-E7E8F4D1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rPr>
              <a:t>slow / fast / event 三控制头的层级条件 PPO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E8EDD-B956-4BAF-9CC9-DE2249FE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624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缓存、实时执行、切换准备各自决策，共享 centralized critic 与固定语义动作合同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76F583-A652-4C72-AF42-D1186A89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6299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D2435"/>
          </a:solidFill>
          <a:ln xmlns:a="http://schemas.openxmlformats.org/drawingml/2006/main" w="9525">
            <a:solidFill>
              <a:srgbClr val="0D24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E9B76D-64BE-49FE-A72E-FD32125B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9775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方法边界：创新在控制与融合，不声称提出了新的轨迹预测器，也不声称是 vehicle/RSU-level full MARL。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8CA304-215C-4531-96A5-365E9C19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8A8815-E8FC-40D8-8E50-44E6B328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来源：SA-GHMAPPO implementation + top-journal novelty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6B77E2-75B6-49B0-8D37-F08C2430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1196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AE6317-FC37-4C58-9104-C6AD18EA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PPO_MEC · 导师汇报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176D6-06B9-4D5E-B4F6-0CB30915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整体框架：真实轨迹与 DAG 驱动一个闭环 VEC 决策系统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40645-4E6E-4DC6-9B93-0F8D004E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8B05B-DF58-444D-A53D-6C43899B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229C7-1D68-40C1-957B-73A36CD1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数据输入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7B135-21A1-4036-9032-AF9E9A4C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924BB-0D7E-4413-A2FB-99FE8211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C24C6-1647-4F31-9C06-362306ED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NGSIM / LuST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E3D50-7A70-4D9A-9BCC-035CBCD9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57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mobility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90DBE-D962-40C0-A2F8-5E346162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BAEBC-2A3B-404F-ADA2-2DB26BF5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8152B-5D9A-480C-86EE-1E9C5F15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Alibaba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BA5BB-D320-480A-8157-7607D178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24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DAG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3E0FD-6BCF-40F1-B3AB-90091A35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A4BB6-252E-4BBD-8DD7-5FF553F1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10C97-8490-4DB4-95F5-A99A6550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Model catalog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075A2-DAC2-4B6B-8077-5FFC180C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base + 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C4A3D-24C0-4FEA-A511-4DA93447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00250" cy="2381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D2435"/>
          </a:solidFill>
          <a:ln xmlns:a="http://schemas.openxmlformats.org/drawingml/2006/main" w="9525">
            <a:solidFill>
              <a:srgbClr val="0D24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6C29E-3B79-4DBD-BAFF-C0F669CF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146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VEC Workflow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Environment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69522-E432-44FF-9142-C7DA017A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A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AE5"/>
                </a:solidFill>
                <a:latin typeface="Aptos"/>
                <a:ea typeface="Aptos"/>
                <a:cs typeface="Aptos"/>
              </a:rPr>
              <a:t>association · cache</a:t>
            </a:r>
          </a:p>
          <a:p xmlns:a="http://schemas.openxmlformats.org/drawingml/2006/main">
            <a:pPr algn="ctr">
              <a:defRPr sz="1200" b="0">
                <a:solidFill>
                  <a:srgbClr val="C8DA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AE5"/>
                </a:solidFill>
                <a:latin typeface="Aptos"/>
                <a:ea typeface="Aptos"/>
                <a:cs typeface="Aptos"/>
              </a:rPr>
              <a:t>DAG execution · handoff</a:t>
            </a:r>
          </a:p>
          <a:p xmlns:a="http://schemas.openxmlformats.org/drawingml/2006/main">
            <a:pPr algn="ctr">
              <a:defRPr sz="1200" b="0">
                <a:solidFill>
                  <a:srgbClr val="C8DA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AE5"/>
                </a:solidFill>
                <a:latin typeface="Aptos"/>
                <a:ea typeface="Aptos"/>
                <a:cs typeface="Aptos"/>
              </a:rPr>
              <a:t>reward +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3D78B-C82E-4497-A740-68565ABF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190750" cy="11906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842FD-42F3-4D3E-A193-9D0DBCA3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Semantic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499310-8E35-4DB1-8B45-D66F609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DAG · RSU/cache · vehicle</a:t>
            </a:r>
          </a:p>
          <a:p xmlns:a="http://schemas.openxmlformats.org/drawingml/2006/main">
            <a:pPr algn="ctr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prediction · 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2FE66-2CD5-4D02-945D-40699F11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2190750" cy="11906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F9FFF2-8518-4553-AEEE-F9214974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SA-GHMAPPO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01B0CA-4869-4401-9E86-97F610D5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005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graph fusion · 3 heads</a:t>
            </a:r>
          </a:p>
          <a:p xmlns:a="http://schemas.openxmlformats.org/drawingml/2006/main">
            <a:pPr algn="ctr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centralized critic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39BFD2-0432-445C-AE1E-80247376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5 语义动作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DDBFA7-4290-4A51-BC1A-4DC72A61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0045DE-DA55-4EFE-A749-C3B42E28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526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818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81826"/>
                </a:solidFill>
                <a:latin typeface="Aptos"/>
                <a:ea typeface="Aptos"/>
                <a:cs typeface="Aptos"/>
              </a:rPr>
              <a:t>0  cache fill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6BF165-265B-4193-8B9E-9570F27E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095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0A19BA-07E5-48E5-8127-A3994ADC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384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818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81826"/>
                </a:solidFill>
                <a:latin typeface="Aptos"/>
                <a:ea typeface="Aptos"/>
                <a:cs typeface="Aptos"/>
              </a:rPr>
              <a:t>1  next-RSU prefetch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470AED-DB5A-4F34-A44E-361D3E78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81350"/>
            <a:ext cx="2095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0A92B7-8062-405F-BCA2-9AAE41E2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242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818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81826"/>
                </a:solidFill>
                <a:latin typeface="Aptos"/>
                <a:ea typeface="Aptos"/>
                <a:cs typeface="Aptos"/>
              </a:rPr>
              <a:t>2  vehicle fallback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C903A-A989-4F98-BB39-03FC62F0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67150"/>
            <a:ext cx="2095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B2ECAD-5840-4BEE-8A7A-FA77DE83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100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818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81826"/>
                </a:solidFill>
                <a:latin typeface="Aptos"/>
                <a:ea typeface="Aptos"/>
                <a:cs typeface="Aptos"/>
              </a:rPr>
              <a:t>3  steady offload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0CC629-36F5-4CC6-9156-E94936A1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095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F9D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6E255E-35AD-4CC3-8814-D268DF6E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9582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4  handoff prepare</a:t>
            </a:r>
          </a:p>
        </p:txBody>
      </p:sp>
      <p:cxnSp>
        <p:nvCxnSpPr>
          <p:cNvPr id="84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5143500" y="2405063"/>
            <a:ext cx="666750" cy="10239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B6A6"/>
            </a:solidFill>
            <a:prstDash val="solid"/>
            <a:head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6905625" y="30003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8DFF"/>
            </a:solidFill>
            <a:prstDash val="solid"/>
            <a:head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4E049D-32CE-421B-B056-3454EB8C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862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cxnSp>
        <p:nvCxnSpPr>
          <p:cNvPr id="87" name=""/>
          <p:cNvCxnSpPr>
            <a:stCxn xmlns:a="http://schemas.openxmlformats.org/drawingml/2006/main" id="24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8001000" y="3971925"/>
            <a:ext cx="238125" cy="523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C8DFF"/>
            </a:solidFill>
            <a:prstDash val="solid"/>
            <a:head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F56808-3052-4386-BB79-6CA271C1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719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8D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8ED9C6-4195-4201-A0F3-275EBB9E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387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闭环反馈：reward + continuity / failure / backhaul / cache hit / migration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15AB79-DB89-4A4A-AB4B-C053381C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1D6B23-E6EF-4165-9AA7-B700A1E0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来源：VecWorkflowCoreEnv · semantic state · ActionSchema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43FCE0-E774-4799-92D3-E7BDD34F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3887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70B102-95ED-41E8-843F-9DD3C22D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PPO_MEC · 导师汇报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055EB-35F5-4018-AD15-7CA0FD4A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Model Architecture：七路 64 维表示融合，三 actor heads + centralized critic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ABB63-B4A9-4C2D-B05C-CA030453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E6D46-547B-43F6-BE94-D3BAE951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9B3C9-4E3D-4441-9CA1-B11B30D2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ENCODERS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73B54-3554-432E-B55D-65828E3F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E8465-8D31-4058-824E-EAE91DE8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DAG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C5775-9321-4E2C-AF24-DB26068C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5A701-5D88-4254-A4EE-E40F6FE4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Current 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38C35-3AE3-4899-86B3-926E8B81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E23A3-7719-4F17-B2C4-CC58E117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DAG frontier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260C5-662F-4201-A059-5FFEA096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193B7-B393-44BB-B940-C20BD7D8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RSU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1A330-2F2A-4F95-8B50-9B1E28CC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8C453-47BE-4CDF-A8CD-66311E36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Current RSU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BC308-D350-4941-9EC6-0D7C90CD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BA342-3A58-4A4C-A8AA-00736BFE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Target RSU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CD95B-FCB1-40A6-8FCB-BF31B6E4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F9D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77C20-2DE9-4506-B9E5-EE9F8CD7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911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Vehicle + prediction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60AEB-9B32-40D2-B7BA-CBB5F31E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2095500" cy="2190750"/>
          </a:xfrm>
          <a:prstGeom xmlns:a="http://schemas.openxmlformats.org/drawingml/2006/main" prst="roundRect">
            <a:avLst>
              <a:gd name="adj" fmla="val 11818"/>
            </a:avLst>
          </a:prstGeom>
          <a:solidFill xmlns:a="http://schemas.openxmlformats.org/drawingml/2006/main">
            <a:srgbClr val="0D2435"/>
          </a:solidFill>
          <a:ln xmlns:a="http://schemas.openxmlformats.org/drawingml/2006/main" w="9525">
            <a:solidFill>
              <a:srgbClr val="0D24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791E6-DC26-41E4-B451-4A59527B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Shared Fusion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69421-5DBD-4B95-B43B-6E7A78B3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52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rPr>
              <a:t>7 × 64 = 448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0149B7-F757-4CF8-B837-77C9275D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448 → 128 → 64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B4760-A868-4C3C-8FEA-BA1F5753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481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DD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DDA"/>
                </a:solidFill>
                <a:latin typeface="Aptos"/>
                <a:ea typeface="Aptos"/>
                <a:cs typeface="Aptos"/>
              </a:rPr>
              <a:t>ReLU</a:t>
            </a:r>
          </a:p>
        </p:txBody>
      </p:sp>
      <p:cxnSp>
        <p:nvCxnSpPr>
          <p:cNvPr id="89" name=""/>
          <p:cNvCxnSpPr>
            <a:stCxn xmlns:a="http://schemas.openxmlformats.org/drawingml/2006/main" id="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476500" y="1971675"/>
            <a:ext cx="666750" cy="1733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8"/>
            </a:solidFill>
            <a:prstDash val="solid"/>
            <a:headEnd type="none" w="med" len="med"/>
          </a:ln>
        </p:spPr>
      </p:cxnSp>
      <p:cxnSp>
        <p:nvCxnSpPr>
          <p:cNvPr id="90" name=""/>
          <p:cNvCxnSpPr>
            <a:stCxn xmlns:a="http://schemas.openxmlformats.org/drawingml/2006/main" id="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476500" y="2590800"/>
            <a:ext cx="66675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8"/>
            </a:solidFill>
            <a:prstDash val="solid"/>
            <a:headEnd type="none" w="med" len="med"/>
          </a:ln>
        </p:spPr>
      </p:cxnSp>
      <p:cxnSp>
        <p:nvCxnSpPr>
          <p:cNvPr id="91" name=""/>
          <p:cNvCxnSpPr>
            <a:stCxn xmlns:a="http://schemas.openxmlformats.org/drawingml/2006/main" id="10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476500" y="3209925"/>
            <a:ext cx="6667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8"/>
            </a:solidFill>
            <a:prstDash val="solid"/>
            <a:headEnd type="none" w="med" len="med"/>
          </a:ln>
        </p:spPr>
      </p:cxnSp>
      <p:cxnSp>
        <p:nvCxnSpPr>
          <p:cNvPr id="92" name=""/>
          <p:cNvCxnSpPr>
            <a:stCxn xmlns:a="http://schemas.openxmlformats.org/drawingml/2006/main" id="12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2476500" y="3705225"/>
            <a:ext cx="66675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8"/>
            </a:solidFill>
            <a:prstDash val="solid"/>
            <a:headEnd type="none" w="med" len="med"/>
          </a:ln>
        </p:spPr>
      </p:cxnSp>
      <p:cxnSp>
        <p:nvCxnSpPr>
          <p:cNvPr id="93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2476500" y="3705225"/>
            <a:ext cx="6667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8"/>
            </a:solidFill>
            <a:prstDash val="solid"/>
            <a:headEnd type="none" w="med" len="med"/>
          </a:ln>
        </p:spPr>
      </p:cxnSp>
      <p:cxnSp>
        <p:nvCxnSpPr>
          <p:cNvPr id="94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2476500" y="3705225"/>
            <a:ext cx="66675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8"/>
            </a:solidFill>
            <a:prstDash val="solid"/>
            <a:headEnd type="none" w="med" len="med"/>
          </a:ln>
        </p:spPr>
      </p:cxnSp>
      <p:cxnSp>
        <p:nvCxnSpPr>
          <p:cNvPr id="95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2476500" y="3705225"/>
            <a:ext cx="666750" cy="1981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E2E8"/>
            </a:solidFill>
            <a:prstDash val="solid"/>
            <a:headEnd type="non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4F97D7-C700-4E25-AF34-EBA5EC78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3812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490039-B4A2-42A4-8AE7-BE4A0937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383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Slow actor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8A9ECB-08C4-4712-9AFF-D5703F83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240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64 → 64 → 64 → 3</a:t>
            </a:r>
          </a:p>
        </p:txBody>
      </p:sp>
      <p:cxnSp>
        <p:nvCxnSpPr>
          <p:cNvPr id="99" name=""/>
          <p:cNvCxnSpPr>
            <a:stCxn xmlns:a="http://schemas.openxmlformats.org/drawingml/2006/main" id="2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5238750" y="2066925"/>
            <a:ext cx="952500" cy="1638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B6A6"/>
            </a:solidFill>
            <a:prstDash val="solid"/>
            <a:head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1AB2FE-6EA0-4BED-9014-E4A66EA5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23812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73E26A-3FC5-4BCE-8A1F-210A2BD2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908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Fast actor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897A62-31B1-4832-A5DC-C29082B5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765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67 → 64 → 64 → 2</a:t>
            </a:r>
          </a:p>
        </p:txBody>
      </p:sp>
      <p:cxnSp>
        <p:nvCxnSpPr>
          <p:cNvPr id="103" name=""/>
          <p:cNvCxnSpPr>
            <a:stCxn xmlns:a="http://schemas.openxmlformats.org/drawingml/2006/main" id="20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5238750" y="3019425"/>
            <a:ext cx="95250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C8DFF"/>
            </a:solidFill>
            <a:prstDash val="solid"/>
            <a:head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559A63-462D-42F9-8419-C149B9F0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23812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F9D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38744E-6EE6-4D89-BD4A-834C4B0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433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Event actor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7B39F9-0FE7-471B-ABE5-6439AB9B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90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69 → 64 → 64 → 2</a:t>
            </a:r>
          </a:p>
        </p:txBody>
      </p:sp>
      <p:cxnSp>
        <p:nvCxnSpPr>
          <p:cNvPr id="107" name=""/>
          <p:cNvCxnSpPr>
            <a:stCxn xmlns:a="http://schemas.openxmlformats.org/drawingml/2006/main" id="20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238750" y="3705225"/>
            <a:ext cx="95250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D4D"/>
            </a:solidFill>
            <a:prstDash val="solid"/>
            <a:head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766F2F-928B-4FED-A338-1994F96D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3812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73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BBD4AF-849D-4C17-A13A-399DEA9D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863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Centralized critic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E2BD84-8982-4F3F-9A86-2B002C78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720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64 → 64 → 64 → 1</a:t>
            </a:r>
          </a:p>
        </p:txBody>
      </p:sp>
      <p:cxnSp>
        <p:nvCxnSpPr>
          <p:cNvPr id="111" name=""/>
          <p:cNvCxnSpPr>
            <a:stCxn xmlns:a="http://schemas.openxmlformats.org/drawingml/2006/main" id="20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238750" y="3705225"/>
            <a:ext cx="952500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84D"/>
            </a:solidFill>
            <a:prstDash val="solid"/>
            <a:head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B62223-D42E-4129-9025-02C20C1B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286000" cy="3752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8AE996-448B-4D30-BAE3-98796A80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764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180,360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F5D7AB-94F2-4E6B-B65C-BCD454FC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09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trainable parameters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0070F3-1FEA-41C2-AE86-0ED22C0C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AB2FBE-12DC-4717-BA3B-A5B3192A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575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Encoder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0FDF63-D43D-4DF5-B2D0-BE7569BE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575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146,048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7EB0DD-5767-4C24-99C3-2F118C5C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48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Slow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D178BB-5BA4-4F62-91E2-72CD9604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48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8,515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E0A1FE-4C16-4087-8335-4E76C2E5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386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Fast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734846-D699-4D1D-BED8-2D102D22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386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8,642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28C3F5-C782-497C-9442-B5A82E26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29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Event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38D4AF-DB09-478B-AD1B-79C0BEA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29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8,770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227FE6-9058-4CDF-BE7E-496B7875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196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Critic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4CA767-1A87-45C7-8B4C-164C7601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196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8,385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4968E6-3204-41F8-8CD4-B02CBCD3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91D5F10-AFC5-4221-ABBD-0C5D9130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来源：v7 seed-7 checkpoint network_state_dict；fusion_encoder.py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0361E2-E8AB-4353-9674-1D09C03F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98112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F9C37-D6D3-4C9A-A40D-116693F6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PPO_MEC · 导师汇报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49A33-FB3C-4190-9188-EC96B7CB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多时间尺度动作设计：不同频率分工，最后落到同一语义合同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4537A-586E-4C24-B6F3-E9E93FA8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D1999-A8AD-4B80-A801-E780A3CC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89FAE-8F90-4B80-A355-9013581C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14325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A06FD-306E-42F1-8127-7C487125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A6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2F40C-0AD4-4F97-B1D4-AF7E8BFD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383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82D2C-23F3-4C50-8E3E-6348A686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缓存 / 预取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EFC04-7A81-468E-8B9E-12F88527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3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523FE-E2BD-4285-9BF9-A9297624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7241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5C5C9-5C24-47C9-9837-85AEAF8C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7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33746"/>
                </a:solidFill>
                <a:latin typeface="Aptos"/>
                <a:ea typeface="Aptos"/>
                <a:cs typeface="Aptos"/>
              </a:rPr>
              <a:t>不改 cache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F5405-4A1D-4DB4-ADE9-3E81B0FC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7241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A8511-9B86-4F13-B855-9AB4B3EA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5282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7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33746"/>
                </a:solidFill>
                <a:latin typeface="Aptos"/>
                <a:ea typeface="Aptos"/>
                <a:cs typeface="Aptos"/>
              </a:rPr>
              <a:t>当前 RSU fill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74811-552C-4366-8EE1-253B3654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27241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C99DB-B88E-4832-81EC-0647F1EC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002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rPr>
              <a:t>下一 RSU prefetch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3DAC1-6B10-44F1-9E80-1615CE7E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分钟级 / 稳态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26F0B-7C64-46F6-88EE-200CE5CC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314325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E8AC1-FEB7-4992-858D-C5DA7E9A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13C94-317A-4821-9E84-D5777DD7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383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B18A3-27B5-4F5B-82A0-0A51150C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执行 / 卸载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94AC2-9E66-402A-8585-B43E7BEC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479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2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0099F-DBEB-47E4-A47C-1D5FBE3D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9900"/>
            <a:ext cx="27241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43D7A-89E6-4BA1-B16A-876E7886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9562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7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33746"/>
                </a:solidFill>
                <a:latin typeface="Aptos"/>
                <a:ea typeface="Aptos"/>
                <a:cs typeface="Aptos"/>
              </a:rPr>
              <a:t>当前 RSU offload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02D9D9-335C-488F-ADEF-C5C1AA7E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27241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131124-DEA7-46E6-B8AC-364EF2C4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5282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rPr>
              <a:t>vehicle fallback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C18C3-B6B8-43EA-BB6F-5DDF569A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C8D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C8DFF"/>
                </a:solidFill>
                <a:latin typeface="Aptos Display"/>
                <a:ea typeface="Aptos Display"/>
                <a:cs typeface="Aptos Display"/>
              </a:rPr>
              <a:t>每个 DAG 节点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1DB5D1-A511-411A-9285-E3F7A5CF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81150"/>
            <a:ext cx="314325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9D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D93622-59C8-4FE5-8F70-C1445596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9070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D4D"/>
          </a:solidFill>
          <a:ln xmlns:a="http://schemas.openxmlformats.org/drawingml/2006/main" w="9525">
            <a:solidFill>
              <a:srgbClr val="FF9D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1BA7DD-FF41-43CC-AC1A-7F86B1AC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383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D3832B-F14A-42D3-A140-2C1A116C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66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切换 / 迁移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CE0438-FDF7-4A9D-9368-7C922762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2 actions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A4BAA4-6224-40AC-B2CC-9FE14445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27241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E1DA01-E493-4534-B3B3-FBAFC12A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74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33746"/>
                </a:solidFill>
                <a:latin typeface="Aptos"/>
                <a:ea typeface="Aptos"/>
                <a:cs typeface="Aptos"/>
              </a:rPr>
              <a:t>keep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05CF46-BDB7-40A5-868C-BC2E04D3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67100"/>
            <a:ext cx="27241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EF6A30-F25D-4188-B818-F6336A4B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5282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rPr>
              <a:t>handoff prepare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942A7F-92A1-41B4-95B8-AD418C61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rPr>
              <a:t>handoff 触发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8FB95C-8156-4C02-9A30-16E45BDA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81550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C5E9C3-2800-463F-9D6B-2F812BB2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6482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层级概率条件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8C2E9F-1667-40F2-8B9B-09353866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48250"/>
            <a:ext cx="8877300" cy="762000"/>
          </a:xfrm>
          <a:prstGeom xmlns:a="http://schemas.openxmlformats.org/drawingml/2006/main" prst="roundRect">
            <a:avLst>
              <a:gd name="adj" fmla="val 27500"/>
            </a:avLst>
          </a:prstGeom>
          <a:solidFill xmlns:a="http://schemas.openxmlformats.org/drawingml/2006/main">
            <a:srgbClr val="0D2435"/>
          </a:solidFill>
          <a:ln xmlns:a="http://schemas.openxmlformats.org/drawingml/2006/main" w="9525">
            <a:solidFill>
              <a:srgbClr val="0D243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85B4BF-FC2E-4E64-BE49-29B44E4C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rPr>
              <a:t>优先级聚合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FC8CD6-F6B5-403B-BDF1-241CA05C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006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event prepare  →  predictive prefetch  →  cache fill  →  vehicle fallback  →  steady offload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476C0A-ACD3-47FC-8395-B6E85A3C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50545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CDD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DDA"/>
                </a:solidFill>
                <a:latin typeface="Aptos"/>
                <a:ea typeface="Aptos"/>
                <a:cs typeface="Aptos"/>
              </a:rPr>
              <a:t>Action mask：没有目标、目标相同或 adapter 已 ready 时，直接屏蔽不合法动作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EA1772-35A1-4FA4-B936-B137F260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6EFC16-42A4-4F91-A03B-984BD139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来源：sa_ghmappo_core.py · action_schema.py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6CCDD1-D95F-4DC7-86C5-C1270F8A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517305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B85360-7020-46FE-A8C8-A6DB97DB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PPO_MEC · 导师汇报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1A8CD-F5AF-4A7F-B504-78284206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训练设计：学习核心与 policy guards 分层，避免把规则包装成端到端创新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BFA94-0A2F-4835-9479-983E1011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2182C-F624-4EA5-B1C7-2CDE16BA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F9650-43D9-4ED5-821D-2A2E0564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LEARNED 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A8B21-6AA6-4FD6-A8CA-7778A368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11CB6-B3D9-476A-9A57-2ABE0947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40801-1B18-4DAA-B02D-FFFD3356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57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PPO + GAE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F54ED-689D-45C5-BC18-3CC38B7A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clip 0.075 · γ 0.99 · λ 0.95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6EC3C-4FAF-4188-8BB9-1BE745EF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EA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EB24D-7FF2-4C68-BA41-ECE76490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23472-3302-4780-8375-C10543B3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Centralized critic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535F8-634F-4C1E-ADB9-0A64C3AF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continuity + reliability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FD967-5F22-4DD1-9173-8F9F3168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EA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569F1-05CC-4083-9AAE-33A742BC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F6DFF-82FE-44C1-8F3E-AD1CD408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76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Mechanism auxiliary loss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60156-36B6-4727-9FD5-EFA7E296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prepare timing / event credit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FCE5C-874F-4510-A8DC-5555E5FA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EA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FDC75-5158-4A45-AFA0-16AC9E39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BFBBF-16AD-4700-9F80-F30E8A81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Mechanism-window sampling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EA25E-6715-47C5-9226-42570E16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052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handoff / mismatch oversampling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64023-F777-43C5-A4ED-9E228F0C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EA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047C97-24BA-4150-B30E-8E60945A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C87A8-4C61-4BE7-BFCA-4DF83F67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95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Hierarchical conditioning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D0F41-747A-47F5-9BE4-952A5872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14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slow → fast → event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6E1A3-A2FB-43A4-9B65-CE5C532B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82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EA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11867A-251D-4F00-A439-91631063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rPr>
              <a:t>POLICY-SIDE GUARDS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FCA292-81F2-4836-9000-FA6CF46C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14350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F9D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1C9DD9-E574-4F0F-A866-805CDB5B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A3AC99-F69B-4E09-8379-0CD05295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57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Prediction admission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0494E4-F88D-439F-A9E2-5D5FED19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confidence ≥ 0.55 + target alignment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A150D0-F289-4BB3-8CDF-8A2C115C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9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D8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FF9976-B481-4CEB-A6EF-3B8E6E36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6F04E8-0845-4BBC-85A1-F2637019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Cache freshness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02BAA3-AD2B-406C-9750-BC31E8AA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prefetch countdown ≤ 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E93931-9A0F-4F8D-9751-8D21E799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194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D8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B7CCD5-EBD5-4969-A5D5-0949C85F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7707F0-6294-4B8D-B5CA-2299F2A6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Backhaul guard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38860E-8E04-4A25-A091-845FB5C0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limit reactive fills / adapter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BBF53B-126A-4EDE-BC07-AED4D4EA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290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D8B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EB5C1D-A1D8-4262-BC36-F793C0CC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86E339-EB8F-4463-8A3A-42D577E6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86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Continuity guard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95F476-FA87-4D4F-B710-045E770E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protect prepare near handoff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C6C094-EF0E-417F-9F40-02ECB333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386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D8B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96E970-CC60-4E09-8921-147E6B91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14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D5162D-F504-4E83-A384-1F053605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Latency fallback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91E831-395F-4DFB-968D-DEB81694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14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low-risk local execution bias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57B14E-FD87-49E8-84F1-EACA0E76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482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D8B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660081-5857-4A55-A2FC-1DFC28D4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394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D2435"/>
          </a:solidFill>
          <a:ln xmlns:a="http://schemas.openxmlformats.org/drawingml/2006/main" w="9525">
            <a:solidFill>
              <a:srgbClr val="0D243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C7F900-B110-4B42-BC2A-6EDEC036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汇报口径：前三项方法创新以 learned core 为主；guards 作为安全/稳定机制单列并接受消融。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48E5A3-814F-4BF6-8C32-E1E4C4BD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326E9C-1FC7-443C-969B-B8BCE080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来源：v7 config · train summary · mechanism ablation contract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EE7BFB-0D40-416E-A538-D84D14EF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70202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422B7C-970E-401B-A785-270A7C6C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PPO_MEC · 导师汇报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7FF23-3326-4B3E-B4DC-BB26B756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数据与协议：真实 mobility + 真实 DAG，严格 split 按时间区间互斥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22EAA-E343-4E04-AA54-8032BC0C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5CA92-C7A6-4E7C-89DA-33A435D7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A1892-D77D-4A70-AF43-CCB55AB4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574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104D9-DE56-4C3B-B9ED-37A984DC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574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80032-311E-40A4-93FB-227440B3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11.85M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46EA9-952D-4CD5-903A-C82D463C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02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rPr>
              <a:t>NGSIM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3FE0D-3B2F-41FB-BA72-0F1F4A1F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≈ 2.0 GB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B2979-CAEA-4715-9FF0-D6765668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04950"/>
            <a:ext cx="24574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CFE92-2E7E-4DAA-B164-DFA9E03C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04950"/>
            <a:ext cx="24574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62CCB-CC7A-4218-AE5E-3A4AAA15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14.30M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0FA1C-98BE-4F8E-804A-700020E1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002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rPr>
              <a:t>Alibaba task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51236-231C-4EBE-8AF5-59ABC4C2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≈ 765 MB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A55C1-A882-475D-89D1-033CBD0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24574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1BA04-BE50-44F6-A8DE-FF7ABB66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24574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95CC0-781A-4B8E-AB10-9D98863E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145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1,977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5EE19-E2E1-4F5C-9CC3-62BE9CF2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02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rPr>
              <a:t>valid sampled DAGs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69FB2-FF17-469F-9753-774C0642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5–15 tasks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DA9F0-5349-49BB-BD04-C9D910B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4574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6C121-2560-42FD-A62B-17E3AE3A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4574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61BA8E-9FE9-4919-85AF-AC73EFD8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145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183K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0485E-164E-4AE9-B798-372137D0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02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rPr>
              <a:t>LuST FCD records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0FFE0-D973-4686-B0BA-6D82143D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external mobility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D3D3F5-5D24-4F7F-8F82-F884582E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857750" cy="278130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9D335C-AEE8-448D-9FBE-AC2E7E92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训练与 baseline contract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6EAC71-6F78-4CB0-9CDE-5C0FB3F4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Seeds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27000-67CD-4575-B5BE-C987CF71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814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7 / 13 / 29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D6494B-8938-4830-8123-96D8C710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8A6F5E-4141-4881-9014-A64D2809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SA training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2BC870-AC85-43DE-BFE3-2A7280A9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52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128 episodes / seed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810798-D93E-4D48-8B5A-88F55404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09DF8-277C-4092-A578-412492CF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Updates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BD0F44-1A3E-4E54-98A0-6A5E6B4E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24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32 / seed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DAEC7E-4875-49DC-ADC8-03080893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98AB43-0EFE-496E-842E-D765818B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Training windows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4D895A-6E6D-4F3A-8111-A0CA727F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958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6, full-stratified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4416B9-B3BB-4C81-BFDF-B0C5396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7207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067F00-129B-467D-9EBE-F65C616B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Learned baselines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11421E-93A1-4D04-90BC-098B8443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673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9 clean-retrained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6CD21F-49BD-4ADF-8086-24A54131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D8E0D5-501A-497A-97A1-43C28F68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86100"/>
            <a:ext cx="5619750" cy="278130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0D2435"/>
          </a:solidFill>
          <a:ln xmlns:a="http://schemas.openxmlformats.org/drawingml/2006/main" w="9525">
            <a:solidFill>
              <a:srgbClr val="0D24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19E3FB-C5F8-4065-95C9-5835175A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Strict non-overlap split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19E36D-0455-4E9E-8C6C-9DFE8CD6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4300"/>
            <a:ext cx="19050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7384D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7EB3D2-145D-45FC-8054-E691557D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957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C8D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4C8DFF"/>
                </a:solidFill>
                <a:latin typeface="Aptos Display"/>
                <a:ea typeface="Aptos Display"/>
                <a:cs typeface="Aptos Display"/>
              </a:rPr>
              <a:t>FORMAL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B6159C-622C-48FE-88A3-7548CCD2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624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 full windows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87328A-8807-4266-928D-74A47B68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19050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7384D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0FB666-135A-42C8-B50B-0D9F0984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957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rPr>
              <a:t>HOLDOUT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C21914-FF8F-4D01-84E7-E63991CA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624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 full windows</a:t>
            </a:r>
          </a:p>
        </p:txBody>
      </p:sp>
      <p:cxnSp>
        <p:nvCxnSpPr>
          <p:cNvPr id="105" name="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8210550" y="43243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9D4D"/>
            </a:solidFill>
            <a:prstDash val="dash"/>
            <a:head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255309-1ADB-4532-BC6C-C4778457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rPr>
              <a:t>0 interval overlap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D73A31-9C23-4F87-A799-795DE720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A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AE5"/>
                </a:solidFill>
                <a:latin typeface="Aptos"/>
                <a:ea typeface="Aptos"/>
                <a:cs typeface="Aptos"/>
              </a:rPr>
              <a:t>split 内不重叠 · split 间不重叠 · mixed/full 分开统计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479BF4-4E2C-4A76-BC80-97FAEF91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CBE519-17B7-4177-B457-DCBFFED1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来源：raw data files · sampled DAG stats · window_independence.json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031835-F9F8-4CFC-8555-556FEC9D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39301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CBF3C1-CD20-4F5A-96DB-8F8CEE26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PPO_MEC · 导师汇报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3FE01-63FC-4717-A7B9-5A4E6D45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严格结果：四个 split 点估计均领先，但 full 的 95% CI 尚未越过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CF98D-F11B-40FB-801D-C84C5CD5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B7B21-8BD7-458F-B8FD-485CC656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798EC-01E8-4FC8-9B01-A589C68A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838200" y="1714500"/>
          <a:ext xmlns:a="http://schemas.openxmlformats.org/drawingml/2006/main" cx="676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1ba3e05e6e49f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E7B23-713C-48B5-87EC-C48E2A48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66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SA − strongest learned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D0BF3-87F8-4478-B1DF-27955760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3238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25A8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8A735-4352-4970-80F8-E0170580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Formal mixed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844EB-5539-4516-BC6D-7304DA7C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145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A87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5A874"/>
                </a:solidFill>
                <a:latin typeface="Aptos Display"/>
                <a:ea typeface="Aptos Display"/>
                <a:cs typeface="Aptos Display"/>
              </a:rPr>
              <a:t>+7.676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718D2-7BE3-4FD1-9FFC-6E6EF9BE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383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[2.775, 13.402]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13F9B-B0A9-405E-B08A-368E9F07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1812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A874"/>
          </a:solidFill>
          <a:ln xmlns:a="http://schemas.openxmlformats.org/drawingml/2006/main" w="9525">
            <a:solidFill>
              <a:srgbClr val="25A8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CD054-5DF0-44CC-AD35-4ED4C842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228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CI &gt;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5F47F-B722-4633-925B-DF6F49B8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3238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E75B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EA1AE-D4CB-4693-B298-AB7EE52D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289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Formal full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916F6-A9F2-408E-B26D-18F85CC1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908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75B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75B5B"/>
                </a:solidFill>
                <a:latin typeface="Aptos Display"/>
                <a:ea typeface="Aptos Display"/>
                <a:cs typeface="Aptos Display"/>
              </a:rPr>
              <a:t>+2.964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7B45B-AD2D-4131-8736-44E67A3D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146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[-0.203, 6.453]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91736-9ED2-4D3A-9D20-C46C35DB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0575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5B5B"/>
          </a:solidFill>
          <a:ln xmlns:a="http://schemas.openxmlformats.org/drawingml/2006/main" w="9525">
            <a:solidFill>
              <a:srgbClr val="E75B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3A93A-85E5-4D4C-9371-8058DD77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105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跨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25EDE-07AA-4A6C-8DCA-45AAB7D5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3238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25A8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EA163-CEFD-43B3-8B98-82D59892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052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Holdout mixed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3D0CFF-8777-46E0-B8EB-48F45D4E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671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A87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5A874"/>
                </a:solidFill>
                <a:latin typeface="Aptos Display"/>
                <a:ea typeface="Aptos Display"/>
                <a:cs typeface="Aptos Display"/>
              </a:rPr>
              <a:t>+5.599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D6F691-7CA2-43E3-ADA9-72797836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909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[2.430, 9.186]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E7252D-3E8F-44AF-96F0-167474A6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9338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A874"/>
          </a:solidFill>
          <a:ln xmlns:a="http://schemas.openxmlformats.org/drawingml/2006/main" w="9525">
            <a:solidFill>
              <a:srgbClr val="25A87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121BA-8C43-4D72-AE13-9BCF39A6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9814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CI &gt; 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96E936-7C42-4FC4-997B-CCDAC4E8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3238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E75B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0B367-CB79-4D58-BA1E-8FE4CCBC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815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Holdout full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989B3-C978-43AC-8473-D42383D9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434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75B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75B5B"/>
                </a:solidFill>
                <a:latin typeface="Aptos Display"/>
                <a:ea typeface="Aptos Display"/>
                <a:cs typeface="Aptos Display"/>
              </a:rPr>
              <a:t>+1.263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0C1F8F-034F-43DC-AC1E-BA6A1793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672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[-0.816, 3.513]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E54348-831B-422A-AA3D-49CC156B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8101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5B5B"/>
          </a:solidFill>
          <a:ln xmlns:a="http://schemas.openxmlformats.org/drawingml/2006/main" w="9525">
            <a:solidFill>
              <a:srgbClr val="E75B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18E15A-B70E-4EC2-8705-7383C553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857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跨 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0C17C5-00F6-4727-9A57-22EB4B38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05450"/>
            <a:ext cx="32385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D2435"/>
          </a:solidFill>
          <a:ln xmlns:a="http://schemas.openxmlformats.org/drawingml/2006/main" w="9525">
            <a:solidFill>
              <a:srgbClr val="0D243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693F63-21D6-4F82-9DFB-8C4596DC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022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结论：mixed 成立；full 仍需补强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EDC002-CFDF-43DE-B633-949E5C5A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72E8D6-ED90-474A-9B28-5AFB3F9E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来源：strict non-overlap aggregate summaries + paired cluster bootstrap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A558A9-9CA2-4A61-818F-9C3F73CE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870112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D0D06-5BBC-425B-B446-9A5C0D95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PPO_MEC · 导师汇报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C86F9-E2B8-4270-871A-7AB5AD41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机制消融：hierarchy、prediction、prefetch 与 event head 都有正贡献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ED4B3-01D9-41EA-A300-D1A0ACD4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08A54-A3DA-4CFC-AC70-7DB10776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A749B-947D-490B-97CF-F169ADDD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524750" cy="4381500"/>
          </a:xfrm>
          <a:prstGeom xmlns:a="http://schemas.openxmlformats.org/drawingml/2006/main" prst="roundRect">
            <a:avLst>
              <a:gd name="adj" fmla="val 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6762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cbe800c256487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F84C3-01D5-4CAC-BF9A-34870D62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6E5FC-79A0-47DD-9976-C6B7A14A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6257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C8D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4C8DFF"/>
                </a:solidFill>
                <a:latin typeface="Aptos Display"/>
                <a:ea typeface="Aptos Display"/>
                <a:cs typeface="Aptos Display"/>
              </a:rPr>
              <a:t>3 seeds · paired cluster 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0E60E-A0D6-4AF7-8CA5-6C91ADE3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306705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49406-95CA-4ABB-AFF1-FAF8C58E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4785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最强消融信号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9DD29-5671-4A9C-8FFF-9EC29978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Hierarchy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CC516-A8EA-4FC9-BC5B-C5CA05F4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3842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A87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A874"/>
                </a:solidFill>
                <a:latin typeface="Aptos Display"/>
                <a:ea typeface="Aptos Display"/>
                <a:cs typeface="Aptos Display"/>
              </a:rPr>
              <a:t>+13.176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8CDD4-68BE-4E23-986D-6E3BD012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28950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95% CI [7.111, 19.228]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565B2-03C3-4CFB-AAF6-D60F49B1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81400"/>
            <a:ext cx="306705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F9D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15E5C-6426-4E8E-B830-FD60AAC6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000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rPr>
              <a:t>解释边界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E1AA1-0AC2-4409-9EB7-0740B816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2609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Prediction 与 prefetch</a:t>
            </a:r>
          </a:p>
          <a:p xmlns:a="http://schemas.openxmlformats.org/drawingml/2006/main">
            <a:pPr algn="l">
              <a:defRPr sz="17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高度耦合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408A4-27D4-4EF2-B0FB-0CAE97D0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387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两个 delta 不能相加，也不能当作正交因果贡献。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401DB-FD4C-4F96-8EA4-08A3B009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5A25C5-30C2-42CE-B499-E6C12431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来源：current-contract v7 formal ablation statistics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29DCF-D9AF-4563-AC80-4EE47E5A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89281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095B36-BC4A-4722-B830-0F3A12F5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PPO_MEC · 导师汇报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43697-706C-45AC-845A-7C00B32F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外部迁移：LuST reward 仍领先，但 backhaul trade-off 必须同时报告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B7F70-55CB-4BDC-A87C-30F09D27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BD119-9794-4F42-AD30-B2A97D86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8DB35-E8AB-4D6E-9921-4B5B05B7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4292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CBC0E-05C1-48B1-AC47-CF77C357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LuST + Alibaba · total reward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952500" y="2190750"/>
          <a:ext xmlns:a="http://schemas.openxmlformats.org/drawingml/2006/main" cx="46672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49312b88724da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BD2DC-E645-4419-BEB5-30E95625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72050"/>
            <a:ext cx="3905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25A8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254DB-519C-4FDF-88F8-C880AF4C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019675"/>
            <a:ext cx="3752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A874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5A874"/>
                </a:solidFill>
                <a:latin typeface="Aptos Display"/>
                <a:ea typeface="Aptos Display"/>
                <a:cs typeface="Aptos Display"/>
              </a:rPr>
              <a:t>SA − DT  +5.832  [4.424, 7.209]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6096D-AEED-4FD9-AD63-4D9D5E57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5086350" cy="1866900"/>
          </a:xfrm>
          <a:prstGeom xmlns:a="http://schemas.openxmlformats.org/drawingml/2006/main" prst="roundRect">
            <a:avLst>
              <a:gd name="adj" fmla="val 11224"/>
            </a:avLst>
          </a:prstGeom>
          <a:solidFill xmlns:a="http://schemas.openxmlformats.org/drawingml/2006/main">
            <a:srgbClr val="0D2435"/>
          </a:solidFill>
          <a:ln xmlns:a="http://schemas.openxmlformats.org/drawingml/2006/main" w="9525">
            <a:solidFill>
              <a:srgbClr val="0D24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7038B-51A8-4279-A40A-0B6D32D2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Support suites · weakest learned-baseline delta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B638F-02E9-47BF-A648-7CFA2541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09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rPr>
              <a:t>+4.820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51C43-748C-4C29-8F0E-FA1A6B07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8DA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AE5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31649-5CC3-4A63-9BE4-EC7B642A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rPr>
              <a:t>+9.792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13CDC-93D1-41A8-860F-6C0C9A2A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8DA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AE5"/>
                </a:solidFill>
                <a:latin typeface="Aptos"/>
                <a:ea typeface="Aptos"/>
                <a:cs typeface="Aptos"/>
              </a:rPr>
              <a:t>System robustness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2859D-33D0-4A6E-B8D9-D01E66DB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DE0D5"/>
                </a:solidFill>
                <a:latin typeface="Aptos Display"/>
                <a:ea typeface="Aptos Display"/>
                <a:cs typeface="Aptos Display"/>
              </a:rPr>
              <a:t>+4.133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14173-1F21-40B4-8DD2-DAC9BBE6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8DA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AE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CAD10-AA71-4DC0-9E07-38B28037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5086350" cy="1866900"/>
          </a:xfrm>
          <a:prstGeom xmlns:a="http://schemas.openxmlformats.org/drawingml/2006/main" prst="roundRect">
            <a:avLst>
              <a:gd name="adj" fmla="val 11224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E75B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2F642-FFD7-406F-9D19-4FA0A3A2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5B5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75B5B"/>
                </a:solidFill>
                <a:latin typeface="Aptos Display"/>
                <a:ea typeface="Aptos Display"/>
                <a:cs typeface="Aptos Display"/>
              </a:rPr>
              <a:t>不是全面系统占优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ACD85-303B-4E6F-B8E8-6E2E7C31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4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Backhaul cost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8427DE-9EC2-4354-9EA3-4B7EC6A9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76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SA 101.333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96A9B-32DD-4BD1-BDFA-AB0BAD75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767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9D4D"/>
                </a:solidFill>
                <a:latin typeface="Aptos Display"/>
                <a:ea typeface="Aptos Display"/>
                <a:cs typeface="Aptos Display"/>
              </a:rPr>
              <a:t>Popularity 90.667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3DDE2-8F9F-441E-A637-9C3FB27A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62550"/>
            <a:ext cx="455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reward transfer 成立；资源效率仍有 trade-off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9BD9C-360C-4C02-98BD-158A31DA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20601-5B68-4CAD-8986-15B0984D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来源：LuST auto_grid_tight benchmark + prediction/robustness/scalability suites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F9CA55-3103-4950-AF36-124BED99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592695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24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2E29A6-3B18-4A4D-80AA-75CE67C7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76A8C-2F67-4D16-ADD2-5D3537D0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CDD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B7CDDA"/>
                </a:solidFill>
                <a:latin typeface="Aptos Display"/>
                <a:ea typeface="Aptos Display"/>
                <a:cs typeface="Aptos Display"/>
              </a:rPr>
              <a:t>截至 2026.06.21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2B6C5-3756-4915-8BC4-6BBFC0EC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3238500" cy="37147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F43"/>
          </a:solidFill>
          <a:ln xmlns:a="http://schemas.openxmlformats.org/drawingml/2006/main" w="9525">
            <a:solidFill>
              <a:srgbClr val="2851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4251F-A1A6-437E-B211-597F2FAF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A6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31720-7F98-43DC-B413-F94682DC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525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已经证明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9E753-4A0C-4588-B417-621F6771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74929-E6CE-4CDC-AB3F-2D97BB71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526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v7 pipeline 可独立重训与复现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3EA65-2174-4BBE-AF24-4701B60A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1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34DF3-0958-4A9F-9914-427BC536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FBF17-BE3E-4E29-85F9-3FF068CA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strict mixed formal/holdout CI 为正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EAD33-2CAD-40DA-907B-336E5D3C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1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9CA2E-8DB8-44C3-A0F7-87188907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B7467-4301-429B-A5D8-5A504706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五项机制消融均为正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D6283-4B70-4B2E-A401-5CA472AF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1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51DDF-6DB5-4966-8E7F-5287A995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86516-AB7D-4F11-926F-65BD0CCF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LuST 外部 mobility 初步成立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04255-DF77-45E7-9833-184F8FB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257300"/>
            <a:ext cx="3238500" cy="37147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F43"/>
          </a:solidFill>
          <a:ln xmlns:a="http://schemas.openxmlformats.org/drawingml/2006/main" w="9525">
            <a:solidFill>
              <a:srgbClr val="2851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57C75-652A-4C91-BBBA-AEBDA76B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049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5B5B"/>
          </a:solidFill>
          <a:ln xmlns:a="http://schemas.openxmlformats.org/drawingml/2006/main" w="9525">
            <a:solidFill>
              <a:srgbClr val="E75B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FDBC8-841E-46F7-8F52-4057779C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525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尚未证明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008AA-BA74-410C-B96F-2BFF23B9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90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AB2F8-1C57-4CB9-9ADB-89B46AFB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526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strict full formal/holdout 显著领先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D521B5-C9D4-495B-8278-8D2633D0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860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1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B10CA-B7AF-4D9C-BFC3-1DCAF0EF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76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FA414-FE07-48CF-8F54-DB2267E9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384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所有系统指标全面占优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1531EB-B8E4-4AFD-B9CD-51197C37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718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1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1F581-57E9-4FF8-A143-0F06A465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62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50BC2E-9A33-4DA5-AD7A-242A4FC5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5242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prediction 与 prefetch 正交因果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6C4C16-2EE2-4CAB-8360-752642DE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576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1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54DB52-452B-4D55-95AC-ABDD8F93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48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85CFDE-053C-471B-9D32-E5EE677F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2100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vehicle/RSU-level full MARL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283D4B-14B3-4499-A167-0F4D5E18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57300"/>
            <a:ext cx="3238500" cy="37147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F43"/>
          </a:solidFill>
          <a:ln xmlns:a="http://schemas.openxmlformats.org/drawingml/2006/main" w="9525">
            <a:solidFill>
              <a:srgbClr val="2851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B1601F-74BA-4835-959F-099AC20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049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D4D"/>
          </a:solidFill>
          <a:ln xmlns:a="http://schemas.openxmlformats.org/drawingml/2006/main" w="9525">
            <a:solidFill>
              <a:srgbClr val="FF9D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595745-1075-4730-955B-1895282C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525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下一步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07A467-60B9-461C-9232-5890B985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F3618B-6AA6-40FD-BABA-9FC6CAD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strict gate 内置并预冻结 split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D218A7-39B1-40F2-B0FD-8FF080E0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860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16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58C069-3423-4DC4-9D21-746CD7F6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76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38F360-01D4-4D88-A2F5-0A1D7982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针对 full continuity/failure 优化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6467BB-E093-46D0-84D3-DA7CB9AD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16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98BE93-7637-4706-85EF-FCBC7FDD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CF1B31-836F-4E60-BD8B-3184573F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增加 seeds + multiplicity 处理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5BC68A-B454-4764-A073-41FBFA54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16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7EBEEA-EEF0-44BE-8AF1-A8C94847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48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8D81DB-61CA-4B16-93BC-0753605F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补第二外部数据组合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4DF8EE-417F-432C-808C-FC760F7F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34415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02A110-210E-4FB0-9C6A-B2CE586F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97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希望老师帮助判断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1D2DFD-545C-4F2A-ACDC-B1E6EB1E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91150"/>
            <a:ext cx="786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① 贡献主线是否聚焦“连续 DAG + adapter warm state”？   ② 下一轮优先补 strict full，还是先扩 external domain？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3C9D5C-D3C2-4EC8-855F-87741770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781675"/>
            <a:ext cx="786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5B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E75B5B"/>
                </a:solidFill>
                <a:latin typeface="Aptos Display"/>
                <a:ea typeface="Aptos Display"/>
                <a:cs typeface="Aptos Display"/>
              </a:rPr>
              <a:t>当前 reviewer status：Not TMC-ready（74/100 + strict full scientific blocker）</a:t>
            </a:r>
          </a:p>
        </p:txBody>
      </p:sp>
    </p:spTree>
    <p:extLst>
      <p:ext uri="{BB962C8B-B14F-4D97-AF65-F5344CB8AC3E}">
        <p14:creationId xmlns:p14="http://schemas.microsoft.com/office/powerpoint/2010/main" val="8387116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B71016-7D8A-45D3-ABDA-50BF5F61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PPO_MEC · 技术附录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757DD-A35F-4469-B91C-0A869696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Appendix · 关键结构与训练参数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CDB53-E827-4AF5-BE15-633519BE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C313B-DFDA-4F6B-8AF5-24C55D07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5C0EF-8A56-422F-BB3C-6AEBB92C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3340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5A2C4-1122-4085-B897-97F64500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Parameter breakdown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8FE32-FE9B-423F-ABEE-E03BB654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33746"/>
                </a:solidFill>
                <a:latin typeface="Aptos Display"/>
                <a:ea typeface="Aptos Display"/>
                <a:cs typeface="Aptos Display"/>
              </a:rPr>
              <a:t>SurrogateFusionEncoder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081BD-07AC-4E74-BAF4-35D3D7FD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71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146,048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C108F-4DB9-4817-A25F-E1BE47EA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81.0%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A17AB-3CCB-447A-9DF0-DE53B535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000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FA339-EFE8-4BBF-B404-426740F9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E1DE3-F6CB-4924-ADF2-ADB95998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74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3746"/>
                </a:solidFill>
                <a:latin typeface="Aptos"/>
                <a:ea typeface="Aptos"/>
                <a:cs typeface="Aptos"/>
              </a:rPr>
              <a:t>Slow actor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B31D5-6297-4630-AE41-131FD39A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62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8,515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06074-682B-4075-8C37-60D820EA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622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4.7%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0A9E8-67BF-4DB5-AF6D-D3A00A0C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14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C3646-D281-4D23-8350-1A44A5AB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41DE6-F935-423B-97CD-AEDBB312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74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3746"/>
                </a:solidFill>
                <a:latin typeface="Aptos"/>
                <a:ea typeface="Aptos"/>
                <a:cs typeface="Aptos"/>
              </a:rPr>
              <a:t>Fast actor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395B6-6BBC-496B-8CC4-8668E9CA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8,642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1A569-76B0-4968-8CEF-382C4E73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52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4.8%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323AF-51DE-40E0-B2DE-7C6B8E4A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14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12081-98D2-4C79-B5E3-A513CCB4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F90E0-EA13-440D-BF9C-507017FE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74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3746"/>
                </a:solidFill>
                <a:latin typeface="Aptos"/>
                <a:ea typeface="Aptos"/>
                <a:cs typeface="Aptos"/>
              </a:rPr>
              <a:t>Event actor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ECCF81-40A2-403D-9267-68B94322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43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8,770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CDC26-1FC9-4A03-B4B7-0A86CA62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4.9%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EFBD2-D11A-493F-9323-7C7F0062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238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967A9A-1A9D-4E17-8392-CAA1ADFC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7E4AD3-E63D-4970-B5F9-CE36555C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74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33746"/>
                </a:solidFill>
                <a:latin typeface="Aptos"/>
                <a:ea typeface="Aptos"/>
                <a:cs typeface="Aptos"/>
              </a:rPr>
              <a:t>Central critic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4AEE9F-D142-475E-AACE-7D3EA3CE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33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8,385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66DCE7-8981-4726-927A-BA597FBA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339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4.6%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B033C2-2CA3-4376-AAC6-A25268E0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114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49FF81-A6B4-4D4A-A764-CD90980A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B28292-9395-4697-AF50-50B42D68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959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Total 180,360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75A4AA-60D1-4900-93BF-8A1F3D74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3340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E79022-6ABD-4694-AE45-5095DFF3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v7 training contract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724537-BADF-4861-837B-F4792513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Hidden dim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36A4EC-CC1D-46D1-8BEE-52BC9A9F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907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64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F1B47F-0611-40EC-B6A7-9C782324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BFCC4D-8010-426A-8FF1-1D2D622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003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Learning 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F3953D-C291-4537-A722-B1114F7D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194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4.5 × 10⁻⁵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970EC8-E87C-4974-9CF5-77AB3B50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47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08F2D7-69EB-4081-9C46-72604CDF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Clip ratio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B4A0F4-C202-4A17-8975-599A78B5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48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0.075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7F0636-2E5D-4629-BFC4-6A9DD3A4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19C8B1-68C6-4E78-A0E9-AE00436A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Entropy coef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BC042F-CF09-442D-8251-79F66294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767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0.0012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1C6980-5953-4B3F-A6B1-F7F18B38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720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D056E1-168F-4239-A049-2D987E95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863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Value coef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A5A92E-26DD-4A22-8C4F-57BC3F90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05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0.85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A62DAD-7D4B-48C3-888C-CB3B0231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006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B673D6-702D-43C3-A9A1-A06850FB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γ / GAE 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EE5A92-6CF6-471A-8A16-4602E247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907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0.99 / 0.95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34ABA7-50C6-43BE-BE2B-49D4A2EE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860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E50230-5B23-486C-9D0A-E0360BE9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03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Batch / epochs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1C9AF6-578B-4CA4-8252-BB0B5FA0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194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32 / 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15C4BD-ECA0-471C-8CAB-C6489B0D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147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C99107-1AEC-4C8B-98E4-903E90D4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29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Target KL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D44C9E-3216-47F1-BFF2-5243A091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48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0.012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6A4F80-4AC2-4C70-A0FD-38FD89B9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433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158F37-D5EC-40C6-8087-5256BFAD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57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Episodes / seed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F8CE2C-14F1-4026-BAE7-7C3F0828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767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128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A14045C-ECFE-4108-9CD3-A882C944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720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143ED6-80EB-4ED1-8F33-B1F9189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863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Updates / seed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2ECA5F-9EA1-4272-B8EA-1D8ACD88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05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32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707446-10D6-46B9-9A91-FA0252B2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006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1BD252-A5F0-48E3-8E30-0ABE0A90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580EB6-C664-40D3-92C8-BA3400F5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来源：v7 checkpoint config + network_state_dict + training summary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EFDE1D-F16A-4686-B437-EEF51695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872334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954421-0C18-4075-812C-C7DDAFBA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FB6A6"/>
                </a:solidFill>
                <a:latin typeface="Aptos Display"/>
                <a:ea typeface="Aptos Display"/>
                <a:cs typeface="Aptos Display"/>
              </a:rPr>
              <a:t>PPO_MEC · 答辩准备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3B33A-066A-421F-9A09-AA06F6DF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Appendix · 最可能被追问的四个问题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05F4E-2968-4DEB-AC3A-AAB6B055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5E7FC-AD95-4CA1-AA3E-1E2D3FC2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F6628-56A8-4AF9-B56E-DAD4D7DA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35305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D5199-4EAC-4CEC-8803-69788BFD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FA97E-DA16-4DDC-BF2C-23F80A2D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62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81560-8AD2-4FE1-8C9B-8BC316FF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145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这是不是 full multi-agent？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6E605-0C83-49E0-866E-C4AEEEDE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6FD57-ADA3-460B-AA58-1A031701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4933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74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3746"/>
                </a:solidFill>
                <a:latin typeface="Aptos"/>
                <a:ea typeface="Aptos"/>
                <a:cs typeface="Aptos"/>
              </a:rPr>
              <a:t>不是。当前是 slow/fast/event controller-level multi-controller + centralized critic；不声称每车/每 RSU 独立 agent。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DC54C-A8CB-42CD-821C-F467A323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04950"/>
            <a:ext cx="535305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F3B94-E008-4152-9343-C3FDAB4B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A6"/>
          </a:solidFill>
          <a:ln xmlns:a="http://schemas.openxmlformats.org/drawingml/2006/main" w="9525">
            <a:solidFill>
              <a:srgbClr val="1FB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530AD-2208-45AE-B554-F60085ED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62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9FFDA-58B5-45BC-8F06-A6050A33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145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surrogate 是否是新预测模型？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6293E-703F-4FC1-87BF-945A6351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808FA-1782-41CA-8004-1372147C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4933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74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3746"/>
                </a:solidFill>
                <a:latin typeface="Aptos"/>
                <a:ea typeface="Aptos"/>
                <a:cs typeface="Aptos"/>
              </a:rPr>
              <a:t>不是。当前创新是 confidence/uncertainty 如何门控控制；尚未加载独立 learned predictor checkpoint。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3C7E9-17AD-47A8-85FE-A8154D83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535305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F9D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6DE01-AA05-407D-B360-8E473082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D4D"/>
          </a:solidFill>
          <a:ln xmlns:a="http://schemas.openxmlformats.org/drawingml/2006/main" w="9525">
            <a:solidFill>
              <a:srgbClr val="FF9D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DB804-D9CF-4F63-AE55-11FD9B2F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052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03D00-F5AD-494B-91C2-4A3CAF7D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576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为什么 reward 高但 continuity 不总是最好？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2DAB1-901B-4566-BC42-A0B792E1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37280-8542-49D8-91C2-46800BBB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4933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74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3746"/>
                </a:solidFill>
                <a:latin typeface="Aptos"/>
                <a:ea typeface="Aptos"/>
                <a:cs typeface="Aptos"/>
              </a:rPr>
              <a:t>reward 是综合目标；DT 在部分 full 窗口更保守。必须同时报告 continuity、failure、backhaul 和 reward breakdown。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858E7-7507-4155-90E2-A8728468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48100"/>
            <a:ext cx="535305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75B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6DD8A0-5322-4DD1-B1AE-B777B616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5B5B"/>
          </a:solidFill>
          <a:ln xmlns:a="http://schemas.openxmlformats.org/drawingml/2006/main" w="9525">
            <a:solidFill>
              <a:srgbClr val="E75B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912904-9DFB-43A7-9893-367779B2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052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DC21F5-3DAC-4AE4-9F57-C47F86C1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576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826"/>
                </a:solidFill>
                <a:latin typeface="Aptos Display"/>
                <a:ea typeface="Aptos Display"/>
                <a:cs typeface="Aptos Display"/>
              </a:rPr>
              <a:t>为什么旧结果和严格结果不同？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250F26-AC5B-4E63-8FC9-EB4C3181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14850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993AB7-F6D7-4268-883E-DC50AF08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4933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74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33746"/>
                </a:solidFill>
                <a:latin typeface="Aptos"/>
                <a:ea typeface="Aptos"/>
                <a:cs typeface="Aptos"/>
              </a:rPr>
              <a:t>旧 offset-3 窗口与 formal 重叠。新协议按 frame interval 排除重叠；mixed CI 为正，full CI 暂时跨 0。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4DC304-E6B2-467C-B6C9-0E72859E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0E54A0-C57A-4655-ACB5-4B756917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D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D8A"/>
                </a:solidFill>
                <a:latin typeface="Aptos"/>
                <a:ea typeface="Aptos"/>
                <a:cs typeface="Aptos"/>
              </a:rPr>
              <a:t>来源：最新严格审计的 Safe Claims / Prohibited Claims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E73335-58EF-4342-AE90-0A26E7B1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B7D8A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15297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2026-06-20T16:58:39.5710000Z</dcterms:created>
  <dcterms:modified xsi:type="dcterms:W3CDTF">2026-06-20T16:58:39.5710000Z</dcterms:modified>
</coreProperties>
</file>